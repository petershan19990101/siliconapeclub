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5.svg" ContentType="image/svg+xml"/>
  <Override PartName="/ppt/media/image17.svg" ContentType="image/svg+xml"/>
  <Override PartName="/ppt/media/image19.svg" ContentType="image/svg+xml"/>
  <Override PartName="/ppt/media/image3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1"/>
  </p:handoutMasterIdLst>
  <p:sldIdLst>
    <p:sldId id="470" r:id="rId3"/>
    <p:sldId id="471" r:id="rId5"/>
    <p:sldId id="472" r:id="rId6"/>
    <p:sldId id="477" r:id="rId7"/>
    <p:sldId id="478" r:id="rId8"/>
    <p:sldId id="474" r:id="rId9"/>
    <p:sldId id="475" r:id="rId10"/>
  </p:sldIdLst>
  <p:sldSz cx="12192000" cy="6858000"/>
  <p:notesSz cx="7103745" cy="10234295"/>
  <p:custDataLst>
    <p:tags r:id="rId1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9" userDrawn="1">
          <p15:clr>
            <a:srgbClr val="A4A3A4"/>
          </p15:clr>
        </p15:guide>
        <p15:guide id="2" pos="392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哒哒 熊猫" initials="哒哒" lastIdx="1" clrIdx="0"/>
  <p:cmAuthor id="2" name="kingsoft" initials="k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E5ECFF"/>
    <a:srgbClr val="0841B2"/>
    <a:srgbClr val="1562FF"/>
    <a:srgbClr val="F56BF4"/>
    <a:srgbClr val="B30CB1"/>
    <a:srgbClr val="FFFFFF"/>
    <a:srgbClr val="FCF2F2"/>
    <a:srgbClr val="174DB7"/>
    <a:srgbClr val="0741B2"/>
    <a:srgbClr val="004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55" d="100"/>
          <a:sy n="155" d="100"/>
        </p:scale>
        <p:origin x="390" y="144"/>
      </p:cViewPr>
      <p:guideLst>
        <p:guide orient="horz" pos="2089"/>
        <p:guide pos="392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629.xml"/><Relationship Id="rId15" Type="http://schemas.openxmlformats.org/officeDocument/2006/relationships/commentAuthors" Target="comment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88595" cy="5747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9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167998" y="0"/>
            <a:ext cx="3188595" cy="5747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9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0879875"/>
            <a:ext cx="3188595" cy="5747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9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167998" y="10879875"/>
            <a:ext cx="3188595" cy="5747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9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tags" Target="../tags/tag2.xm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E:/006包图网/素材/057半导体/ai5_157875.pngai5_157875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 l="14063" t="5" r="1016"/>
          <a:stretch>
            <a:fillRect/>
          </a:stretch>
        </p:blipFill>
        <p:spPr>
          <a:xfrm rot="16200000">
            <a:off x="2644775" y="-2688590"/>
            <a:ext cx="6902450" cy="121913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0800" h="19199">
                <a:moveTo>
                  <a:pt x="0" y="0"/>
                </a:moveTo>
                <a:lnTo>
                  <a:pt x="10800" y="0"/>
                </a:lnTo>
                <a:lnTo>
                  <a:pt x="10800" y="19199"/>
                </a:lnTo>
                <a:lnTo>
                  <a:pt x="0" y="19199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4" name="矩形 3"/>
          <p:cNvSpPr/>
          <p:nvPr userDrawn="1">
            <p:custDataLst>
              <p:tags r:id="rId4"/>
            </p:custDataLst>
          </p:nvPr>
        </p:nvSpPr>
        <p:spPr>
          <a:xfrm flipH="1">
            <a:off x="1" y="76200"/>
            <a:ext cx="12204065" cy="6680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方正宝黑体 简 Light" panose="02000400000000000000" charset="-122"/>
            </a:endParaRPr>
          </a:p>
        </p:txBody>
      </p:sp>
    </p:spTree>
  </p:cSld>
  <p:clrMapOvr>
    <a:masterClrMapping/>
  </p:clrMapOvr>
  <p:transition>
    <p:wedg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9" Type="http://schemas.openxmlformats.org/officeDocument/2006/relationships/tags" Target="../tags/tag83.xml"/><Relationship Id="rId98" Type="http://schemas.openxmlformats.org/officeDocument/2006/relationships/tags" Target="../tags/tag82.xml"/><Relationship Id="rId97" Type="http://schemas.openxmlformats.org/officeDocument/2006/relationships/tags" Target="../tags/tag81.xml"/><Relationship Id="rId96" Type="http://schemas.openxmlformats.org/officeDocument/2006/relationships/tags" Target="../tags/tag80.xml"/><Relationship Id="rId95" Type="http://schemas.openxmlformats.org/officeDocument/2006/relationships/tags" Target="../tags/tag79.xml"/><Relationship Id="rId94" Type="http://schemas.openxmlformats.org/officeDocument/2006/relationships/tags" Target="../tags/tag78.xml"/><Relationship Id="rId93" Type="http://schemas.openxmlformats.org/officeDocument/2006/relationships/tags" Target="../tags/tag77.xml"/><Relationship Id="rId92" Type="http://schemas.openxmlformats.org/officeDocument/2006/relationships/tags" Target="../tags/tag76.xml"/><Relationship Id="rId91" Type="http://schemas.openxmlformats.org/officeDocument/2006/relationships/tags" Target="../tags/tag75.xml"/><Relationship Id="rId90" Type="http://schemas.openxmlformats.org/officeDocument/2006/relationships/tags" Target="../tags/tag74.xml"/><Relationship Id="rId9" Type="http://schemas.openxmlformats.org/officeDocument/2006/relationships/tags" Target="../tags/tag7.xml"/><Relationship Id="rId89" Type="http://schemas.openxmlformats.org/officeDocument/2006/relationships/tags" Target="../tags/tag73.xml"/><Relationship Id="rId88" Type="http://schemas.openxmlformats.org/officeDocument/2006/relationships/tags" Target="../tags/tag72.xml"/><Relationship Id="rId87" Type="http://schemas.openxmlformats.org/officeDocument/2006/relationships/tags" Target="../tags/tag71.xml"/><Relationship Id="rId86" Type="http://schemas.openxmlformats.org/officeDocument/2006/relationships/tags" Target="../tags/tag70.xml"/><Relationship Id="rId85" Type="http://schemas.openxmlformats.org/officeDocument/2006/relationships/tags" Target="../tags/tag69.xml"/><Relationship Id="rId84" Type="http://schemas.openxmlformats.org/officeDocument/2006/relationships/tags" Target="../tags/tag68.xml"/><Relationship Id="rId83" Type="http://schemas.openxmlformats.org/officeDocument/2006/relationships/tags" Target="../tags/tag67.xml"/><Relationship Id="rId82" Type="http://schemas.openxmlformats.org/officeDocument/2006/relationships/tags" Target="../tags/tag66.xml"/><Relationship Id="rId81" Type="http://schemas.openxmlformats.org/officeDocument/2006/relationships/tags" Target="../tags/tag65.xml"/><Relationship Id="rId80" Type="http://schemas.openxmlformats.org/officeDocument/2006/relationships/image" Target="../media/image19.svg"/><Relationship Id="rId8" Type="http://schemas.openxmlformats.org/officeDocument/2006/relationships/tags" Target="../tags/tag6.xml"/><Relationship Id="rId79" Type="http://schemas.openxmlformats.org/officeDocument/2006/relationships/image" Target="../media/image18.png"/><Relationship Id="rId78" Type="http://schemas.openxmlformats.org/officeDocument/2006/relationships/image" Target="../media/image17.svg"/><Relationship Id="rId77" Type="http://schemas.openxmlformats.org/officeDocument/2006/relationships/image" Target="../media/image16.png"/><Relationship Id="rId76" Type="http://schemas.openxmlformats.org/officeDocument/2006/relationships/image" Target="../media/image15.svg"/><Relationship Id="rId75" Type="http://schemas.openxmlformats.org/officeDocument/2006/relationships/image" Target="../media/image14.png"/><Relationship Id="rId74" Type="http://schemas.openxmlformats.org/officeDocument/2006/relationships/tags" Target="../tags/tag64.xml"/><Relationship Id="rId73" Type="http://schemas.openxmlformats.org/officeDocument/2006/relationships/tags" Target="../tags/tag63.xml"/><Relationship Id="rId72" Type="http://schemas.openxmlformats.org/officeDocument/2006/relationships/tags" Target="../tags/tag62.xml"/><Relationship Id="rId71" Type="http://schemas.openxmlformats.org/officeDocument/2006/relationships/tags" Target="../tags/tag61.xml"/><Relationship Id="rId70" Type="http://schemas.openxmlformats.org/officeDocument/2006/relationships/tags" Target="../tags/tag60.xml"/><Relationship Id="rId7" Type="http://schemas.openxmlformats.org/officeDocument/2006/relationships/image" Target="../media/image5.svg"/><Relationship Id="rId69" Type="http://schemas.openxmlformats.org/officeDocument/2006/relationships/tags" Target="../tags/tag59.xml"/><Relationship Id="rId68" Type="http://schemas.openxmlformats.org/officeDocument/2006/relationships/tags" Target="../tags/tag58.xml"/><Relationship Id="rId67" Type="http://schemas.openxmlformats.org/officeDocument/2006/relationships/tags" Target="../tags/tag57.xml"/><Relationship Id="rId66" Type="http://schemas.openxmlformats.org/officeDocument/2006/relationships/tags" Target="../tags/tag56.xml"/><Relationship Id="rId65" Type="http://schemas.openxmlformats.org/officeDocument/2006/relationships/tags" Target="../tags/tag55.xml"/><Relationship Id="rId64" Type="http://schemas.openxmlformats.org/officeDocument/2006/relationships/tags" Target="../tags/tag54.xml"/><Relationship Id="rId63" Type="http://schemas.openxmlformats.org/officeDocument/2006/relationships/tags" Target="../tags/tag53.xml"/><Relationship Id="rId62" Type="http://schemas.openxmlformats.org/officeDocument/2006/relationships/tags" Target="../tags/tag52.xml"/><Relationship Id="rId61" Type="http://schemas.openxmlformats.org/officeDocument/2006/relationships/tags" Target="../tags/tag51.xml"/><Relationship Id="rId60" Type="http://schemas.openxmlformats.org/officeDocument/2006/relationships/tags" Target="../tags/tag50.xml"/><Relationship Id="rId6" Type="http://schemas.openxmlformats.org/officeDocument/2006/relationships/image" Target="../media/image4.png"/><Relationship Id="rId59" Type="http://schemas.openxmlformats.org/officeDocument/2006/relationships/tags" Target="../tags/tag49.xml"/><Relationship Id="rId58" Type="http://schemas.openxmlformats.org/officeDocument/2006/relationships/tags" Target="../tags/tag48.xml"/><Relationship Id="rId57" Type="http://schemas.openxmlformats.org/officeDocument/2006/relationships/tags" Target="../tags/tag47.xml"/><Relationship Id="rId56" Type="http://schemas.openxmlformats.org/officeDocument/2006/relationships/tags" Target="../tags/tag46.xml"/><Relationship Id="rId55" Type="http://schemas.openxmlformats.org/officeDocument/2006/relationships/tags" Target="../tags/tag45.xml"/><Relationship Id="rId54" Type="http://schemas.openxmlformats.org/officeDocument/2006/relationships/tags" Target="../tags/tag44.xml"/><Relationship Id="rId53" Type="http://schemas.openxmlformats.org/officeDocument/2006/relationships/tags" Target="../tags/tag43.xml"/><Relationship Id="rId52" Type="http://schemas.openxmlformats.org/officeDocument/2006/relationships/tags" Target="../tags/tag42.xml"/><Relationship Id="rId51" Type="http://schemas.openxmlformats.org/officeDocument/2006/relationships/image" Target="../media/image13.png"/><Relationship Id="rId50" Type="http://schemas.openxmlformats.org/officeDocument/2006/relationships/image" Target="../media/image12.png"/><Relationship Id="rId5" Type="http://schemas.openxmlformats.org/officeDocument/2006/relationships/image" Target="../media/image3.svg"/><Relationship Id="rId49" Type="http://schemas.openxmlformats.org/officeDocument/2006/relationships/image" Target="../media/image11.png"/><Relationship Id="rId48" Type="http://schemas.openxmlformats.org/officeDocument/2006/relationships/tags" Target="../tags/tag41.xml"/><Relationship Id="rId47" Type="http://schemas.openxmlformats.org/officeDocument/2006/relationships/tags" Target="../tags/tag40.xml"/><Relationship Id="rId46" Type="http://schemas.openxmlformats.org/officeDocument/2006/relationships/tags" Target="../tags/tag39.xml"/><Relationship Id="rId45" Type="http://schemas.openxmlformats.org/officeDocument/2006/relationships/tags" Target="../tags/tag38.xml"/><Relationship Id="rId44" Type="http://schemas.openxmlformats.org/officeDocument/2006/relationships/tags" Target="../tags/tag37.xml"/><Relationship Id="rId43" Type="http://schemas.openxmlformats.org/officeDocument/2006/relationships/tags" Target="../tags/tag36.xml"/><Relationship Id="rId42" Type="http://schemas.openxmlformats.org/officeDocument/2006/relationships/tags" Target="../tags/tag35.xml"/><Relationship Id="rId41" Type="http://schemas.openxmlformats.org/officeDocument/2006/relationships/tags" Target="../tags/tag34.xml"/><Relationship Id="rId40" Type="http://schemas.openxmlformats.org/officeDocument/2006/relationships/image" Target="../media/image10.png"/><Relationship Id="rId4" Type="http://schemas.openxmlformats.org/officeDocument/2006/relationships/image" Target="../media/image2.png"/><Relationship Id="rId39" Type="http://schemas.openxmlformats.org/officeDocument/2006/relationships/tags" Target="../tags/tag33.xml"/><Relationship Id="rId38" Type="http://schemas.openxmlformats.org/officeDocument/2006/relationships/image" Target="../media/image9.png"/><Relationship Id="rId37" Type="http://schemas.openxmlformats.org/officeDocument/2006/relationships/tags" Target="../tags/tag32.xml"/><Relationship Id="rId36" Type="http://schemas.openxmlformats.org/officeDocument/2006/relationships/image" Target="../media/image8.png"/><Relationship Id="rId35" Type="http://schemas.openxmlformats.org/officeDocument/2006/relationships/tags" Target="../tags/tag31.xml"/><Relationship Id="rId34" Type="http://schemas.openxmlformats.org/officeDocument/2006/relationships/image" Target="../media/image7.png"/><Relationship Id="rId33" Type="http://schemas.openxmlformats.org/officeDocument/2006/relationships/tags" Target="../tags/tag30.xml"/><Relationship Id="rId32" Type="http://schemas.openxmlformats.org/officeDocument/2006/relationships/image" Target="../media/image6.png"/><Relationship Id="rId31" Type="http://schemas.openxmlformats.org/officeDocument/2006/relationships/tags" Target="../tags/tag29.xml"/><Relationship Id="rId30" Type="http://schemas.openxmlformats.org/officeDocument/2006/relationships/tags" Target="../tags/tag28.xml"/><Relationship Id="rId3" Type="http://schemas.openxmlformats.org/officeDocument/2006/relationships/tags" Target="../tags/tag5.xml"/><Relationship Id="rId29" Type="http://schemas.openxmlformats.org/officeDocument/2006/relationships/tags" Target="../tags/tag27.xml"/><Relationship Id="rId28" Type="http://schemas.openxmlformats.org/officeDocument/2006/relationships/tags" Target="../tags/tag26.xml"/><Relationship Id="rId27" Type="http://schemas.openxmlformats.org/officeDocument/2006/relationships/tags" Target="../tags/tag25.xml"/><Relationship Id="rId26" Type="http://schemas.openxmlformats.org/officeDocument/2006/relationships/tags" Target="../tags/tag24.xml"/><Relationship Id="rId25" Type="http://schemas.openxmlformats.org/officeDocument/2006/relationships/tags" Target="../tags/tag23.xml"/><Relationship Id="rId24" Type="http://schemas.openxmlformats.org/officeDocument/2006/relationships/tags" Target="../tags/tag22.xml"/><Relationship Id="rId23" Type="http://schemas.openxmlformats.org/officeDocument/2006/relationships/tags" Target="../tags/tag21.xml"/><Relationship Id="rId22" Type="http://schemas.openxmlformats.org/officeDocument/2006/relationships/tags" Target="../tags/tag20.xml"/><Relationship Id="rId21" Type="http://schemas.openxmlformats.org/officeDocument/2006/relationships/tags" Target="../tags/tag19.xml"/><Relationship Id="rId20" Type="http://schemas.openxmlformats.org/officeDocument/2006/relationships/tags" Target="../tags/tag18.xml"/><Relationship Id="rId2" Type="http://schemas.openxmlformats.org/officeDocument/2006/relationships/tags" Target="../tags/tag4.xml"/><Relationship Id="rId19" Type="http://schemas.openxmlformats.org/officeDocument/2006/relationships/tags" Target="../tags/tag17.xml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9" Type="http://schemas.openxmlformats.org/officeDocument/2006/relationships/notesSlide" Target="../notesSlides/notesSlide1.xml"/><Relationship Id="rId148" Type="http://schemas.openxmlformats.org/officeDocument/2006/relationships/slideLayout" Target="../slideLayouts/slideLayout7.xml"/><Relationship Id="rId147" Type="http://schemas.openxmlformats.org/officeDocument/2006/relationships/tags" Target="../tags/tag131.xml"/><Relationship Id="rId146" Type="http://schemas.openxmlformats.org/officeDocument/2006/relationships/tags" Target="../tags/tag130.xml"/><Relationship Id="rId145" Type="http://schemas.openxmlformats.org/officeDocument/2006/relationships/tags" Target="../tags/tag129.xml"/><Relationship Id="rId144" Type="http://schemas.openxmlformats.org/officeDocument/2006/relationships/tags" Target="../tags/tag128.xml"/><Relationship Id="rId143" Type="http://schemas.openxmlformats.org/officeDocument/2006/relationships/tags" Target="../tags/tag127.xml"/><Relationship Id="rId142" Type="http://schemas.openxmlformats.org/officeDocument/2006/relationships/tags" Target="../tags/tag126.xml"/><Relationship Id="rId141" Type="http://schemas.openxmlformats.org/officeDocument/2006/relationships/tags" Target="../tags/tag125.xml"/><Relationship Id="rId140" Type="http://schemas.openxmlformats.org/officeDocument/2006/relationships/tags" Target="../tags/tag124.xml"/><Relationship Id="rId14" Type="http://schemas.openxmlformats.org/officeDocument/2006/relationships/tags" Target="../tags/tag12.xml"/><Relationship Id="rId139" Type="http://schemas.openxmlformats.org/officeDocument/2006/relationships/tags" Target="../tags/tag123.xml"/><Relationship Id="rId138" Type="http://schemas.openxmlformats.org/officeDocument/2006/relationships/tags" Target="../tags/tag122.xml"/><Relationship Id="rId137" Type="http://schemas.openxmlformats.org/officeDocument/2006/relationships/tags" Target="../tags/tag121.xml"/><Relationship Id="rId136" Type="http://schemas.openxmlformats.org/officeDocument/2006/relationships/tags" Target="../tags/tag120.xml"/><Relationship Id="rId135" Type="http://schemas.openxmlformats.org/officeDocument/2006/relationships/tags" Target="../tags/tag119.xml"/><Relationship Id="rId134" Type="http://schemas.openxmlformats.org/officeDocument/2006/relationships/tags" Target="../tags/tag118.xml"/><Relationship Id="rId133" Type="http://schemas.openxmlformats.org/officeDocument/2006/relationships/tags" Target="../tags/tag117.xml"/><Relationship Id="rId132" Type="http://schemas.openxmlformats.org/officeDocument/2006/relationships/tags" Target="../tags/tag116.xml"/><Relationship Id="rId131" Type="http://schemas.openxmlformats.org/officeDocument/2006/relationships/tags" Target="../tags/tag115.xml"/><Relationship Id="rId130" Type="http://schemas.openxmlformats.org/officeDocument/2006/relationships/tags" Target="../tags/tag114.xml"/><Relationship Id="rId13" Type="http://schemas.openxmlformats.org/officeDocument/2006/relationships/tags" Target="../tags/tag11.xml"/><Relationship Id="rId129" Type="http://schemas.openxmlformats.org/officeDocument/2006/relationships/tags" Target="../tags/tag113.xml"/><Relationship Id="rId128" Type="http://schemas.openxmlformats.org/officeDocument/2006/relationships/tags" Target="../tags/tag112.xml"/><Relationship Id="rId127" Type="http://schemas.openxmlformats.org/officeDocument/2006/relationships/tags" Target="../tags/tag111.xml"/><Relationship Id="rId126" Type="http://schemas.openxmlformats.org/officeDocument/2006/relationships/tags" Target="../tags/tag110.xml"/><Relationship Id="rId125" Type="http://schemas.openxmlformats.org/officeDocument/2006/relationships/tags" Target="../tags/tag109.xml"/><Relationship Id="rId124" Type="http://schemas.openxmlformats.org/officeDocument/2006/relationships/tags" Target="../tags/tag108.xml"/><Relationship Id="rId123" Type="http://schemas.openxmlformats.org/officeDocument/2006/relationships/tags" Target="../tags/tag107.xml"/><Relationship Id="rId122" Type="http://schemas.openxmlformats.org/officeDocument/2006/relationships/tags" Target="../tags/tag106.xml"/><Relationship Id="rId121" Type="http://schemas.openxmlformats.org/officeDocument/2006/relationships/tags" Target="../tags/tag105.xml"/><Relationship Id="rId120" Type="http://schemas.openxmlformats.org/officeDocument/2006/relationships/tags" Target="../tags/tag104.xml"/><Relationship Id="rId12" Type="http://schemas.openxmlformats.org/officeDocument/2006/relationships/tags" Target="../tags/tag10.xml"/><Relationship Id="rId119" Type="http://schemas.openxmlformats.org/officeDocument/2006/relationships/tags" Target="../tags/tag103.xml"/><Relationship Id="rId118" Type="http://schemas.openxmlformats.org/officeDocument/2006/relationships/tags" Target="../tags/tag102.xml"/><Relationship Id="rId117" Type="http://schemas.openxmlformats.org/officeDocument/2006/relationships/tags" Target="../tags/tag101.xml"/><Relationship Id="rId116" Type="http://schemas.openxmlformats.org/officeDocument/2006/relationships/tags" Target="../tags/tag100.xml"/><Relationship Id="rId115" Type="http://schemas.openxmlformats.org/officeDocument/2006/relationships/tags" Target="../tags/tag99.xml"/><Relationship Id="rId114" Type="http://schemas.openxmlformats.org/officeDocument/2006/relationships/tags" Target="../tags/tag98.xml"/><Relationship Id="rId113" Type="http://schemas.openxmlformats.org/officeDocument/2006/relationships/tags" Target="../tags/tag97.xml"/><Relationship Id="rId112" Type="http://schemas.openxmlformats.org/officeDocument/2006/relationships/tags" Target="../tags/tag96.xml"/><Relationship Id="rId111" Type="http://schemas.openxmlformats.org/officeDocument/2006/relationships/tags" Target="../tags/tag95.xml"/><Relationship Id="rId110" Type="http://schemas.openxmlformats.org/officeDocument/2006/relationships/tags" Target="../tags/tag94.xml"/><Relationship Id="rId11" Type="http://schemas.openxmlformats.org/officeDocument/2006/relationships/tags" Target="../tags/tag9.xml"/><Relationship Id="rId109" Type="http://schemas.openxmlformats.org/officeDocument/2006/relationships/tags" Target="../tags/tag93.xml"/><Relationship Id="rId108" Type="http://schemas.openxmlformats.org/officeDocument/2006/relationships/tags" Target="../tags/tag92.xml"/><Relationship Id="rId107" Type="http://schemas.openxmlformats.org/officeDocument/2006/relationships/tags" Target="../tags/tag91.xml"/><Relationship Id="rId106" Type="http://schemas.openxmlformats.org/officeDocument/2006/relationships/tags" Target="../tags/tag90.xml"/><Relationship Id="rId105" Type="http://schemas.openxmlformats.org/officeDocument/2006/relationships/tags" Target="../tags/tag89.xml"/><Relationship Id="rId104" Type="http://schemas.openxmlformats.org/officeDocument/2006/relationships/tags" Target="../tags/tag88.xml"/><Relationship Id="rId103" Type="http://schemas.openxmlformats.org/officeDocument/2006/relationships/tags" Target="../tags/tag87.xml"/><Relationship Id="rId102" Type="http://schemas.openxmlformats.org/officeDocument/2006/relationships/tags" Target="../tags/tag86.xml"/><Relationship Id="rId101" Type="http://schemas.openxmlformats.org/officeDocument/2006/relationships/tags" Target="../tags/tag85.xml"/><Relationship Id="rId100" Type="http://schemas.openxmlformats.org/officeDocument/2006/relationships/tags" Target="../tags/tag84.xml"/><Relationship Id="rId10" Type="http://schemas.openxmlformats.org/officeDocument/2006/relationships/tags" Target="../tags/tag8.xml"/><Relationship Id="rId1" Type="http://schemas.openxmlformats.org/officeDocument/2006/relationships/tags" Target="../tags/tag3.xml"/></Relationships>
</file>

<file path=ppt/slides/_rels/slide2.xml.rels><?xml version="1.0" encoding="UTF-8" standalone="yes"?>
<Relationships xmlns="http://schemas.openxmlformats.org/package/2006/relationships"><Relationship Id="rId99" Type="http://schemas.openxmlformats.org/officeDocument/2006/relationships/tags" Target="../tags/tag212.xml"/><Relationship Id="rId98" Type="http://schemas.openxmlformats.org/officeDocument/2006/relationships/tags" Target="../tags/tag211.xml"/><Relationship Id="rId97" Type="http://schemas.openxmlformats.org/officeDocument/2006/relationships/tags" Target="../tags/tag210.xml"/><Relationship Id="rId96" Type="http://schemas.openxmlformats.org/officeDocument/2006/relationships/tags" Target="../tags/tag209.xml"/><Relationship Id="rId95" Type="http://schemas.openxmlformats.org/officeDocument/2006/relationships/tags" Target="../tags/tag208.xml"/><Relationship Id="rId94" Type="http://schemas.openxmlformats.org/officeDocument/2006/relationships/tags" Target="../tags/tag207.xml"/><Relationship Id="rId93" Type="http://schemas.openxmlformats.org/officeDocument/2006/relationships/tags" Target="../tags/tag206.xml"/><Relationship Id="rId92" Type="http://schemas.openxmlformats.org/officeDocument/2006/relationships/tags" Target="../tags/tag205.xml"/><Relationship Id="rId91" Type="http://schemas.openxmlformats.org/officeDocument/2006/relationships/tags" Target="../tags/tag204.xml"/><Relationship Id="rId90" Type="http://schemas.openxmlformats.org/officeDocument/2006/relationships/tags" Target="../tags/tag203.xml"/><Relationship Id="rId9" Type="http://schemas.openxmlformats.org/officeDocument/2006/relationships/tags" Target="../tags/tag136.xml"/><Relationship Id="rId89" Type="http://schemas.openxmlformats.org/officeDocument/2006/relationships/tags" Target="../tags/tag202.xml"/><Relationship Id="rId88" Type="http://schemas.openxmlformats.org/officeDocument/2006/relationships/tags" Target="../tags/tag201.xml"/><Relationship Id="rId87" Type="http://schemas.openxmlformats.org/officeDocument/2006/relationships/tags" Target="../tags/tag200.xml"/><Relationship Id="rId86" Type="http://schemas.openxmlformats.org/officeDocument/2006/relationships/tags" Target="../tags/tag199.xml"/><Relationship Id="rId85" Type="http://schemas.openxmlformats.org/officeDocument/2006/relationships/tags" Target="../tags/tag198.xml"/><Relationship Id="rId84" Type="http://schemas.openxmlformats.org/officeDocument/2006/relationships/tags" Target="../tags/tag197.xml"/><Relationship Id="rId83" Type="http://schemas.openxmlformats.org/officeDocument/2006/relationships/tags" Target="../tags/tag196.xml"/><Relationship Id="rId82" Type="http://schemas.openxmlformats.org/officeDocument/2006/relationships/tags" Target="../tags/tag195.xml"/><Relationship Id="rId81" Type="http://schemas.openxmlformats.org/officeDocument/2006/relationships/image" Target="../media/image19.svg"/><Relationship Id="rId80" Type="http://schemas.openxmlformats.org/officeDocument/2006/relationships/image" Target="../media/image18.png"/><Relationship Id="rId8" Type="http://schemas.openxmlformats.org/officeDocument/2006/relationships/tags" Target="../tags/tag135.xml"/><Relationship Id="rId79" Type="http://schemas.openxmlformats.org/officeDocument/2006/relationships/image" Target="../media/image17.svg"/><Relationship Id="rId78" Type="http://schemas.openxmlformats.org/officeDocument/2006/relationships/image" Target="../media/image16.png"/><Relationship Id="rId77" Type="http://schemas.openxmlformats.org/officeDocument/2006/relationships/image" Target="../media/image15.svg"/><Relationship Id="rId76" Type="http://schemas.openxmlformats.org/officeDocument/2006/relationships/image" Target="../media/image14.png"/><Relationship Id="rId75" Type="http://schemas.openxmlformats.org/officeDocument/2006/relationships/tags" Target="../tags/tag194.xml"/><Relationship Id="rId74" Type="http://schemas.openxmlformats.org/officeDocument/2006/relationships/tags" Target="../tags/tag193.xml"/><Relationship Id="rId73" Type="http://schemas.openxmlformats.org/officeDocument/2006/relationships/tags" Target="../tags/tag192.xml"/><Relationship Id="rId72" Type="http://schemas.openxmlformats.org/officeDocument/2006/relationships/tags" Target="../tags/tag191.xml"/><Relationship Id="rId71" Type="http://schemas.openxmlformats.org/officeDocument/2006/relationships/tags" Target="../tags/tag190.xml"/><Relationship Id="rId70" Type="http://schemas.openxmlformats.org/officeDocument/2006/relationships/tags" Target="../tags/tag189.xml"/><Relationship Id="rId7" Type="http://schemas.openxmlformats.org/officeDocument/2006/relationships/image" Target="../media/image5.svg"/><Relationship Id="rId69" Type="http://schemas.openxmlformats.org/officeDocument/2006/relationships/tags" Target="../tags/tag188.xml"/><Relationship Id="rId68" Type="http://schemas.openxmlformats.org/officeDocument/2006/relationships/tags" Target="../tags/tag187.xml"/><Relationship Id="rId67" Type="http://schemas.openxmlformats.org/officeDocument/2006/relationships/tags" Target="../tags/tag186.xml"/><Relationship Id="rId66" Type="http://schemas.openxmlformats.org/officeDocument/2006/relationships/tags" Target="../tags/tag185.xml"/><Relationship Id="rId65" Type="http://schemas.openxmlformats.org/officeDocument/2006/relationships/tags" Target="../tags/tag184.xml"/><Relationship Id="rId64" Type="http://schemas.openxmlformats.org/officeDocument/2006/relationships/tags" Target="../tags/tag183.xml"/><Relationship Id="rId63" Type="http://schemas.openxmlformats.org/officeDocument/2006/relationships/tags" Target="../tags/tag182.xml"/><Relationship Id="rId62" Type="http://schemas.openxmlformats.org/officeDocument/2006/relationships/tags" Target="../tags/tag181.xml"/><Relationship Id="rId61" Type="http://schemas.openxmlformats.org/officeDocument/2006/relationships/tags" Target="../tags/tag180.xml"/><Relationship Id="rId60" Type="http://schemas.openxmlformats.org/officeDocument/2006/relationships/tags" Target="../tags/tag179.xml"/><Relationship Id="rId6" Type="http://schemas.openxmlformats.org/officeDocument/2006/relationships/image" Target="../media/image4.png"/><Relationship Id="rId59" Type="http://schemas.openxmlformats.org/officeDocument/2006/relationships/tags" Target="../tags/tag178.xml"/><Relationship Id="rId58" Type="http://schemas.openxmlformats.org/officeDocument/2006/relationships/tags" Target="../tags/tag177.xml"/><Relationship Id="rId57" Type="http://schemas.openxmlformats.org/officeDocument/2006/relationships/tags" Target="../tags/tag176.xml"/><Relationship Id="rId56" Type="http://schemas.openxmlformats.org/officeDocument/2006/relationships/tags" Target="../tags/tag175.xml"/><Relationship Id="rId55" Type="http://schemas.openxmlformats.org/officeDocument/2006/relationships/tags" Target="../tags/tag174.xml"/><Relationship Id="rId54" Type="http://schemas.openxmlformats.org/officeDocument/2006/relationships/tags" Target="../tags/tag173.xml"/><Relationship Id="rId53" Type="http://schemas.openxmlformats.org/officeDocument/2006/relationships/tags" Target="../tags/tag172.xml"/><Relationship Id="rId52" Type="http://schemas.openxmlformats.org/officeDocument/2006/relationships/image" Target="../media/image13.png"/><Relationship Id="rId51" Type="http://schemas.openxmlformats.org/officeDocument/2006/relationships/image" Target="../media/image12.png"/><Relationship Id="rId50" Type="http://schemas.openxmlformats.org/officeDocument/2006/relationships/image" Target="../media/image11.png"/><Relationship Id="rId5" Type="http://schemas.openxmlformats.org/officeDocument/2006/relationships/image" Target="../media/image3.svg"/><Relationship Id="rId49" Type="http://schemas.openxmlformats.org/officeDocument/2006/relationships/tags" Target="../tags/tag171.xml"/><Relationship Id="rId48" Type="http://schemas.openxmlformats.org/officeDocument/2006/relationships/tags" Target="../tags/tag170.xml"/><Relationship Id="rId47" Type="http://schemas.openxmlformats.org/officeDocument/2006/relationships/tags" Target="../tags/tag169.xml"/><Relationship Id="rId46" Type="http://schemas.openxmlformats.org/officeDocument/2006/relationships/tags" Target="../tags/tag168.xml"/><Relationship Id="rId45" Type="http://schemas.openxmlformats.org/officeDocument/2006/relationships/tags" Target="../tags/tag167.xml"/><Relationship Id="rId44" Type="http://schemas.openxmlformats.org/officeDocument/2006/relationships/tags" Target="../tags/tag166.xml"/><Relationship Id="rId43" Type="http://schemas.openxmlformats.org/officeDocument/2006/relationships/tags" Target="../tags/tag165.xml"/><Relationship Id="rId42" Type="http://schemas.openxmlformats.org/officeDocument/2006/relationships/tags" Target="../tags/tag164.xml"/><Relationship Id="rId41" Type="http://schemas.openxmlformats.org/officeDocument/2006/relationships/image" Target="../media/image10.png"/><Relationship Id="rId40" Type="http://schemas.openxmlformats.org/officeDocument/2006/relationships/tags" Target="../tags/tag163.xml"/><Relationship Id="rId4" Type="http://schemas.openxmlformats.org/officeDocument/2006/relationships/image" Target="../media/image2.png"/><Relationship Id="rId39" Type="http://schemas.openxmlformats.org/officeDocument/2006/relationships/image" Target="../media/image9.png"/><Relationship Id="rId38" Type="http://schemas.openxmlformats.org/officeDocument/2006/relationships/tags" Target="../tags/tag162.xml"/><Relationship Id="rId37" Type="http://schemas.openxmlformats.org/officeDocument/2006/relationships/image" Target="../media/image8.png"/><Relationship Id="rId36" Type="http://schemas.openxmlformats.org/officeDocument/2006/relationships/tags" Target="../tags/tag161.xml"/><Relationship Id="rId35" Type="http://schemas.openxmlformats.org/officeDocument/2006/relationships/image" Target="../media/image7.png"/><Relationship Id="rId34" Type="http://schemas.openxmlformats.org/officeDocument/2006/relationships/tags" Target="../tags/tag160.xml"/><Relationship Id="rId33" Type="http://schemas.openxmlformats.org/officeDocument/2006/relationships/image" Target="../media/image6.png"/><Relationship Id="rId32" Type="http://schemas.openxmlformats.org/officeDocument/2006/relationships/tags" Target="../tags/tag159.xml"/><Relationship Id="rId31" Type="http://schemas.openxmlformats.org/officeDocument/2006/relationships/tags" Target="../tags/tag158.xml"/><Relationship Id="rId30" Type="http://schemas.openxmlformats.org/officeDocument/2006/relationships/tags" Target="../tags/tag157.xml"/><Relationship Id="rId3" Type="http://schemas.openxmlformats.org/officeDocument/2006/relationships/tags" Target="../tags/tag134.xml"/><Relationship Id="rId29" Type="http://schemas.openxmlformats.org/officeDocument/2006/relationships/tags" Target="../tags/tag156.xml"/><Relationship Id="rId28" Type="http://schemas.openxmlformats.org/officeDocument/2006/relationships/tags" Target="../tags/tag155.xml"/><Relationship Id="rId27" Type="http://schemas.openxmlformats.org/officeDocument/2006/relationships/tags" Target="../tags/tag154.xml"/><Relationship Id="rId26" Type="http://schemas.openxmlformats.org/officeDocument/2006/relationships/tags" Target="../tags/tag153.xml"/><Relationship Id="rId25" Type="http://schemas.openxmlformats.org/officeDocument/2006/relationships/tags" Target="../tags/tag152.xml"/><Relationship Id="rId24" Type="http://schemas.openxmlformats.org/officeDocument/2006/relationships/tags" Target="../tags/tag151.xml"/><Relationship Id="rId23" Type="http://schemas.openxmlformats.org/officeDocument/2006/relationships/tags" Target="../tags/tag150.xml"/><Relationship Id="rId22" Type="http://schemas.openxmlformats.org/officeDocument/2006/relationships/tags" Target="../tags/tag149.xml"/><Relationship Id="rId21" Type="http://schemas.openxmlformats.org/officeDocument/2006/relationships/tags" Target="../tags/tag148.xml"/><Relationship Id="rId20" Type="http://schemas.openxmlformats.org/officeDocument/2006/relationships/tags" Target="../tags/tag147.xml"/><Relationship Id="rId2" Type="http://schemas.openxmlformats.org/officeDocument/2006/relationships/tags" Target="../tags/tag133.xml"/><Relationship Id="rId19" Type="http://schemas.openxmlformats.org/officeDocument/2006/relationships/tags" Target="../tags/tag146.xml"/><Relationship Id="rId18" Type="http://schemas.openxmlformats.org/officeDocument/2006/relationships/tags" Target="../tags/tag145.xml"/><Relationship Id="rId17" Type="http://schemas.openxmlformats.org/officeDocument/2006/relationships/tags" Target="../tags/tag144.xml"/><Relationship Id="rId166" Type="http://schemas.openxmlformats.org/officeDocument/2006/relationships/notesSlide" Target="../notesSlides/notesSlide2.xml"/><Relationship Id="rId165" Type="http://schemas.openxmlformats.org/officeDocument/2006/relationships/slideLayout" Target="../slideLayouts/slideLayout7.xml"/><Relationship Id="rId164" Type="http://schemas.openxmlformats.org/officeDocument/2006/relationships/tags" Target="../tags/tag277.xml"/><Relationship Id="rId163" Type="http://schemas.openxmlformats.org/officeDocument/2006/relationships/tags" Target="../tags/tag276.xml"/><Relationship Id="rId162" Type="http://schemas.openxmlformats.org/officeDocument/2006/relationships/tags" Target="../tags/tag275.xml"/><Relationship Id="rId161" Type="http://schemas.openxmlformats.org/officeDocument/2006/relationships/tags" Target="../tags/tag274.xml"/><Relationship Id="rId160" Type="http://schemas.openxmlformats.org/officeDocument/2006/relationships/tags" Target="../tags/tag273.xml"/><Relationship Id="rId16" Type="http://schemas.openxmlformats.org/officeDocument/2006/relationships/tags" Target="../tags/tag143.xml"/><Relationship Id="rId159" Type="http://schemas.openxmlformats.org/officeDocument/2006/relationships/tags" Target="../tags/tag272.xml"/><Relationship Id="rId158" Type="http://schemas.openxmlformats.org/officeDocument/2006/relationships/tags" Target="../tags/tag271.xml"/><Relationship Id="rId157" Type="http://schemas.openxmlformats.org/officeDocument/2006/relationships/tags" Target="../tags/tag270.xml"/><Relationship Id="rId156" Type="http://schemas.openxmlformats.org/officeDocument/2006/relationships/tags" Target="../tags/tag269.xml"/><Relationship Id="rId155" Type="http://schemas.openxmlformats.org/officeDocument/2006/relationships/tags" Target="../tags/tag268.xml"/><Relationship Id="rId154" Type="http://schemas.openxmlformats.org/officeDocument/2006/relationships/tags" Target="../tags/tag267.xml"/><Relationship Id="rId153" Type="http://schemas.openxmlformats.org/officeDocument/2006/relationships/tags" Target="../tags/tag266.xml"/><Relationship Id="rId152" Type="http://schemas.openxmlformats.org/officeDocument/2006/relationships/tags" Target="../tags/tag265.xml"/><Relationship Id="rId151" Type="http://schemas.openxmlformats.org/officeDocument/2006/relationships/tags" Target="../tags/tag264.xml"/><Relationship Id="rId150" Type="http://schemas.openxmlformats.org/officeDocument/2006/relationships/tags" Target="../tags/tag263.xml"/><Relationship Id="rId15" Type="http://schemas.openxmlformats.org/officeDocument/2006/relationships/tags" Target="../tags/tag142.xml"/><Relationship Id="rId149" Type="http://schemas.openxmlformats.org/officeDocument/2006/relationships/tags" Target="../tags/tag262.xml"/><Relationship Id="rId148" Type="http://schemas.openxmlformats.org/officeDocument/2006/relationships/tags" Target="../tags/tag261.xml"/><Relationship Id="rId147" Type="http://schemas.openxmlformats.org/officeDocument/2006/relationships/tags" Target="../tags/tag260.xml"/><Relationship Id="rId146" Type="http://schemas.openxmlformats.org/officeDocument/2006/relationships/tags" Target="../tags/tag259.xml"/><Relationship Id="rId145" Type="http://schemas.openxmlformats.org/officeDocument/2006/relationships/tags" Target="../tags/tag258.xml"/><Relationship Id="rId144" Type="http://schemas.openxmlformats.org/officeDocument/2006/relationships/tags" Target="../tags/tag257.xml"/><Relationship Id="rId143" Type="http://schemas.openxmlformats.org/officeDocument/2006/relationships/tags" Target="../tags/tag256.xml"/><Relationship Id="rId142" Type="http://schemas.openxmlformats.org/officeDocument/2006/relationships/tags" Target="../tags/tag255.xml"/><Relationship Id="rId141" Type="http://schemas.openxmlformats.org/officeDocument/2006/relationships/tags" Target="../tags/tag254.xml"/><Relationship Id="rId140" Type="http://schemas.openxmlformats.org/officeDocument/2006/relationships/tags" Target="../tags/tag253.xml"/><Relationship Id="rId14" Type="http://schemas.openxmlformats.org/officeDocument/2006/relationships/tags" Target="../tags/tag141.xml"/><Relationship Id="rId139" Type="http://schemas.openxmlformats.org/officeDocument/2006/relationships/tags" Target="../tags/tag252.xml"/><Relationship Id="rId138" Type="http://schemas.openxmlformats.org/officeDocument/2006/relationships/tags" Target="../tags/tag251.xml"/><Relationship Id="rId137" Type="http://schemas.openxmlformats.org/officeDocument/2006/relationships/tags" Target="../tags/tag250.xml"/><Relationship Id="rId136" Type="http://schemas.openxmlformats.org/officeDocument/2006/relationships/tags" Target="../tags/tag249.xml"/><Relationship Id="rId135" Type="http://schemas.openxmlformats.org/officeDocument/2006/relationships/tags" Target="../tags/tag248.xml"/><Relationship Id="rId134" Type="http://schemas.openxmlformats.org/officeDocument/2006/relationships/tags" Target="../tags/tag247.xml"/><Relationship Id="rId133" Type="http://schemas.openxmlformats.org/officeDocument/2006/relationships/tags" Target="../tags/tag246.xml"/><Relationship Id="rId132" Type="http://schemas.openxmlformats.org/officeDocument/2006/relationships/tags" Target="../tags/tag245.xml"/><Relationship Id="rId131" Type="http://schemas.openxmlformats.org/officeDocument/2006/relationships/tags" Target="../tags/tag244.xml"/><Relationship Id="rId130" Type="http://schemas.openxmlformats.org/officeDocument/2006/relationships/tags" Target="../tags/tag243.xml"/><Relationship Id="rId13" Type="http://schemas.openxmlformats.org/officeDocument/2006/relationships/tags" Target="../tags/tag140.xml"/><Relationship Id="rId129" Type="http://schemas.openxmlformats.org/officeDocument/2006/relationships/tags" Target="../tags/tag242.xml"/><Relationship Id="rId128" Type="http://schemas.openxmlformats.org/officeDocument/2006/relationships/tags" Target="../tags/tag241.xml"/><Relationship Id="rId127" Type="http://schemas.openxmlformats.org/officeDocument/2006/relationships/tags" Target="../tags/tag240.xml"/><Relationship Id="rId126" Type="http://schemas.openxmlformats.org/officeDocument/2006/relationships/tags" Target="../tags/tag239.xml"/><Relationship Id="rId125" Type="http://schemas.openxmlformats.org/officeDocument/2006/relationships/tags" Target="../tags/tag238.xml"/><Relationship Id="rId124" Type="http://schemas.openxmlformats.org/officeDocument/2006/relationships/tags" Target="../tags/tag237.xml"/><Relationship Id="rId123" Type="http://schemas.openxmlformats.org/officeDocument/2006/relationships/tags" Target="../tags/tag236.xml"/><Relationship Id="rId122" Type="http://schemas.openxmlformats.org/officeDocument/2006/relationships/tags" Target="../tags/tag235.xml"/><Relationship Id="rId121" Type="http://schemas.openxmlformats.org/officeDocument/2006/relationships/tags" Target="../tags/tag234.xml"/><Relationship Id="rId120" Type="http://schemas.openxmlformats.org/officeDocument/2006/relationships/tags" Target="../tags/tag233.xml"/><Relationship Id="rId12" Type="http://schemas.openxmlformats.org/officeDocument/2006/relationships/tags" Target="../tags/tag139.xml"/><Relationship Id="rId119" Type="http://schemas.openxmlformats.org/officeDocument/2006/relationships/tags" Target="../tags/tag232.xml"/><Relationship Id="rId118" Type="http://schemas.openxmlformats.org/officeDocument/2006/relationships/tags" Target="../tags/tag231.xml"/><Relationship Id="rId117" Type="http://schemas.openxmlformats.org/officeDocument/2006/relationships/tags" Target="../tags/tag230.xml"/><Relationship Id="rId116" Type="http://schemas.openxmlformats.org/officeDocument/2006/relationships/tags" Target="../tags/tag229.xml"/><Relationship Id="rId115" Type="http://schemas.openxmlformats.org/officeDocument/2006/relationships/tags" Target="../tags/tag228.xml"/><Relationship Id="rId114" Type="http://schemas.openxmlformats.org/officeDocument/2006/relationships/tags" Target="../tags/tag227.xml"/><Relationship Id="rId113" Type="http://schemas.openxmlformats.org/officeDocument/2006/relationships/tags" Target="../tags/tag226.xml"/><Relationship Id="rId112" Type="http://schemas.openxmlformats.org/officeDocument/2006/relationships/tags" Target="../tags/tag225.xml"/><Relationship Id="rId111" Type="http://schemas.openxmlformats.org/officeDocument/2006/relationships/tags" Target="../tags/tag224.xml"/><Relationship Id="rId110" Type="http://schemas.openxmlformats.org/officeDocument/2006/relationships/tags" Target="../tags/tag223.xml"/><Relationship Id="rId11" Type="http://schemas.openxmlformats.org/officeDocument/2006/relationships/tags" Target="../tags/tag138.xml"/><Relationship Id="rId109" Type="http://schemas.openxmlformats.org/officeDocument/2006/relationships/tags" Target="../tags/tag222.xml"/><Relationship Id="rId108" Type="http://schemas.openxmlformats.org/officeDocument/2006/relationships/tags" Target="../tags/tag221.xml"/><Relationship Id="rId107" Type="http://schemas.openxmlformats.org/officeDocument/2006/relationships/tags" Target="../tags/tag220.xml"/><Relationship Id="rId106" Type="http://schemas.openxmlformats.org/officeDocument/2006/relationships/tags" Target="../tags/tag219.xml"/><Relationship Id="rId105" Type="http://schemas.openxmlformats.org/officeDocument/2006/relationships/tags" Target="../tags/tag218.xml"/><Relationship Id="rId104" Type="http://schemas.openxmlformats.org/officeDocument/2006/relationships/tags" Target="../tags/tag217.xml"/><Relationship Id="rId103" Type="http://schemas.openxmlformats.org/officeDocument/2006/relationships/tags" Target="../tags/tag216.xml"/><Relationship Id="rId102" Type="http://schemas.openxmlformats.org/officeDocument/2006/relationships/tags" Target="../tags/tag215.xml"/><Relationship Id="rId101" Type="http://schemas.openxmlformats.org/officeDocument/2006/relationships/tags" Target="../tags/tag214.xml"/><Relationship Id="rId100" Type="http://schemas.openxmlformats.org/officeDocument/2006/relationships/tags" Target="../tags/tag213.xml"/><Relationship Id="rId10" Type="http://schemas.openxmlformats.org/officeDocument/2006/relationships/tags" Target="../tags/tag137.xml"/><Relationship Id="rId1" Type="http://schemas.openxmlformats.org/officeDocument/2006/relationships/tags" Target="../tags/tag132.xml"/></Relationships>
</file>

<file path=ppt/slides/_rels/slide3.xml.rels><?xml version="1.0" encoding="UTF-8" standalone="yes"?>
<Relationships xmlns="http://schemas.openxmlformats.org/package/2006/relationships"><Relationship Id="rId99" Type="http://schemas.openxmlformats.org/officeDocument/2006/relationships/tags" Target="../tags/tag366.xml"/><Relationship Id="rId98" Type="http://schemas.openxmlformats.org/officeDocument/2006/relationships/tags" Target="../tags/tag365.xml"/><Relationship Id="rId97" Type="http://schemas.openxmlformats.org/officeDocument/2006/relationships/tags" Target="../tags/tag364.xml"/><Relationship Id="rId96" Type="http://schemas.openxmlformats.org/officeDocument/2006/relationships/tags" Target="../tags/tag363.xml"/><Relationship Id="rId95" Type="http://schemas.openxmlformats.org/officeDocument/2006/relationships/tags" Target="../tags/tag362.xml"/><Relationship Id="rId94" Type="http://schemas.openxmlformats.org/officeDocument/2006/relationships/tags" Target="../tags/tag361.xml"/><Relationship Id="rId93" Type="http://schemas.openxmlformats.org/officeDocument/2006/relationships/tags" Target="../tags/tag360.xml"/><Relationship Id="rId92" Type="http://schemas.openxmlformats.org/officeDocument/2006/relationships/tags" Target="../tags/tag359.xml"/><Relationship Id="rId91" Type="http://schemas.openxmlformats.org/officeDocument/2006/relationships/tags" Target="../tags/tag358.xml"/><Relationship Id="rId90" Type="http://schemas.openxmlformats.org/officeDocument/2006/relationships/tags" Target="../tags/tag357.xml"/><Relationship Id="rId9" Type="http://schemas.openxmlformats.org/officeDocument/2006/relationships/image" Target="../media/image15.svg"/><Relationship Id="rId89" Type="http://schemas.openxmlformats.org/officeDocument/2006/relationships/tags" Target="../tags/tag356.xml"/><Relationship Id="rId88" Type="http://schemas.openxmlformats.org/officeDocument/2006/relationships/tags" Target="../tags/tag355.xml"/><Relationship Id="rId87" Type="http://schemas.openxmlformats.org/officeDocument/2006/relationships/tags" Target="../tags/tag354.xml"/><Relationship Id="rId86" Type="http://schemas.openxmlformats.org/officeDocument/2006/relationships/tags" Target="../tags/tag353.xml"/><Relationship Id="rId85" Type="http://schemas.openxmlformats.org/officeDocument/2006/relationships/tags" Target="../tags/tag352.xml"/><Relationship Id="rId84" Type="http://schemas.openxmlformats.org/officeDocument/2006/relationships/tags" Target="../tags/tag351.xml"/><Relationship Id="rId83" Type="http://schemas.openxmlformats.org/officeDocument/2006/relationships/tags" Target="../tags/tag350.xml"/><Relationship Id="rId82" Type="http://schemas.openxmlformats.org/officeDocument/2006/relationships/tags" Target="../tags/tag349.xml"/><Relationship Id="rId81" Type="http://schemas.openxmlformats.org/officeDocument/2006/relationships/tags" Target="../tags/tag348.xml"/><Relationship Id="rId80" Type="http://schemas.openxmlformats.org/officeDocument/2006/relationships/tags" Target="../tags/tag347.xml"/><Relationship Id="rId8" Type="http://schemas.openxmlformats.org/officeDocument/2006/relationships/image" Target="../media/image14.png"/><Relationship Id="rId79" Type="http://schemas.openxmlformats.org/officeDocument/2006/relationships/tags" Target="../tags/tag346.xml"/><Relationship Id="rId78" Type="http://schemas.openxmlformats.org/officeDocument/2006/relationships/tags" Target="../tags/tag345.xml"/><Relationship Id="rId77" Type="http://schemas.openxmlformats.org/officeDocument/2006/relationships/tags" Target="../tags/tag344.xml"/><Relationship Id="rId76" Type="http://schemas.openxmlformats.org/officeDocument/2006/relationships/tags" Target="../tags/tag343.xml"/><Relationship Id="rId75" Type="http://schemas.openxmlformats.org/officeDocument/2006/relationships/tags" Target="../tags/tag342.xml"/><Relationship Id="rId74" Type="http://schemas.openxmlformats.org/officeDocument/2006/relationships/tags" Target="../tags/tag341.xml"/><Relationship Id="rId73" Type="http://schemas.openxmlformats.org/officeDocument/2006/relationships/tags" Target="../tags/tag340.xml"/><Relationship Id="rId72" Type="http://schemas.openxmlformats.org/officeDocument/2006/relationships/tags" Target="../tags/tag339.xml"/><Relationship Id="rId71" Type="http://schemas.openxmlformats.org/officeDocument/2006/relationships/tags" Target="../tags/tag338.xml"/><Relationship Id="rId70" Type="http://schemas.openxmlformats.org/officeDocument/2006/relationships/tags" Target="../tags/tag337.xml"/><Relationship Id="rId7" Type="http://schemas.openxmlformats.org/officeDocument/2006/relationships/image" Target="../media/image5.svg"/><Relationship Id="rId69" Type="http://schemas.openxmlformats.org/officeDocument/2006/relationships/tags" Target="../tags/tag336.xml"/><Relationship Id="rId68" Type="http://schemas.openxmlformats.org/officeDocument/2006/relationships/tags" Target="../tags/tag335.xml"/><Relationship Id="rId67" Type="http://schemas.openxmlformats.org/officeDocument/2006/relationships/tags" Target="../tags/tag334.xml"/><Relationship Id="rId66" Type="http://schemas.openxmlformats.org/officeDocument/2006/relationships/tags" Target="../tags/tag333.xml"/><Relationship Id="rId65" Type="http://schemas.openxmlformats.org/officeDocument/2006/relationships/tags" Target="../tags/tag332.xml"/><Relationship Id="rId64" Type="http://schemas.openxmlformats.org/officeDocument/2006/relationships/tags" Target="../tags/tag331.xml"/><Relationship Id="rId63" Type="http://schemas.openxmlformats.org/officeDocument/2006/relationships/tags" Target="../tags/tag330.xml"/><Relationship Id="rId62" Type="http://schemas.openxmlformats.org/officeDocument/2006/relationships/tags" Target="../tags/tag329.xml"/><Relationship Id="rId61" Type="http://schemas.openxmlformats.org/officeDocument/2006/relationships/tags" Target="../tags/tag328.xml"/><Relationship Id="rId60" Type="http://schemas.openxmlformats.org/officeDocument/2006/relationships/tags" Target="../tags/tag327.xml"/><Relationship Id="rId6" Type="http://schemas.openxmlformats.org/officeDocument/2006/relationships/image" Target="../media/image4.png"/><Relationship Id="rId59" Type="http://schemas.openxmlformats.org/officeDocument/2006/relationships/tags" Target="../tags/tag326.xml"/><Relationship Id="rId58" Type="http://schemas.openxmlformats.org/officeDocument/2006/relationships/tags" Target="../tags/tag325.xml"/><Relationship Id="rId57" Type="http://schemas.openxmlformats.org/officeDocument/2006/relationships/tags" Target="../tags/tag324.xml"/><Relationship Id="rId56" Type="http://schemas.openxmlformats.org/officeDocument/2006/relationships/tags" Target="../tags/tag323.xml"/><Relationship Id="rId55" Type="http://schemas.openxmlformats.org/officeDocument/2006/relationships/tags" Target="../tags/tag322.xml"/><Relationship Id="rId54" Type="http://schemas.openxmlformats.org/officeDocument/2006/relationships/tags" Target="../tags/tag321.xml"/><Relationship Id="rId53" Type="http://schemas.openxmlformats.org/officeDocument/2006/relationships/tags" Target="../tags/tag320.xml"/><Relationship Id="rId52" Type="http://schemas.openxmlformats.org/officeDocument/2006/relationships/tags" Target="../tags/tag319.xml"/><Relationship Id="rId51" Type="http://schemas.openxmlformats.org/officeDocument/2006/relationships/tags" Target="../tags/tag318.xml"/><Relationship Id="rId50" Type="http://schemas.openxmlformats.org/officeDocument/2006/relationships/tags" Target="../tags/tag317.xml"/><Relationship Id="rId5" Type="http://schemas.openxmlformats.org/officeDocument/2006/relationships/image" Target="../media/image3.svg"/><Relationship Id="rId49" Type="http://schemas.openxmlformats.org/officeDocument/2006/relationships/tags" Target="../tags/tag316.xml"/><Relationship Id="rId48" Type="http://schemas.openxmlformats.org/officeDocument/2006/relationships/tags" Target="../tags/tag315.xml"/><Relationship Id="rId47" Type="http://schemas.openxmlformats.org/officeDocument/2006/relationships/tags" Target="../tags/tag314.xml"/><Relationship Id="rId46" Type="http://schemas.openxmlformats.org/officeDocument/2006/relationships/tags" Target="../tags/tag313.xml"/><Relationship Id="rId45" Type="http://schemas.openxmlformats.org/officeDocument/2006/relationships/tags" Target="../tags/tag312.xml"/><Relationship Id="rId44" Type="http://schemas.openxmlformats.org/officeDocument/2006/relationships/tags" Target="../tags/tag311.xml"/><Relationship Id="rId43" Type="http://schemas.openxmlformats.org/officeDocument/2006/relationships/tags" Target="../tags/tag310.xml"/><Relationship Id="rId42" Type="http://schemas.openxmlformats.org/officeDocument/2006/relationships/tags" Target="../tags/tag309.xml"/><Relationship Id="rId41" Type="http://schemas.openxmlformats.org/officeDocument/2006/relationships/tags" Target="../tags/tag308.xml"/><Relationship Id="rId40" Type="http://schemas.openxmlformats.org/officeDocument/2006/relationships/tags" Target="../tags/tag307.xml"/><Relationship Id="rId4" Type="http://schemas.openxmlformats.org/officeDocument/2006/relationships/image" Target="../media/image2.png"/><Relationship Id="rId39" Type="http://schemas.openxmlformats.org/officeDocument/2006/relationships/tags" Target="../tags/tag306.xml"/><Relationship Id="rId38" Type="http://schemas.openxmlformats.org/officeDocument/2006/relationships/tags" Target="../tags/tag305.xml"/><Relationship Id="rId37" Type="http://schemas.openxmlformats.org/officeDocument/2006/relationships/tags" Target="../tags/tag304.xml"/><Relationship Id="rId36" Type="http://schemas.openxmlformats.org/officeDocument/2006/relationships/tags" Target="../tags/tag303.xml"/><Relationship Id="rId35" Type="http://schemas.openxmlformats.org/officeDocument/2006/relationships/tags" Target="../tags/tag302.xml"/><Relationship Id="rId34" Type="http://schemas.openxmlformats.org/officeDocument/2006/relationships/tags" Target="../tags/tag301.xml"/><Relationship Id="rId33" Type="http://schemas.openxmlformats.org/officeDocument/2006/relationships/tags" Target="../tags/tag300.xml"/><Relationship Id="rId32" Type="http://schemas.openxmlformats.org/officeDocument/2006/relationships/tags" Target="../tags/tag299.xml"/><Relationship Id="rId31" Type="http://schemas.openxmlformats.org/officeDocument/2006/relationships/tags" Target="../tags/tag298.xml"/><Relationship Id="rId30" Type="http://schemas.openxmlformats.org/officeDocument/2006/relationships/tags" Target="../tags/tag297.xml"/><Relationship Id="rId3" Type="http://schemas.openxmlformats.org/officeDocument/2006/relationships/tags" Target="../tags/tag280.xml"/><Relationship Id="rId29" Type="http://schemas.openxmlformats.org/officeDocument/2006/relationships/tags" Target="../tags/tag296.xml"/><Relationship Id="rId28" Type="http://schemas.openxmlformats.org/officeDocument/2006/relationships/tags" Target="../tags/tag295.xml"/><Relationship Id="rId27" Type="http://schemas.openxmlformats.org/officeDocument/2006/relationships/tags" Target="../tags/tag294.xml"/><Relationship Id="rId26" Type="http://schemas.openxmlformats.org/officeDocument/2006/relationships/tags" Target="../tags/tag293.xml"/><Relationship Id="rId25" Type="http://schemas.openxmlformats.org/officeDocument/2006/relationships/tags" Target="../tags/tag292.xml"/><Relationship Id="rId24" Type="http://schemas.openxmlformats.org/officeDocument/2006/relationships/tags" Target="../tags/tag291.xml"/><Relationship Id="rId23" Type="http://schemas.openxmlformats.org/officeDocument/2006/relationships/tags" Target="../tags/tag290.xml"/><Relationship Id="rId22" Type="http://schemas.openxmlformats.org/officeDocument/2006/relationships/tags" Target="../tags/tag289.xml"/><Relationship Id="rId21" Type="http://schemas.openxmlformats.org/officeDocument/2006/relationships/tags" Target="../tags/tag288.xml"/><Relationship Id="rId20" Type="http://schemas.openxmlformats.org/officeDocument/2006/relationships/tags" Target="../tags/tag287.xml"/><Relationship Id="rId2" Type="http://schemas.openxmlformats.org/officeDocument/2006/relationships/tags" Target="../tags/tag279.xml"/><Relationship Id="rId19" Type="http://schemas.openxmlformats.org/officeDocument/2006/relationships/tags" Target="../tags/tag286.xml"/><Relationship Id="rId18" Type="http://schemas.openxmlformats.org/officeDocument/2006/relationships/tags" Target="../tags/tag285.xml"/><Relationship Id="rId170" Type="http://schemas.openxmlformats.org/officeDocument/2006/relationships/notesSlide" Target="../notesSlides/notesSlide3.xml"/><Relationship Id="rId17" Type="http://schemas.openxmlformats.org/officeDocument/2006/relationships/tags" Target="../tags/tag284.xml"/><Relationship Id="rId169" Type="http://schemas.openxmlformats.org/officeDocument/2006/relationships/slideLayout" Target="../slideLayouts/slideLayout7.xml"/><Relationship Id="rId168" Type="http://schemas.openxmlformats.org/officeDocument/2006/relationships/tags" Target="../tags/tag435.xml"/><Relationship Id="rId167" Type="http://schemas.openxmlformats.org/officeDocument/2006/relationships/tags" Target="../tags/tag434.xml"/><Relationship Id="rId166" Type="http://schemas.openxmlformats.org/officeDocument/2006/relationships/tags" Target="../tags/tag433.xml"/><Relationship Id="rId165" Type="http://schemas.openxmlformats.org/officeDocument/2006/relationships/tags" Target="../tags/tag432.xml"/><Relationship Id="rId164" Type="http://schemas.openxmlformats.org/officeDocument/2006/relationships/tags" Target="../tags/tag431.xml"/><Relationship Id="rId163" Type="http://schemas.openxmlformats.org/officeDocument/2006/relationships/tags" Target="../tags/tag430.xml"/><Relationship Id="rId162" Type="http://schemas.openxmlformats.org/officeDocument/2006/relationships/tags" Target="../tags/tag429.xml"/><Relationship Id="rId161" Type="http://schemas.openxmlformats.org/officeDocument/2006/relationships/tags" Target="../tags/tag428.xml"/><Relationship Id="rId160" Type="http://schemas.openxmlformats.org/officeDocument/2006/relationships/tags" Target="../tags/tag427.xml"/><Relationship Id="rId16" Type="http://schemas.openxmlformats.org/officeDocument/2006/relationships/tags" Target="../tags/tag283.xml"/><Relationship Id="rId159" Type="http://schemas.openxmlformats.org/officeDocument/2006/relationships/tags" Target="../tags/tag426.xml"/><Relationship Id="rId158" Type="http://schemas.openxmlformats.org/officeDocument/2006/relationships/tags" Target="../tags/tag425.xml"/><Relationship Id="rId157" Type="http://schemas.openxmlformats.org/officeDocument/2006/relationships/tags" Target="../tags/tag424.xml"/><Relationship Id="rId156" Type="http://schemas.openxmlformats.org/officeDocument/2006/relationships/tags" Target="../tags/tag423.xml"/><Relationship Id="rId155" Type="http://schemas.openxmlformats.org/officeDocument/2006/relationships/tags" Target="../tags/tag422.xml"/><Relationship Id="rId154" Type="http://schemas.openxmlformats.org/officeDocument/2006/relationships/tags" Target="../tags/tag421.xml"/><Relationship Id="rId153" Type="http://schemas.openxmlformats.org/officeDocument/2006/relationships/tags" Target="../tags/tag420.xml"/><Relationship Id="rId152" Type="http://schemas.openxmlformats.org/officeDocument/2006/relationships/tags" Target="../tags/tag419.xml"/><Relationship Id="rId151" Type="http://schemas.openxmlformats.org/officeDocument/2006/relationships/tags" Target="../tags/tag418.xml"/><Relationship Id="rId150" Type="http://schemas.openxmlformats.org/officeDocument/2006/relationships/tags" Target="../tags/tag417.xml"/><Relationship Id="rId15" Type="http://schemas.openxmlformats.org/officeDocument/2006/relationships/tags" Target="../tags/tag282.xml"/><Relationship Id="rId149" Type="http://schemas.openxmlformats.org/officeDocument/2006/relationships/tags" Target="../tags/tag416.xml"/><Relationship Id="rId148" Type="http://schemas.openxmlformats.org/officeDocument/2006/relationships/tags" Target="../tags/tag415.xml"/><Relationship Id="rId147" Type="http://schemas.openxmlformats.org/officeDocument/2006/relationships/tags" Target="../tags/tag414.xml"/><Relationship Id="rId146" Type="http://schemas.openxmlformats.org/officeDocument/2006/relationships/tags" Target="../tags/tag413.xml"/><Relationship Id="rId145" Type="http://schemas.openxmlformats.org/officeDocument/2006/relationships/tags" Target="../tags/tag412.xml"/><Relationship Id="rId144" Type="http://schemas.openxmlformats.org/officeDocument/2006/relationships/tags" Target="../tags/tag411.xml"/><Relationship Id="rId143" Type="http://schemas.openxmlformats.org/officeDocument/2006/relationships/tags" Target="../tags/tag410.xml"/><Relationship Id="rId142" Type="http://schemas.openxmlformats.org/officeDocument/2006/relationships/tags" Target="../tags/tag409.xml"/><Relationship Id="rId141" Type="http://schemas.openxmlformats.org/officeDocument/2006/relationships/tags" Target="../tags/tag408.xml"/><Relationship Id="rId140" Type="http://schemas.openxmlformats.org/officeDocument/2006/relationships/tags" Target="../tags/tag407.xml"/><Relationship Id="rId14" Type="http://schemas.openxmlformats.org/officeDocument/2006/relationships/tags" Target="../tags/tag281.xml"/><Relationship Id="rId139" Type="http://schemas.openxmlformats.org/officeDocument/2006/relationships/tags" Target="../tags/tag406.xml"/><Relationship Id="rId138" Type="http://schemas.openxmlformats.org/officeDocument/2006/relationships/tags" Target="../tags/tag405.xml"/><Relationship Id="rId137" Type="http://schemas.openxmlformats.org/officeDocument/2006/relationships/tags" Target="../tags/tag404.xml"/><Relationship Id="rId136" Type="http://schemas.openxmlformats.org/officeDocument/2006/relationships/tags" Target="../tags/tag403.xml"/><Relationship Id="rId135" Type="http://schemas.openxmlformats.org/officeDocument/2006/relationships/tags" Target="../tags/tag402.xml"/><Relationship Id="rId134" Type="http://schemas.openxmlformats.org/officeDocument/2006/relationships/tags" Target="../tags/tag401.xml"/><Relationship Id="rId133" Type="http://schemas.openxmlformats.org/officeDocument/2006/relationships/tags" Target="../tags/tag400.xml"/><Relationship Id="rId132" Type="http://schemas.openxmlformats.org/officeDocument/2006/relationships/tags" Target="../tags/tag399.xml"/><Relationship Id="rId131" Type="http://schemas.openxmlformats.org/officeDocument/2006/relationships/tags" Target="../tags/tag398.xml"/><Relationship Id="rId130" Type="http://schemas.openxmlformats.org/officeDocument/2006/relationships/tags" Target="../tags/tag397.xml"/><Relationship Id="rId13" Type="http://schemas.openxmlformats.org/officeDocument/2006/relationships/image" Target="../media/image19.svg"/><Relationship Id="rId129" Type="http://schemas.openxmlformats.org/officeDocument/2006/relationships/tags" Target="../tags/tag396.xml"/><Relationship Id="rId128" Type="http://schemas.openxmlformats.org/officeDocument/2006/relationships/tags" Target="../tags/tag395.xml"/><Relationship Id="rId127" Type="http://schemas.openxmlformats.org/officeDocument/2006/relationships/tags" Target="../tags/tag394.xml"/><Relationship Id="rId126" Type="http://schemas.openxmlformats.org/officeDocument/2006/relationships/tags" Target="../tags/tag393.xml"/><Relationship Id="rId125" Type="http://schemas.openxmlformats.org/officeDocument/2006/relationships/tags" Target="../tags/tag392.xml"/><Relationship Id="rId124" Type="http://schemas.openxmlformats.org/officeDocument/2006/relationships/tags" Target="../tags/tag391.xml"/><Relationship Id="rId123" Type="http://schemas.openxmlformats.org/officeDocument/2006/relationships/tags" Target="../tags/tag390.xml"/><Relationship Id="rId122" Type="http://schemas.openxmlformats.org/officeDocument/2006/relationships/tags" Target="../tags/tag389.xml"/><Relationship Id="rId121" Type="http://schemas.openxmlformats.org/officeDocument/2006/relationships/tags" Target="../tags/tag388.xml"/><Relationship Id="rId120" Type="http://schemas.openxmlformats.org/officeDocument/2006/relationships/tags" Target="../tags/tag387.xml"/><Relationship Id="rId12" Type="http://schemas.openxmlformats.org/officeDocument/2006/relationships/image" Target="../media/image18.png"/><Relationship Id="rId119" Type="http://schemas.openxmlformats.org/officeDocument/2006/relationships/tags" Target="../tags/tag386.xml"/><Relationship Id="rId118" Type="http://schemas.openxmlformats.org/officeDocument/2006/relationships/tags" Target="../tags/tag385.xml"/><Relationship Id="rId117" Type="http://schemas.openxmlformats.org/officeDocument/2006/relationships/tags" Target="../tags/tag384.xml"/><Relationship Id="rId116" Type="http://schemas.openxmlformats.org/officeDocument/2006/relationships/tags" Target="../tags/tag383.xml"/><Relationship Id="rId115" Type="http://schemas.openxmlformats.org/officeDocument/2006/relationships/tags" Target="../tags/tag382.xml"/><Relationship Id="rId114" Type="http://schemas.openxmlformats.org/officeDocument/2006/relationships/tags" Target="../tags/tag381.xml"/><Relationship Id="rId113" Type="http://schemas.openxmlformats.org/officeDocument/2006/relationships/tags" Target="../tags/tag380.xml"/><Relationship Id="rId112" Type="http://schemas.openxmlformats.org/officeDocument/2006/relationships/tags" Target="../tags/tag379.xml"/><Relationship Id="rId111" Type="http://schemas.openxmlformats.org/officeDocument/2006/relationships/tags" Target="../tags/tag378.xml"/><Relationship Id="rId110" Type="http://schemas.openxmlformats.org/officeDocument/2006/relationships/tags" Target="../tags/tag377.xml"/><Relationship Id="rId11" Type="http://schemas.openxmlformats.org/officeDocument/2006/relationships/image" Target="../media/image17.svg"/><Relationship Id="rId109" Type="http://schemas.openxmlformats.org/officeDocument/2006/relationships/tags" Target="../tags/tag376.xml"/><Relationship Id="rId108" Type="http://schemas.openxmlformats.org/officeDocument/2006/relationships/tags" Target="../tags/tag375.xml"/><Relationship Id="rId107" Type="http://schemas.openxmlformats.org/officeDocument/2006/relationships/tags" Target="../tags/tag374.xml"/><Relationship Id="rId106" Type="http://schemas.openxmlformats.org/officeDocument/2006/relationships/tags" Target="../tags/tag373.xml"/><Relationship Id="rId105" Type="http://schemas.openxmlformats.org/officeDocument/2006/relationships/tags" Target="../tags/tag372.xml"/><Relationship Id="rId104" Type="http://schemas.openxmlformats.org/officeDocument/2006/relationships/tags" Target="../tags/tag371.xml"/><Relationship Id="rId103" Type="http://schemas.openxmlformats.org/officeDocument/2006/relationships/tags" Target="../tags/tag370.xml"/><Relationship Id="rId102" Type="http://schemas.openxmlformats.org/officeDocument/2006/relationships/tags" Target="../tags/tag369.xml"/><Relationship Id="rId101" Type="http://schemas.openxmlformats.org/officeDocument/2006/relationships/tags" Target="../tags/tag368.xml"/><Relationship Id="rId100" Type="http://schemas.openxmlformats.org/officeDocument/2006/relationships/tags" Target="../tags/tag367.xml"/><Relationship Id="rId10" Type="http://schemas.openxmlformats.org/officeDocument/2006/relationships/image" Target="../media/image16.png"/><Relationship Id="rId1" Type="http://schemas.openxmlformats.org/officeDocument/2006/relationships/tags" Target="../tags/tag278.xml"/></Relationships>
</file>

<file path=ppt/slides/_rels/slide4.xml.rels><?xml version="1.0" encoding="UTF-8" standalone="yes"?>
<Relationships xmlns="http://schemas.openxmlformats.org/package/2006/relationships"><Relationship Id="rId90" Type="http://schemas.openxmlformats.org/officeDocument/2006/relationships/notesSlide" Target="../notesSlides/notesSlide4.xml"/><Relationship Id="rId9" Type="http://schemas.openxmlformats.org/officeDocument/2006/relationships/tags" Target="../tags/tag444.xml"/><Relationship Id="rId89" Type="http://schemas.openxmlformats.org/officeDocument/2006/relationships/slideLayout" Target="../slideLayouts/slideLayout7.xml"/><Relationship Id="rId88" Type="http://schemas.openxmlformats.org/officeDocument/2006/relationships/tags" Target="../tags/tag517.xml"/><Relationship Id="rId87" Type="http://schemas.openxmlformats.org/officeDocument/2006/relationships/tags" Target="../tags/tag516.xml"/><Relationship Id="rId86" Type="http://schemas.openxmlformats.org/officeDocument/2006/relationships/tags" Target="../tags/tag515.xml"/><Relationship Id="rId85" Type="http://schemas.openxmlformats.org/officeDocument/2006/relationships/tags" Target="../tags/tag514.xml"/><Relationship Id="rId84" Type="http://schemas.openxmlformats.org/officeDocument/2006/relationships/tags" Target="../tags/tag513.xml"/><Relationship Id="rId83" Type="http://schemas.openxmlformats.org/officeDocument/2006/relationships/tags" Target="../tags/tag512.xml"/><Relationship Id="rId82" Type="http://schemas.openxmlformats.org/officeDocument/2006/relationships/tags" Target="../tags/tag511.xml"/><Relationship Id="rId81" Type="http://schemas.openxmlformats.org/officeDocument/2006/relationships/tags" Target="../tags/tag510.xml"/><Relationship Id="rId80" Type="http://schemas.openxmlformats.org/officeDocument/2006/relationships/tags" Target="../tags/tag509.xml"/><Relationship Id="rId8" Type="http://schemas.openxmlformats.org/officeDocument/2006/relationships/tags" Target="../tags/tag443.xml"/><Relationship Id="rId79" Type="http://schemas.openxmlformats.org/officeDocument/2006/relationships/tags" Target="../tags/tag508.xml"/><Relationship Id="rId78" Type="http://schemas.openxmlformats.org/officeDocument/2006/relationships/tags" Target="../tags/tag507.xml"/><Relationship Id="rId77" Type="http://schemas.openxmlformats.org/officeDocument/2006/relationships/tags" Target="../tags/tag506.xml"/><Relationship Id="rId76" Type="http://schemas.openxmlformats.org/officeDocument/2006/relationships/tags" Target="../tags/tag505.xml"/><Relationship Id="rId75" Type="http://schemas.openxmlformats.org/officeDocument/2006/relationships/tags" Target="../tags/tag504.xml"/><Relationship Id="rId74" Type="http://schemas.openxmlformats.org/officeDocument/2006/relationships/tags" Target="../tags/tag503.xml"/><Relationship Id="rId73" Type="http://schemas.openxmlformats.org/officeDocument/2006/relationships/tags" Target="../tags/tag502.xml"/><Relationship Id="rId72" Type="http://schemas.openxmlformats.org/officeDocument/2006/relationships/tags" Target="../tags/tag501.xml"/><Relationship Id="rId71" Type="http://schemas.openxmlformats.org/officeDocument/2006/relationships/tags" Target="../tags/tag500.xml"/><Relationship Id="rId70" Type="http://schemas.openxmlformats.org/officeDocument/2006/relationships/tags" Target="../tags/tag499.xml"/><Relationship Id="rId7" Type="http://schemas.openxmlformats.org/officeDocument/2006/relationships/tags" Target="../tags/tag442.xml"/><Relationship Id="rId69" Type="http://schemas.openxmlformats.org/officeDocument/2006/relationships/tags" Target="../tags/tag498.xml"/><Relationship Id="rId68" Type="http://schemas.openxmlformats.org/officeDocument/2006/relationships/tags" Target="../tags/tag497.xml"/><Relationship Id="rId67" Type="http://schemas.openxmlformats.org/officeDocument/2006/relationships/tags" Target="../tags/tag496.xml"/><Relationship Id="rId66" Type="http://schemas.openxmlformats.org/officeDocument/2006/relationships/tags" Target="../tags/tag495.xml"/><Relationship Id="rId65" Type="http://schemas.openxmlformats.org/officeDocument/2006/relationships/tags" Target="../tags/tag494.xml"/><Relationship Id="rId64" Type="http://schemas.openxmlformats.org/officeDocument/2006/relationships/tags" Target="../tags/tag493.xml"/><Relationship Id="rId63" Type="http://schemas.openxmlformats.org/officeDocument/2006/relationships/tags" Target="../tags/tag492.xml"/><Relationship Id="rId62" Type="http://schemas.openxmlformats.org/officeDocument/2006/relationships/tags" Target="../tags/tag491.xml"/><Relationship Id="rId61" Type="http://schemas.openxmlformats.org/officeDocument/2006/relationships/tags" Target="../tags/tag490.xml"/><Relationship Id="rId60" Type="http://schemas.openxmlformats.org/officeDocument/2006/relationships/tags" Target="../tags/tag489.xml"/><Relationship Id="rId6" Type="http://schemas.openxmlformats.org/officeDocument/2006/relationships/tags" Target="../tags/tag441.xml"/><Relationship Id="rId59" Type="http://schemas.openxmlformats.org/officeDocument/2006/relationships/tags" Target="../tags/tag488.xml"/><Relationship Id="rId58" Type="http://schemas.openxmlformats.org/officeDocument/2006/relationships/tags" Target="../tags/tag487.xml"/><Relationship Id="rId57" Type="http://schemas.openxmlformats.org/officeDocument/2006/relationships/tags" Target="../tags/tag486.xml"/><Relationship Id="rId56" Type="http://schemas.openxmlformats.org/officeDocument/2006/relationships/tags" Target="../tags/tag485.xml"/><Relationship Id="rId55" Type="http://schemas.openxmlformats.org/officeDocument/2006/relationships/tags" Target="../tags/tag484.xml"/><Relationship Id="rId54" Type="http://schemas.openxmlformats.org/officeDocument/2006/relationships/tags" Target="../tags/tag483.xml"/><Relationship Id="rId53" Type="http://schemas.openxmlformats.org/officeDocument/2006/relationships/image" Target="../media/image13.png"/><Relationship Id="rId52" Type="http://schemas.openxmlformats.org/officeDocument/2006/relationships/image" Target="../media/image12.png"/><Relationship Id="rId51" Type="http://schemas.openxmlformats.org/officeDocument/2006/relationships/image" Target="../media/image10.png"/><Relationship Id="rId50" Type="http://schemas.openxmlformats.org/officeDocument/2006/relationships/tags" Target="../tags/tag482.xml"/><Relationship Id="rId5" Type="http://schemas.openxmlformats.org/officeDocument/2006/relationships/tags" Target="../tags/tag440.xml"/><Relationship Id="rId49" Type="http://schemas.openxmlformats.org/officeDocument/2006/relationships/image" Target="../media/image9.png"/><Relationship Id="rId48" Type="http://schemas.openxmlformats.org/officeDocument/2006/relationships/tags" Target="../tags/tag481.xml"/><Relationship Id="rId47" Type="http://schemas.openxmlformats.org/officeDocument/2006/relationships/image" Target="../media/image7.png"/><Relationship Id="rId46" Type="http://schemas.openxmlformats.org/officeDocument/2006/relationships/tags" Target="../tags/tag480.xml"/><Relationship Id="rId45" Type="http://schemas.openxmlformats.org/officeDocument/2006/relationships/image" Target="../media/image6.png"/><Relationship Id="rId44" Type="http://schemas.openxmlformats.org/officeDocument/2006/relationships/tags" Target="../tags/tag479.xml"/><Relationship Id="rId43" Type="http://schemas.openxmlformats.org/officeDocument/2006/relationships/tags" Target="../tags/tag478.xml"/><Relationship Id="rId42" Type="http://schemas.openxmlformats.org/officeDocument/2006/relationships/tags" Target="../tags/tag477.xml"/><Relationship Id="rId41" Type="http://schemas.openxmlformats.org/officeDocument/2006/relationships/tags" Target="../tags/tag476.xml"/><Relationship Id="rId40" Type="http://schemas.openxmlformats.org/officeDocument/2006/relationships/tags" Target="../tags/tag475.xml"/><Relationship Id="rId4" Type="http://schemas.openxmlformats.org/officeDocument/2006/relationships/tags" Target="../tags/tag439.xml"/><Relationship Id="rId39" Type="http://schemas.openxmlformats.org/officeDocument/2006/relationships/tags" Target="../tags/tag474.xml"/><Relationship Id="rId38" Type="http://schemas.openxmlformats.org/officeDocument/2006/relationships/tags" Target="../tags/tag473.xml"/><Relationship Id="rId37" Type="http://schemas.openxmlformats.org/officeDocument/2006/relationships/tags" Target="../tags/tag472.xml"/><Relationship Id="rId36" Type="http://schemas.openxmlformats.org/officeDocument/2006/relationships/tags" Target="../tags/tag471.xml"/><Relationship Id="rId35" Type="http://schemas.openxmlformats.org/officeDocument/2006/relationships/tags" Target="../tags/tag470.xml"/><Relationship Id="rId34" Type="http://schemas.openxmlformats.org/officeDocument/2006/relationships/tags" Target="../tags/tag469.xml"/><Relationship Id="rId33" Type="http://schemas.openxmlformats.org/officeDocument/2006/relationships/tags" Target="../tags/tag468.xml"/><Relationship Id="rId32" Type="http://schemas.openxmlformats.org/officeDocument/2006/relationships/tags" Target="../tags/tag467.xml"/><Relationship Id="rId31" Type="http://schemas.openxmlformats.org/officeDocument/2006/relationships/tags" Target="../tags/tag466.xml"/><Relationship Id="rId30" Type="http://schemas.openxmlformats.org/officeDocument/2006/relationships/tags" Target="../tags/tag465.xml"/><Relationship Id="rId3" Type="http://schemas.openxmlformats.org/officeDocument/2006/relationships/tags" Target="../tags/tag438.xml"/><Relationship Id="rId29" Type="http://schemas.openxmlformats.org/officeDocument/2006/relationships/tags" Target="../tags/tag464.xml"/><Relationship Id="rId28" Type="http://schemas.openxmlformats.org/officeDocument/2006/relationships/tags" Target="../tags/tag463.xml"/><Relationship Id="rId27" Type="http://schemas.openxmlformats.org/officeDocument/2006/relationships/tags" Target="../tags/tag462.xml"/><Relationship Id="rId26" Type="http://schemas.openxmlformats.org/officeDocument/2006/relationships/tags" Target="../tags/tag461.xml"/><Relationship Id="rId25" Type="http://schemas.openxmlformats.org/officeDocument/2006/relationships/tags" Target="../tags/tag460.xml"/><Relationship Id="rId24" Type="http://schemas.openxmlformats.org/officeDocument/2006/relationships/tags" Target="../tags/tag459.xml"/><Relationship Id="rId23" Type="http://schemas.openxmlformats.org/officeDocument/2006/relationships/tags" Target="../tags/tag458.xml"/><Relationship Id="rId22" Type="http://schemas.openxmlformats.org/officeDocument/2006/relationships/tags" Target="../tags/tag457.xml"/><Relationship Id="rId21" Type="http://schemas.openxmlformats.org/officeDocument/2006/relationships/tags" Target="../tags/tag456.xml"/><Relationship Id="rId20" Type="http://schemas.openxmlformats.org/officeDocument/2006/relationships/tags" Target="../tags/tag455.xml"/><Relationship Id="rId2" Type="http://schemas.openxmlformats.org/officeDocument/2006/relationships/tags" Target="../tags/tag437.xml"/><Relationship Id="rId19" Type="http://schemas.openxmlformats.org/officeDocument/2006/relationships/tags" Target="../tags/tag454.xml"/><Relationship Id="rId18" Type="http://schemas.openxmlformats.org/officeDocument/2006/relationships/tags" Target="../tags/tag453.xml"/><Relationship Id="rId17" Type="http://schemas.openxmlformats.org/officeDocument/2006/relationships/tags" Target="../tags/tag452.xml"/><Relationship Id="rId16" Type="http://schemas.openxmlformats.org/officeDocument/2006/relationships/tags" Target="../tags/tag451.xml"/><Relationship Id="rId15" Type="http://schemas.openxmlformats.org/officeDocument/2006/relationships/tags" Target="../tags/tag450.xml"/><Relationship Id="rId14" Type="http://schemas.openxmlformats.org/officeDocument/2006/relationships/tags" Target="../tags/tag449.xml"/><Relationship Id="rId13" Type="http://schemas.openxmlformats.org/officeDocument/2006/relationships/tags" Target="../tags/tag448.xml"/><Relationship Id="rId12" Type="http://schemas.openxmlformats.org/officeDocument/2006/relationships/tags" Target="../tags/tag447.xml"/><Relationship Id="rId11" Type="http://schemas.openxmlformats.org/officeDocument/2006/relationships/tags" Target="../tags/tag446.xml"/><Relationship Id="rId10" Type="http://schemas.openxmlformats.org/officeDocument/2006/relationships/tags" Target="../tags/tag445.xml"/><Relationship Id="rId1" Type="http://schemas.openxmlformats.org/officeDocument/2006/relationships/tags" Target="../tags/tag436.xml"/></Relationships>
</file>

<file path=ppt/slides/_rels/slide5.xml.rels><?xml version="1.0" encoding="UTF-8" standalone="yes"?>
<Relationships xmlns="http://schemas.openxmlformats.org/package/2006/relationships"><Relationship Id="rId90" Type="http://schemas.openxmlformats.org/officeDocument/2006/relationships/notesSlide" Target="../notesSlides/notesSlide5.xml"/><Relationship Id="rId9" Type="http://schemas.openxmlformats.org/officeDocument/2006/relationships/tags" Target="../tags/tag526.xml"/><Relationship Id="rId89" Type="http://schemas.openxmlformats.org/officeDocument/2006/relationships/slideLayout" Target="../slideLayouts/slideLayout7.xml"/><Relationship Id="rId88" Type="http://schemas.openxmlformats.org/officeDocument/2006/relationships/tags" Target="../tags/tag599.xml"/><Relationship Id="rId87" Type="http://schemas.openxmlformats.org/officeDocument/2006/relationships/tags" Target="../tags/tag598.xml"/><Relationship Id="rId86" Type="http://schemas.openxmlformats.org/officeDocument/2006/relationships/tags" Target="../tags/tag597.xml"/><Relationship Id="rId85" Type="http://schemas.openxmlformats.org/officeDocument/2006/relationships/tags" Target="../tags/tag596.xml"/><Relationship Id="rId84" Type="http://schemas.openxmlformats.org/officeDocument/2006/relationships/tags" Target="../tags/tag595.xml"/><Relationship Id="rId83" Type="http://schemas.openxmlformats.org/officeDocument/2006/relationships/tags" Target="../tags/tag594.xml"/><Relationship Id="rId82" Type="http://schemas.openxmlformats.org/officeDocument/2006/relationships/tags" Target="../tags/tag593.xml"/><Relationship Id="rId81" Type="http://schemas.openxmlformats.org/officeDocument/2006/relationships/tags" Target="../tags/tag592.xml"/><Relationship Id="rId80" Type="http://schemas.openxmlformats.org/officeDocument/2006/relationships/tags" Target="../tags/tag591.xml"/><Relationship Id="rId8" Type="http://schemas.openxmlformats.org/officeDocument/2006/relationships/tags" Target="../tags/tag525.xml"/><Relationship Id="rId79" Type="http://schemas.openxmlformats.org/officeDocument/2006/relationships/tags" Target="../tags/tag590.xml"/><Relationship Id="rId78" Type="http://schemas.openxmlformats.org/officeDocument/2006/relationships/tags" Target="../tags/tag589.xml"/><Relationship Id="rId77" Type="http://schemas.openxmlformats.org/officeDocument/2006/relationships/tags" Target="../tags/tag588.xml"/><Relationship Id="rId76" Type="http://schemas.openxmlformats.org/officeDocument/2006/relationships/tags" Target="../tags/tag587.xml"/><Relationship Id="rId75" Type="http://schemas.openxmlformats.org/officeDocument/2006/relationships/tags" Target="../tags/tag586.xml"/><Relationship Id="rId74" Type="http://schemas.openxmlformats.org/officeDocument/2006/relationships/tags" Target="../tags/tag585.xml"/><Relationship Id="rId73" Type="http://schemas.openxmlformats.org/officeDocument/2006/relationships/tags" Target="../tags/tag584.xml"/><Relationship Id="rId72" Type="http://schemas.openxmlformats.org/officeDocument/2006/relationships/tags" Target="../tags/tag583.xml"/><Relationship Id="rId71" Type="http://schemas.openxmlformats.org/officeDocument/2006/relationships/tags" Target="../tags/tag582.xml"/><Relationship Id="rId70" Type="http://schemas.openxmlformats.org/officeDocument/2006/relationships/tags" Target="../tags/tag581.xml"/><Relationship Id="rId7" Type="http://schemas.openxmlformats.org/officeDocument/2006/relationships/tags" Target="../tags/tag524.xml"/><Relationship Id="rId69" Type="http://schemas.openxmlformats.org/officeDocument/2006/relationships/tags" Target="../tags/tag580.xml"/><Relationship Id="rId68" Type="http://schemas.openxmlformats.org/officeDocument/2006/relationships/tags" Target="../tags/tag579.xml"/><Relationship Id="rId67" Type="http://schemas.openxmlformats.org/officeDocument/2006/relationships/tags" Target="../tags/tag578.xml"/><Relationship Id="rId66" Type="http://schemas.openxmlformats.org/officeDocument/2006/relationships/tags" Target="../tags/tag577.xml"/><Relationship Id="rId65" Type="http://schemas.openxmlformats.org/officeDocument/2006/relationships/tags" Target="../tags/tag576.xml"/><Relationship Id="rId64" Type="http://schemas.openxmlformats.org/officeDocument/2006/relationships/tags" Target="../tags/tag575.xml"/><Relationship Id="rId63" Type="http://schemas.openxmlformats.org/officeDocument/2006/relationships/tags" Target="../tags/tag574.xml"/><Relationship Id="rId62" Type="http://schemas.openxmlformats.org/officeDocument/2006/relationships/tags" Target="../tags/tag573.xml"/><Relationship Id="rId61" Type="http://schemas.openxmlformats.org/officeDocument/2006/relationships/tags" Target="../tags/tag572.xml"/><Relationship Id="rId60" Type="http://schemas.openxmlformats.org/officeDocument/2006/relationships/tags" Target="../tags/tag571.xml"/><Relationship Id="rId6" Type="http://schemas.openxmlformats.org/officeDocument/2006/relationships/tags" Target="../tags/tag523.xml"/><Relationship Id="rId59" Type="http://schemas.openxmlformats.org/officeDocument/2006/relationships/tags" Target="../tags/tag570.xml"/><Relationship Id="rId58" Type="http://schemas.openxmlformats.org/officeDocument/2006/relationships/tags" Target="../tags/tag569.xml"/><Relationship Id="rId57" Type="http://schemas.openxmlformats.org/officeDocument/2006/relationships/tags" Target="../tags/tag568.xml"/><Relationship Id="rId56" Type="http://schemas.openxmlformats.org/officeDocument/2006/relationships/tags" Target="../tags/tag567.xml"/><Relationship Id="rId55" Type="http://schemas.openxmlformats.org/officeDocument/2006/relationships/tags" Target="../tags/tag566.xml"/><Relationship Id="rId54" Type="http://schemas.openxmlformats.org/officeDocument/2006/relationships/tags" Target="../tags/tag565.xml"/><Relationship Id="rId53" Type="http://schemas.openxmlformats.org/officeDocument/2006/relationships/image" Target="../media/image13.png"/><Relationship Id="rId52" Type="http://schemas.openxmlformats.org/officeDocument/2006/relationships/image" Target="../media/image12.png"/><Relationship Id="rId51" Type="http://schemas.openxmlformats.org/officeDocument/2006/relationships/image" Target="../media/image10.png"/><Relationship Id="rId50" Type="http://schemas.openxmlformats.org/officeDocument/2006/relationships/tags" Target="../tags/tag564.xml"/><Relationship Id="rId5" Type="http://schemas.openxmlformats.org/officeDocument/2006/relationships/tags" Target="../tags/tag522.xml"/><Relationship Id="rId49" Type="http://schemas.openxmlformats.org/officeDocument/2006/relationships/image" Target="../media/image9.png"/><Relationship Id="rId48" Type="http://schemas.openxmlformats.org/officeDocument/2006/relationships/tags" Target="../tags/tag563.xml"/><Relationship Id="rId47" Type="http://schemas.openxmlformats.org/officeDocument/2006/relationships/image" Target="../media/image7.png"/><Relationship Id="rId46" Type="http://schemas.openxmlformats.org/officeDocument/2006/relationships/tags" Target="../tags/tag562.xml"/><Relationship Id="rId45" Type="http://schemas.openxmlformats.org/officeDocument/2006/relationships/image" Target="../media/image6.png"/><Relationship Id="rId44" Type="http://schemas.openxmlformats.org/officeDocument/2006/relationships/tags" Target="../tags/tag561.xml"/><Relationship Id="rId43" Type="http://schemas.openxmlformats.org/officeDocument/2006/relationships/tags" Target="../tags/tag560.xml"/><Relationship Id="rId42" Type="http://schemas.openxmlformats.org/officeDocument/2006/relationships/tags" Target="../tags/tag559.xml"/><Relationship Id="rId41" Type="http://schemas.openxmlformats.org/officeDocument/2006/relationships/tags" Target="../tags/tag558.xml"/><Relationship Id="rId40" Type="http://schemas.openxmlformats.org/officeDocument/2006/relationships/tags" Target="../tags/tag557.xml"/><Relationship Id="rId4" Type="http://schemas.openxmlformats.org/officeDocument/2006/relationships/tags" Target="../tags/tag521.xml"/><Relationship Id="rId39" Type="http://schemas.openxmlformats.org/officeDocument/2006/relationships/tags" Target="../tags/tag556.xml"/><Relationship Id="rId38" Type="http://schemas.openxmlformats.org/officeDocument/2006/relationships/tags" Target="../tags/tag555.xml"/><Relationship Id="rId37" Type="http://schemas.openxmlformats.org/officeDocument/2006/relationships/tags" Target="../tags/tag554.xml"/><Relationship Id="rId36" Type="http://schemas.openxmlformats.org/officeDocument/2006/relationships/tags" Target="../tags/tag553.xml"/><Relationship Id="rId35" Type="http://schemas.openxmlformats.org/officeDocument/2006/relationships/tags" Target="../tags/tag552.xml"/><Relationship Id="rId34" Type="http://schemas.openxmlformats.org/officeDocument/2006/relationships/tags" Target="../tags/tag551.xml"/><Relationship Id="rId33" Type="http://schemas.openxmlformats.org/officeDocument/2006/relationships/tags" Target="../tags/tag550.xml"/><Relationship Id="rId32" Type="http://schemas.openxmlformats.org/officeDocument/2006/relationships/tags" Target="../tags/tag549.xml"/><Relationship Id="rId31" Type="http://schemas.openxmlformats.org/officeDocument/2006/relationships/tags" Target="../tags/tag548.xml"/><Relationship Id="rId30" Type="http://schemas.openxmlformats.org/officeDocument/2006/relationships/tags" Target="../tags/tag547.xml"/><Relationship Id="rId3" Type="http://schemas.openxmlformats.org/officeDocument/2006/relationships/tags" Target="../tags/tag520.xml"/><Relationship Id="rId29" Type="http://schemas.openxmlformats.org/officeDocument/2006/relationships/tags" Target="../tags/tag546.xml"/><Relationship Id="rId28" Type="http://schemas.openxmlformats.org/officeDocument/2006/relationships/tags" Target="../tags/tag545.xml"/><Relationship Id="rId27" Type="http://schemas.openxmlformats.org/officeDocument/2006/relationships/tags" Target="../tags/tag544.xml"/><Relationship Id="rId26" Type="http://schemas.openxmlformats.org/officeDocument/2006/relationships/tags" Target="../tags/tag543.xml"/><Relationship Id="rId25" Type="http://schemas.openxmlformats.org/officeDocument/2006/relationships/tags" Target="../tags/tag542.xml"/><Relationship Id="rId24" Type="http://schemas.openxmlformats.org/officeDocument/2006/relationships/tags" Target="../tags/tag541.xml"/><Relationship Id="rId23" Type="http://schemas.openxmlformats.org/officeDocument/2006/relationships/tags" Target="../tags/tag540.xml"/><Relationship Id="rId22" Type="http://schemas.openxmlformats.org/officeDocument/2006/relationships/tags" Target="../tags/tag539.xml"/><Relationship Id="rId21" Type="http://schemas.openxmlformats.org/officeDocument/2006/relationships/tags" Target="../tags/tag538.xml"/><Relationship Id="rId20" Type="http://schemas.openxmlformats.org/officeDocument/2006/relationships/tags" Target="../tags/tag537.xml"/><Relationship Id="rId2" Type="http://schemas.openxmlformats.org/officeDocument/2006/relationships/tags" Target="../tags/tag519.xml"/><Relationship Id="rId19" Type="http://schemas.openxmlformats.org/officeDocument/2006/relationships/tags" Target="../tags/tag536.xml"/><Relationship Id="rId18" Type="http://schemas.openxmlformats.org/officeDocument/2006/relationships/tags" Target="../tags/tag535.xml"/><Relationship Id="rId17" Type="http://schemas.openxmlformats.org/officeDocument/2006/relationships/tags" Target="../tags/tag534.xml"/><Relationship Id="rId16" Type="http://schemas.openxmlformats.org/officeDocument/2006/relationships/tags" Target="../tags/tag533.xml"/><Relationship Id="rId15" Type="http://schemas.openxmlformats.org/officeDocument/2006/relationships/tags" Target="../tags/tag532.xml"/><Relationship Id="rId14" Type="http://schemas.openxmlformats.org/officeDocument/2006/relationships/tags" Target="../tags/tag531.xml"/><Relationship Id="rId13" Type="http://schemas.openxmlformats.org/officeDocument/2006/relationships/tags" Target="../tags/tag530.xml"/><Relationship Id="rId12" Type="http://schemas.openxmlformats.org/officeDocument/2006/relationships/tags" Target="../tags/tag529.xml"/><Relationship Id="rId11" Type="http://schemas.openxmlformats.org/officeDocument/2006/relationships/tags" Target="../tags/tag528.xml"/><Relationship Id="rId10" Type="http://schemas.openxmlformats.org/officeDocument/2006/relationships/tags" Target="../tags/tag527.xml"/><Relationship Id="rId1" Type="http://schemas.openxmlformats.org/officeDocument/2006/relationships/tags" Target="../tags/tag518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608.xml"/><Relationship Id="rId8" Type="http://schemas.openxmlformats.org/officeDocument/2006/relationships/tags" Target="../tags/tag607.xml"/><Relationship Id="rId7" Type="http://schemas.openxmlformats.org/officeDocument/2006/relationships/tags" Target="../tags/tag606.xml"/><Relationship Id="rId6" Type="http://schemas.openxmlformats.org/officeDocument/2006/relationships/tags" Target="../tags/tag605.xml"/><Relationship Id="rId5" Type="http://schemas.openxmlformats.org/officeDocument/2006/relationships/tags" Target="../tags/tag604.xml"/><Relationship Id="rId4" Type="http://schemas.openxmlformats.org/officeDocument/2006/relationships/tags" Target="../tags/tag603.xml"/><Relationship Id="rId3" Type="http://schemas.openxmlformats.org/officeDocument/2006/relationships/tags" Target="../tags/tag602.xml"/><Relationship Id="rId2" Type="http://schemas.openxmlformats.org/officeDocument/2006/relationships/tags" Target="../tags/tag601.xml"/><Relationship Id="rId16" Type="http://schemas.openxmlformats.org/officeDocument/2006/relationships/notesSlide" Target="../notesSlides/notesSlide6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613.xml"/><Relationship Id="rId13" Type="http://schemas.openxmlformats.org/officeDocument/2006/relationships/tags" Target="../tags/tag612.xml"/><Relationship Id="rId12" Type="http://schemas.openxmlformats.org/officeDocument/2006/relationships/tags" Target="../tags/tag611.xml"/><Relationship Id="rId11" Type="http://schemas.openxmlformats.org/officeDocument/2006/relationships/tags" Target="../tags/tag610.xml"/><Relationship Id="rId10" Type="http://schemas.openxmlformats.org/officeDocument/2006/relationships/tags" Target="../tags/tag609.xml"/><Relationship Id="rId1" Type="http://schemas.openxmlformats.org/officeDocument/2006/relationships/tags" Target="../tags/tag600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622.xml"/><Relationship Id="rId8" Type="http://schemas.openxmlformats.org/officeDocument/2006/relationships/tags" Target="../tags/tag621.xml"/><Relationship Id="rId7" Type="http://schemas.openxmlformats.org/officeDocument/2006/relationships/tags" Target="../tags/tag620.xml"/><Relationship Id="rId6" Type="http://schemas.openxmlformats.org/officeDocument/2006/relationships/tags" Target="../tags/tag619.xml"/><Relationship Id="rId5" Type="http://schemas.openxmlformats.org/officeDocument/2006/relationships/tags" Target="../tags/tag618.xml"/><Relationship Id="rId4" Type="http://schemas.openxmlformats.org/officeDocument/2006/relationships/tags" Target="../tags/tag617.xml"/><Relationship Id="rId3" Type="http://schemas.openxmlformats.org/officeDocument/2006/relationships/tags" Target="../tags/tag616.xml"/><Relationship Id="rId2" Type="http://schemas.openxmlformats.org/officeDocument/2006/relationships/tags" Target="../tags/tag615.xml"/><Relationship Id="rId17" Type="http://schemas.openxmlformats.org/officeDocument/2006/relationships/notesSlide" Target="../notesSlides/notesSlide7.xml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628.xml"/><Relationship Id="rId14" Type="http://schemas.openxmlformats.org/officeDocument/2006/relationships/tags" Target="../tags/tag627.xml"/><Relationship Id="rId13" Type="http://schemas.openxmlformats.org/officeDocument/2006/relationships/tags" Target="../tags/tag626.xml"/><Relationship Id="rId12" Type="http://schemas.openxmlformats.org/officeDocument/2006/relationships/tags" Target="../tags/tag625.xml"/><Relationship Id="rId11" Type="http://schemas.openxmlformats.org/officeDocument/2006/relationships/tags" Target="../tags/tag624.xml"/><Relationship Id="rId10" Type="http://schemas.openxmlformats.org/officeDocument/2006/relationships/tags" Target="../tags/tag623.xml"/><Relationship Id="rId1" Type="http://schemas.openxmlformats.org/officeDocument/2006/relationships/tags" Target="../tags/tag6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组合 69"/>
          <p:cNvGrpSpPr/>
          <p:nvPr/>
        </p:nvGrpSpPr>
        <p:grpSpPr>
          <a:xfrm>
            <a:off x="226695" y="210185"/>
            <a:ext cx="6247130" cy="4871085"/>
            <a:chOff x="4255" y="1711"/>
            <a:chExt cx="5799" cy="4270"/>
          </a:xfrm>
        </p:grpSpPr>
        <p:sp>
          <p:nvSpPr>
            <p:cNvPr id="354" name="矩形 353"/>
            <p:cNvSpPr/>
            <p:nvPr/>
          </p:nvSpPr>
          <p:spPr>
            <a:xfrm>
              <a:off x="4255" y="1729"/>
              <a:ext cx="5797" cy="4252"/>
            </a:xfrm>
            <a:prstGeom prst="rect">
              <a:avLst/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16"/>
            <p:cNvSpPr txBox="1"/>
            <p:nvPr>
              <p:custDataLst>
                <p:tags r:id="rId1"/>
              </p:custDataLst>
            </p:nvPr>
          </p:nvSpPr>
          <p:spPr>
            <a:xfrm>
              <a:off x="4257" y="1711"/>
              <a:ext cx="5796" cy="164"/>
            </a:xfrm>
            <a:prstGeom prst="rect">
              <a:avLst/>
            </a:prstGeom>
            <a:noFill/>
            <a:effectLst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>
                <a:defRPr sz="2400">
                  <a:latin typeface="汉仪菱心体简" panose="02010400000101010101" charset="-122"/>
                  <a:ea typeface="汉仪菱心体简" panose="02010400000101010101" charset="-122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buClrTx/>
                <a:buSzTx/>
                <a:buFontTx/>
              </a:pPr>
              <a:r>
                <a:rPr lang="zh-CN" sz="1000" b="1" dirty="0">
                  <a:solidFill>
                    <a:srgbClr val="2A59DF"/>
                  </a:solidFill>
                  <a:latin typeface="微软雅黑" panose="020B0503020204020204" charset="-122"/>
                  <a:ea typeface="微软雅黑" panose="020B0503020204020204" charset="-122"/>
                  <a:sym typeface="HarmonyOS Sans SC Bold" panose="00000800000000000000" pitchFamily="2" charset="-122"/>
                </a:rPr>
                <a:t>贷前</a:t>
              </a:r>
              <a:endParaRPr lang="zh-CN" sz="1000" b="1" dirty="0">
                <a:solidFill>
                  <a:srgbClr val="2A59DF"/>
                </a:solidFill>
                <a:latin typeface="微软雅黑" panose="020B0503020204020204" charset="-122"/>
                <a:ea typeface="微软雅黑" panose="020B0503020204020204" charset="-122"/>
                <a:sym typeface="HarmonyOS Sans SC Bold" panose="00000800000000000000" pitchFamily="2" charset="-122"/>
              </a:endParaRPr>
            </a:p>
          </p:txBody>
        </p:sp>
        <p:cxnSp>
          <p:nvCxnSpPr>
            <p:cNvPr id="194" name="直接连接符 256"/>
            <p:cNvCxnSpPr/>
            <p:nvPr>
              <p:custDataLst>
                <p:tags r:id="rId2"/>
              </p:custDataLst>
            </p:nvPr>
          </p:nvCxnSpPr>
          <p:spPr>
            <a:xfrm>
              <a:off x="4257" y="1712"/>
              <a:ext cx="5797" cy="0"/>
            </a:xfrm>
            <a:prstGeom prst="line">
              <a:avLst/>
            </a:prstGeom>
            <a:ln w="31750">
              <a:solidFill>
                <a:srgbClr val="1E54E3"/>
              </a:solidFill>
            </a:ln>
            <a:effectLst/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71" name="圆角矩形 70"/>
          <p:cNvSpPr/>
          <p:nvPr>
            <p:custDataLst>
              <p:tags r:id="rId3"/>
            </p:custDataLst>
          </p:nvPr>
        </p:nvSpPr>
        <p:spPr>
          <a:xfrm>
            <a:off x="385445" y="494665"/>
            <a:ext cx="5883275" cy="629920"/>
          </a:xfrm>
          <a:prstGeom prst="roundRect">
            <a:avLst>
              <a:gd name="adj" fmla="val 2948"/>
            </a:avLst>
          </a:prstGeom>
          <a:solidFill>
            <a:schemeClr val="bg1"/>
          </a:solidFill>
          <a:ln w="12700">
            <a:solidFill>
              <a:schemeClr val="accent1">
                <a:alpha val="61000"/>
              </a:schemeClr>
            </a:solidFill>
            <a:prstDash val="sysDash"/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p>
            <a:pPr lvl="0" algn="ctr">
              <a:lnSpc>
                <a:spcPct val="80000"/>
              </a:lnSpc>
              <a:buClrTx/>
              <a:buSzTx/>
              <a:buFontTx/>
            </a:pPr>
            <a:endParaRPr lang="zh-CN" altLang="en-US" sz="800" b="1">
              <a:solidFill>
                <a:schemeClr val="tx1">
                  <a:lumMod val="95000"/>
                  <a:lumOff val="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23" name="图片 122" descr="HTML5_Logo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5675" y="584835"/>
            <a:ext cx="443865" cy="443865"/>
          </a:xfrm>
          <a:prstGeom prst="rect">
            <a:avLst/>
          </a:prstGeom>
        </p:spPr>
      </p:pic>
      <p:pic>
        <p:nvPicPr>
          <p:cNvPr id="124" name="图片 123" descr="API请求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22791" t="16810" r="21711" b="13480"/>
          <a:stretch>
            <a:fillRect/>
          </a:stretch>
        </p:blipFill>
        <p:spPr>
          <a:xfrm>
            <a:off x="1935480" y="593090"/>
            <a:ext cx="535305" cy="427355"/>
          </a:xfrm>
          <a:prstGeom prst="rect">
            <a:avLst/>
          </a:prstGeom>
        </p:spPr>
      </p:pic>
      <p:sp>
        <p:nvSpPr>
          <p:cNvPr id="164" name="圆角矩形 163"/>
          <p:cNvSpPr/>
          <p:nvPr>
            <p:custDataLst>
              <p:tags r:id="rId8"/>
            </p:custDataLst>
          </p:nvPr>
        </p:nvSpPr>
        <p:spPr>
          <a:xfrm>
            <a:off x="385445" y="1322705"/>
            <a:ext cx="5883275" cy="3571240"/>
          </a:xfrm>
          <a:prstGeom prst="roundRect">
            <a:avLst>
              <a:gd name="adj" fmla="val 2948"/>
            </a:avLst>
          </a:prstGeom>
          <a:solidFill>
            <a:schemeClr val="bg1"/>
          </a:solidFill>
          <a:ln w="12700">
            <a:solidFill>
              <a:schemeClr val="accent1">
                <a:alpha val="61000"/>
              </a:schemeClr>
            </a:solidFill>
            <a:prstDash val="sysDash"/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p>
            <a:pPr lvl="0" algn="ctr">
              <a:lnSpc>
                <a:spcPct val="80000"/>
              </a:lnSpc>
              <a:buClrTx/>
              <a:buSzTx/>
              <a:buFontTx/>
            </a:pPr>
            <a:endParaRPr lang="zh-CN" altLang="en-US" sz="800" b="1">
              <a:solidFill>
                <a:schemeClr val="tx1">
                  <a:lumMod val="95000"/>
                  <a:lumOff val="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200" name="组合 199"/>
          <p:cNvGrpSpPr/>
          <p:nvPr/>
        </p:nvGrpSpPr>
        <p:grpSpPr>
          <a:xfrm>
            <a:off x="549275" y="2351405"/>
            <a:ext cx="1738630" cy="2388870"/>
            <a:chOff x="966" y="5073"/>
            <a:chExt cx="2306" cy="3762"/>
          </a:xfrm>
        </p:grpSpPr>
        <p:sp>
          <p:nvSpPr>
            <p:cNvPr id="180" name="圆角矩形 179"/>
            <p:cNvSpPr/>
            <p:nvPr>
              <p:custDataLst>
                <p:tags r:id="rId9"/>
              </p:custDataLst>
            </p:nvPr>
          </p:nvSpPr>
          <p:spPr>
            <a:xfrm>
              <a:off x="970" y="5083"/>
              <a:ext cx="2303" cy="3753"/>
            </a:xfrm>
            <a:prstGeom prst="roundRect">
              <a:avLst>
                <a:gd name="adj" fmla="val 5430"/>
              </a:avLst>
            </a:prstGeom>
            <a:solidFill>
              <a:schemeClr val="accent1">
                <a:alpha val="10000"/>
              </a:schemeClr>
            </a:solidFill>
            <a:ln w="12700">
              <a:solidFill>
                <a:schemeClr val="accent1">
                  <a:alpha val="61000"/>
                </a:schemeClr>
              </a:solidFill>
              <a:prstDash val="sysDash"/>
            </a:ln>
          </p:spPr>
          <p:style>
            <a:lnRef idx="0">
              <a:srgbClr val="FFFFFF"/>
            </a:lnRef>
            <a:fillRef idx="3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p>
              <a:pPr lvl="0" algn="ctr">
                <a:lnSpc>
                  <a:spcPct val="80000"/>
                </a:lnSpc>
                <a:buClrTx/>
                <a:buSzTx/>
                <a:buFontTx/>
              </a:pPr>
              <a:endParaRPr lang="zh-CN" altLang="en-US" sz="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81" name="同侧圆角矩形 180"/>
            <p:cNvSpPr/>
            <p:nvPr/>
          </p:nvSpPr>
          <p:spPr>
            <a:xfrm>
              <a:off x="966" y="5073"/>
              <a:ext cx="2305" cy="312"/>
            </a:xfrm>
            <a:prstGeom prst="round2SameRect">
              <a:avLst>
                <a:gd name="adj1" fmla="val 28823"/>
                <a:gd name="adj2" fmla="val 0"/>
              </a:avLst>
            </a:prstGeom>
            <a:gradFill>
              <a:gsLst>
                <a:gs pos="0">
                  <a:srgbClr val="2957DE"/>
                </a:gs>
                <a:gs pos="100000">
                  <a:srgbClr val="598BF6"/>
                </a:gs>
              </a:gsLst>
              <a:lin ang="4500000" scaled="0"/>
            </a:gradFill>
            <a:ln w="60325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流量输出系统</a:t>
              </a:r>
              <a:endPara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202" name="组合 201"/>
          <p:cNvGrpSpPr/>
          <p:nvPr/>
        </p:nvGrpSpPr>
        <p:grpSpPr>
          <a:xfrm>
            <a:off x="2437130" y="2345055"/>
            <a:ext cx="1738630" cy="2388870"/>
            <a:chOff x="3462" y="5073"/>
            <a:chExt cx="2306" cy="3762"/>
          </a:xfrm>
        </p:grpSpPr>
        <p:sp>
          <p:nvSpPr>
            <p:cNvPr id="185" name="圆角矩形 184"/>
            <p:cNvSpPr/>
            <p:nvPr>
              <p:custDataLst>
                <p:tags r:id="rId10"/>
              </p:custDataLst>
            </p:nvPr>
          </p:nvSpPr>
          <p:spPr>
            <a:xfrm>
              <a:off x="3466" y="5083"/>
              <a:ext cx="2303" cy="3753"/>
            </a:xfrm>
            <a:prstGeom prst="roundRect">
              <a:avLst>
                <a:gd name="adj" fmla="val 5430"/>
              </a:avLst>
            </a:prstGeom>
            <a:solidFill>
              <a:schemeClr val="accent1">
                <a:alpha val="10000"/>
              </a:schemeClr>
            </a:solidFill>
            <a:ln w="12700">
              <a:solidFill>
                <a:schemeClr val="accent1">
                  <a:alpha val="61000"/>
                </a:schemeClr>
              </a:solidFill>
              <a:prstDash val="sysDash"/>
            </a:ln>
          </p:spPr>
          <p:style>
            <a:lnRef idx="0">
              <a:srgbClr val="FFFFFF"/>
            </a:lnRef>
            <a:fillRef idx="3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p>
              <a:pPr lvl="0" algn="ctr">
                <a:lnSpc>
                  <a:spcPct val="80000"/>
                </a:lnSpc>
                <a:buClrTx/>
                <a:buSzTx/>
                <a:buFontTx/>
              </a:pPr>
              <a:endParaRPr lang="zh-CN" altLang="en-US" sz="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87" name="同侧圆角矩形 186"/>
            <p:cNvSpPr/>
            <p:nvPr/>
          </p:nvSpPr>
          <p:spPr>
            <a:xfrm>
              <a:off x="3462" y="5073"/>
              <a:ext cx="2305" cy="312"/>
            </a:xfrm>
            <a:prstGeom prst="round2SameRect">
              <a:avLst>
                <a:gd name="adj1" fmla="val 28823"/>
                <a:gd name="adj2" fmla="val 0"/>
              </a:avLst>
            </a:prstGeom>
            <a:gradFill>
              <a:gsLst>
                <a:gs pos="0">
                  <a:srgbClr val="2957DE"/>
                </a:gs>
                <a:gs pos="100000">
                  <a:srgbClr val="598BF6"/>
                </a:gs>
              </a:gsLst>
              <a:lin ang="4500000" scaled="0"/>
            </a:gradFill>
            <a:ln w="60325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资金撮合系统</a:t>
              </a:r>
              <a:endPara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203" name="组合 202"/>
          <p:cNvGrpSpPr/>
          <p:nvPr/>
        </p:nvGrpSpPr>
        <p:grpSpPr>
          <a:xfrm>
            <a:off x="4324985" y="2345055"/>
            <a:ext cx="1738630" cy="2388870"/>
            <a:chOff x="6350" y="5073"/>
            <a:chExt cx="2306" cy="3762"/>
          </a:xfrm>
        </p:grpSpPr>
        <p:sp>
          <p:nvSpPr>
            <p:cNvPr id="193" name="圆角矩形 192"/>
            <p:cNvSpPr/>
            <p:nvPr>
              <p:custDataLst>
                <p:tags r:id="rId11"/>
              </p:custDataLst>
            </p:nvPr>
          </p:nvSpPr>
          <p:spPr>
            <a:xfrm>
              <a:off x="6354" y="5083"/>
              <a:ext cx="2303" cy="3753"/>
            </a:xfrm>
            <a:prstGeom prst="roundRect">
              <a:avLst>
                <a:gd name="adj" fmla="val 5430"/>
              </a:avLst>
            </a:prstGeom>
            <a:solidFill>
              <a:schemeClr val="accent1">
                <a:alpha val="10000"/>
              </a:schemeClr>
            </a:solidFill>
            <a:ln w="12700">
              <a:solidFill>
                <a:schemeClr val="accent1">
                  <a:alpha val="61000"/>
                </a:schemeClr>
              </a:solidFill>
              <a:prstDash val="sysDash"/>
            </a:ln>
          </p:spPr>
          <p:style>
            <a:lnRef idx="0">
              <a:srgbClr val="FFFFFF"/>
            </a:lnRef>
            <a:fillRef idx="3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p>
              <a:pPr lvl="0" algn="ctr">
                <a:lnSpc>
                  <a:spcPct val="80000"/>
                </a:lnSpc>
                <a:buClrTx/>
                <a:buSzTx/>
                <a:buFontTx/>
              </a:pPr>
              <a:endParaRPr lang="zh-CN" altLang="en-US" sz="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98" name="同侧圆角矩形 197"/>
            <p:cNvSpPr/>
            <p:nvPr/>
          </p:nvSpPr>
          <p:spPr>
            <a:xfrm>
              <a:off x="6350" y="5073"/>
              <a:ext cx="2305" cy="312"/>
            </a:xfrm>
            <a:prstGeom prst="round2SameRect">
              <a:avLst>
                <a:gd name="adj1" fmla="val 28823"/>
                <a:gd name="adj2" fmla="val 0"/>
              </a:avLst>
            </a:prstGeom>
            <a:gradFill>
              <a:gsLst>
                <a:gs pos="0">
                  <a:srgbClr val="2957DE"/>
                </a:gs>
                <a:gs pos="100000">
                  <a:srgbClr val="598BF6"/>
                </a:gs>
              </a:gsLst>
              <a:lin ang="4500000" scaled="0"/>
            </a:gradFill>
            <a:ln w="60325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融担增信系统</a:t>
              </a:r>
              <a:endPara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 rot="0">
            <a:off x="6581775" y="187960"/>
            <a:ext cx="4026535" cy="4893945"/>
            <a:chOff x="10225" y="1676"/>
            <a:chExt cx="7392" cy="8890"/>
          </a:xfrm>
        </p:grpSpPr>
        <p:grpSp>
          <p:nvGrpSpPr>
            <p:cNvPr id="23" name="组合 22"/>
            <p:cNvGrpSpPr/>
            <p:nvPr/>
          </p:nvGrpSpPr>
          <p:grpSpPr>
            <a:xfrm>
              <a:off x="10225" y="1676"/>
              <a:ext cx="7393" cy="8890"/>
              <a:chOff x="10225" y="1676"/>
              <a:chExt cx="1928" cy="8890"/>
            </a:xfrm>
          </p:grpSpPr>
          <p:sp>
            <p:nvSpPr>
              <p:cNvPr id="316" name="圆角矩形 315"/>
              <p:cNvSpPr/>
              <p:nvPr>
                <p:custDataLst>
                  <p:tags r:id="rId12"/>
                </p:custDataLst>
              </p:nvPr>
            </p:nvSpPr>
            <p:spPr>
              <a:xfrm>
                <a:off x="10225" y="1676"/>
                <a:ext cx="1928" cy="8891"/>
              </a:xfrm>
              <a:prstGeom prst="roundRect">
                <a:avLst>
                  <a:gd name="adj" fmla="val 62"/>
                </a:avLst>
              </a:prstGeom>
              <a:solidFill>
                <a:schemeClr val="accent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cxnSp>
            <p:nvCxnSpPr>
              <p:cNvPr id="10" name="直接连接符 314"/>
              <p:cNvCxnSpPr/>
              <p:nvPr>
                <p:custDataLst>
                  <p:tags r:id="rId13"/>
                </p:custDataLst>
              </p:nvPr>
            </p:nvCxnSpPr>
            <p:spPr>
              <a:xfrm flipV="1">
                <a:off x="10225" y="1690"/>
                <a:ext cx="1928" cy="7"/>
              </a:xfrm>
              <a:prstGeom prst="line">
                <a:avLst/>
              </a:prstGeom>
              <a:ln w="31750">
                <a:solidFill>
                  <a:srgbClr val="FA9401"/>
                </a:solidFill>
              </a:ln>
              <a:effectLst/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156" name="文本框 16"/>
            <p:cNvSpPr txBox="1"/>
            <p:nvPr>
              <p:custDataLst>
                <p:tags r:id="rId14"/>
              </p:custDataLst>
            </p:nvPr>
          </p:nvSpPr>
          <p:spPr>
            <a:xfrm>
              <a:off x="10233" y="1711"/>
              <a:ext cx="7385" cy="340"/>
            </a:xfrm>
            <a:prstGeom prst="rect">
              <a:avLst/>
            </a:prstGeom>
            <a:noFill/>
            <a:effectLst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>
                <a:defRPr sz="2400">
                  <a:latin typeface="汉仪菱心体简" panose="02010400000101010101" charset="-122"/>
                  <a:ea typeface="汉仪菱心体简" panose="02010400000101010101" charset="-122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buClrTx/>
                <a:buSzTx/>
                <a:buFontTx/>
              </a:pPr>
              <a:r>
                <a:rPr lang="zh-CN" altLang="en-US" sz="1000" b="1">
                  <a:solidFill>
                    <a:srgbClr val="2A59DF"/>
                  </a:solidFill>
                  <a:latin typeface="微软雅黑" panose="020B0503020204020204" charset="-122"/>
                  <a:ea typeface="微软雅黑" panose="020B0503020204020204" charset="-122"/>
                  <a:sym typeface="HarmonyOS Sans SC Bold" panose="00000800000000000000" pitchFamily="2" charset="-122"/>
                </a:rPr>
                <a:t>贷后</a:t>
              </a:r>
              <a:endParaRPr lang="zh-CN" altLang="en-US" sz="1000" b="1">
                <a:solidFill>
                  <a:srgbClr val="2A59DF"/>
                </a:solidFill>
                <a:latin typeface="微软雅黑" panose="020B0503020204020204" charset="-122"/>
                <a:ea typeface="微软雅黑" panose="020B0503020204020204" charset="-122"/>
                <a:sym typeface="HarmonyOS Sans SC Bold" panose="00000800000000000000" pitchFamily="2" charset="-122"/>
              </a:endParaRPr>
            </a:p>
          </p:txBody>
        </p:sp>
      </p:grpSp>
      <p:sp>
        <p:nvSpPr>
          <p:cNvPr id="204" name="圆角矩形 203"/>
          <p:cNvSpPr/>
          <p:nvPr>
            <p:custDataLst>
              <p:tags r:id="rId15"/>
            </p:custDataLst>
          </p:nvPr>
        </p:nvSpPr>
        <p:spPr>
          <a:xfrm>
            <a:off x="6728460" y="494665"/>
            <a:ext cx="1764030" cy="1191260"/>
          </a:xfrm>
          <a:prstGeom prst="roundRect">
            <a:avLst>
              <a:gd name="adj" fmla="val 2948"/>
            </a:avLst>
          </a:prstGeom>
          <a:solidFill>
            <a:schemeClr val="bg1"/>
          </a:solidFill>
          <a:ln w="12700">
            <a:solidFill>
              <a:schemeClr val="accent1">
                <a:alpha val="61000"/>
              </a:schemeClr>
            </a:solidFill>
            <a:prstDash val="sysDash"/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p>
            <a:pPr lvl="0" algn="ctr">
              <a:lnSpc>
                <a:spcPct val="80000"/>
              </a:lnSpc>
              <a:buClrTx/>
              <a:buSzTx/>
              <a:buFontTx/>
            </a:pPr>
            <a:endParaRPr lang="zh-CN" altLang="en-US" sz="800" b="1">
              <a:solidFill>
                <a:schemeClr val="tx1">
                  <a:lumMod val="95000"/>
                  <a:lumOff val="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5" name="圆角矩形 204"/>
          <p:cNvSpPr/>
          <p:nvPr>
            <p:custDataLst>
              <p:tags r:id="rId16"/>
            </p:custDataLst>
          </p:nvPr>
        </p:nvSpPr>
        <p:spPr>
          <a:xfrm>
            <a:off x="6732270" y="1882140"/>
            <a:ext cx="3753485" cy="3011805"/>
          </a:xfrm>
          <a:prstGeom prst="roundRect">
            <a:avLst>
              <a:gd name="adj" fmla="val 2948"/>
            </a:avLst>
          </a:prstGeom>
          <a:noFill/>
          <a:ln w="12700">
            <a:solidFill>
              <a:schemeClr val="accent1">
                <a:alpha val="61000"/>
              </a:schemeClr>
            </a:solidFill>
            <a:prstDash val="sysDash"/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p>
            <a:pPr lvl="0" algn="ctr">
              <a:lnSpc>
                <a:spcPct val="80000"/>
              </a:lnSpc>
              <a:buClrTx/>
              <a:buSzTx/>
              <a:buFontTx/>
            </a:pPr>
            <a:endParaRPr lang="zh-CN" altLang="en-US" sz="800" b="1">
              <a:solidFill>
                <a:schemeClr val="tx1">
                  <a:lumMod val="95000"/>
                  <a:lumOff val="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8" name="圆角矩形 207"/>
          <p:cNvSpPr/>
          <p:nvPr>
            <p:custDataLst>
              <p:tags r:id="rId17"/>
            </p:custDataLst>
          </p:nvPr>
        </p:nvSpPr>
        <p:spPr>
          <a:xfrm>
            <a:off x="10785475" y="187960"/>
            <a:ext cx="1224280" cy="5645785"/>
          </a:xfrm>
          <a:prstGeom prst="roundRect">
            <a:avLst>
              <a:gd name="adj" fmla="val 62"/>
            </a:avLst>
          </a:prstGeom>
          <a:solidFill>
            <a:schemeClr val="accent2">
              <a:alpha val="1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209" name="直接连接符 314"/>
          <p:cNvCxnSpPr/>
          <p:nvPr>
            <p:custDataLst>
              <p:tags r:id="rId18"/>
            </p:custDataLst>
          </p:nvPr>
        </p:nvCxnSpPr>
        <p:spPr>
          <a:xfrm flipV="1">
            <a:off x="10785475" y="196850"/>
            <a:ext cx="1224280" cy="4445"/>
          </a:xfrm>
          <a:prstGeom prst="line">
            <a:avLst/>
          </a:prstGeom>
          <a:ln w="31750">
            <a:solidFill>
              <a:srgbClr val="FA9401"/>
            </a:solidFill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3" name="圆角矩形 222"/>
          <p:cNvSpPr/>
          <p:nvPr>
            <p:custDataLst>
              <p:tags r:id="rId19"/>
            </p:custDataLst>
          </p:nvPr>
        </p:nvSpPr>
        <p:spPr>
          <a:xfrm>
            <a:off x="10863580" y="477520"/>
            <a:ext cx="568960" cy="3168015"/>
          </a:xfrm>
          <a:prstGeom prst="roundRect">
            <a:avLst>
              <a:gd name="adj" fmla="val 5189"/>
            </a:avLst>
          </a:prstGeom>
          <a:solidFill>
            <a:schemeClr val="bg1"/>
          </a:solidFill>
          <a:ln w="12700" cap="flat" cmpd="sng">
            <a:noFill/>
            <a:prstDash val="solid"/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lstStyle/>
          <a:p>
            <a:pPr lvl="0" algn="ctr">
              <a:lnSpc>
                <a:spcPct val="160000"/>
              </a:lnSpc>
              <a:buClrTx/>
              <a:buSzTx/>
              <a:buFontTx/>
            </a:pPr>
            <a:endParaRPr lang="zh-CN" altLang="en-US" sz="800" b="1">
              <a:solidFill>
                <a:schemeClr val="tx1">
                  <a:lumMod val="95000"/>
                  <a:lumOff val="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24" name="圆角矩形 223"/>
          <p:cNvSpPr/>
          <p:nvPr>
            <p:custDataLst>
              <p:tags r:id="rId20"/>
            </p:custDataLst>
          </p:nvPr>
        </p:nvSpPr>
        <p:spPr>
          <a:xfrm>
            <a:off x="10930255" y="741680"/>
            <a:ext cx="434975" cy="252095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7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机构管理</a:t>
            </a:r>
            <a:endParaRPr lang="zh-CN" altLang="en-US" sz="70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25" name="圆角矩形 224"/>
          <p:cNvSpPr/>
          <p:nvPr>
            <p:custDataLst>
              <p:tags r:id="rId21"/>
            </p:custDataLst>
          </p:nvPr>
        </p:nvSpPr>
        <p:spPr>
          <a:xfrm>
            <a:off x="10930255" y="1029335"/>
            <a:ext cx="434975" cy="252095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7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用例管理</a:t>
            </a:r>
            <a:endParaRPr lang="zh-CN" altLang="en-US" sz="70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26" name="圆角矩形 225"/>
          <p:cNvSpPr/>
          <p:nvPr>
            <p:custDataLst>
              <p:tags r:id="rId22"/>
            </p:custDataLst>
          </p:nvPr>
        </p:nvSpPr>
        <p:spPr>
          <a:xfrm>
            <a:off x="10930255" y="1308100"/>
            <a:ext cx="434975" cy="252095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7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场景管理</a:t>
            </a:r>
            <a:endParaRPr lang="zh-CN" altLang="en-US" sz="70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27" name="圆角矩形 226"/>
          <p:cNvSpPr/>
          <p:nvPr>
            <p:custDataLst>
              <p:tags r:id="rId23"/>
            </p:custDataLst>
          </p:nvPr>
        </p:nvSpPr>
        <p:spPr>
          <a:xfrm>
            <a:off x="10930255" y="1597660"/>
            <a:ext cx="434975" cy="252095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7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模板管理</a:t>
            </a:r>
            <a:endParaRPr lang="zh-CN" altLang="en-US" sz="70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28" name="圆角矩形 227"/>
          <p:cNvSpPr/>
          <p:nvPr>
            <p:custDataLst>
              <p:tags r:id="rId24"/>
            </p:custDataLst>
          </p:nvPr>
        </p:nvSpPr>
        <p:spPr>
          <a:xfrm>
            <a:off x="10930255" y="1882775"/>
            <a:ext cx="434975" cy="252095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7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断言设计</a:t>
            </a:r>
            <a:endParaRPr lang="zh-CN" altLang="en-US" sz="70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29" name="圆角矩形 228"/>
          <p:cNvSpPr/>
          <p:nvPr>
            <p:custDataLst>
              <p:tags r:id="rId25"/>
            </p:custDataLst>
          </p:nvPr>
        </p:nvSpPr>
        <p:spPr>
          <a:xfrm>
            <a:off x="10930255" y="2167890"/>
            <a:ext cx="434975" cy="252095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7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自助联调</a:t>
            </a:r>
            <a:endParaRPr lang="zh-CN" altLang="en-US" sz="70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30" name="圆角矩形 229"/>
          <p:cNvSpPr/>
          <p:nvPr>
            <p:custDataLst>
              <p:tags r:id="rId26"/>
            </p:custDataLst>
          </p:nvPr>
        </p:nvSpPr>
        <p:spPr>
          <a:xfrm>
            <a:off x="10930255" y="2445385"/>
            <a:ext cx="434975" cy="252095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7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联调报告</a:t>
            </a:r>
            <a:endParaRPr lang="zh-CN" altLang="en-US" sz="70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31" name="圆角矩形 230"/>
          <p:cNvSpPr/>
          <p:nvPr>
            <p:custDataLst>
              <p:tags r:id="rId27"/>
            </p:custDataLst>
          </p:nvPr>
        </p:nvSpPr>
        <p:spPr>
          <a:xfrm>
            <a:off x="10930255" y="2734945"/>
            <a:ext cx="434975" cy="252095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7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自助日切</a:t>
            </a:r>
            <a:endParaRPr lang="zh-CN" altLang="en-US" sz="70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32" name="圆角矩形 231"/>
          <p:cNvSpPr/>
          <p:nvPr>
            <p:custDataLst>
              <p:tags r:id="rId28"/>
            </p:custDataLst>
          </p:nvPr>
        </p:nvSpPr>
        <p:spPr>
          <a:xfrm>
            <a:off x="10930255" y="3018790"/>
            <a:ext cx="434975" cy="252095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7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自助核算</a:t>
            </a:r>
            <a:endParaRPr lang="zh-CN" altLang="en-US" sz="70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33" name="圆角矩形 232"/>
          <p:cNvSpPr/>
          <p:nvPr>
            <p:custDataLst>
              <p:tags r:id="rId29"/>
            </p:custDataLst>
          </p:nvPr>
        </p:nvSpPr>
        <p:spPr>
          <a:xfrm>
            <a:off x="10930255" y="3303905"/>
            <a:ext cx="434975" cy="252095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7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自助文件</a:t>
            </a:r>
            <a:endParaRPr lang="zh-CN" altLang="en-US" sz="70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34" name="右箭头 233"/>
          <p:cNvSpPr/>
          <p:nvPr>
            <p:custDataLst>
              <p:tags r:id="rId30"/>
            </p:custDataLst>
          </p:nvPr>
        </p:nvSpPr>
        <p:spPr>
          <a:xfrm>
            <a:off x="10608310" y="1985010"/>
            <a:ext cx="200660" cy="288290"/>
          </a:xfrm>
          <a:prstGeom prst="rightArrow">
            <a:avLst/>
          </a:prstGeom>
          <a:solidFill>
            <a:srgbClr val="F5B482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t" anchorCtr="0" forceAA="0" compatLnSpc="1">
            <a:noAutofit/>
          </a:bodyPr>
          <a:lstStyle/>
          <a:p>
            <a:pPr lvl="0" algn="ctr">
              <a:lnSpc>
                <a:spcPct val="150000"/>
              </a:lnSpc>
              <a:buClrTx/>
              <a:buSzTx/>
              <a:buFontTx/>
            </a:pPr>
            <a:endParaRPr lang="zh-CN" altLang="en-US" sz="1400" b="1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FAFAFA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35" name="圆角矩形 234"/>
          <p:cNvSpPr/>
          <p:nvPr>
            <p:custDataLst>
              <p:tags r:id="rId31"/>
            </p:custDataLst>
          </p:nvPr>
        </p:nvSpPr>
        <p:spPr>
          <a:xfrm>
            <a:off x="11477625" y="477520"/>
            <a:ext cx="467995" cy="5255895"/>
          </a:xfrm>
          <a:prstGeom prst="roundRect">
            <a:avLst>
              <a:gd name="adj" fmla="val 5189"/>
            </a:avLst>
          </a:prstGeom>
          <a:solidFill>
            <a:schemeClr val="bg1"/>
          </a:solidFill>
          <a:ln w="12700" cap="flat" cmpd="sng">
            <a:noFill/>
            <a:prstDash val="solid"/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lstStyle/>
          <a:p>
            <a:pPr lvl="0" algn="ctr">
              <a:lnSpc>
                <a:spcPct val="90000"/>
              </a:lnSpc>
              <a:buClrTx/>
              <a:buSzTx/>
              <a:buFontTx/>
            </a:pPr>
            <a:endParaRPr lang="zh-CN" altLang="en-US" sz="900" b="1">
              <a:solidFill>
                <a:schemeClr val="tx1">
                  <a:lumMod val="95000"/>
                  <a:lumOff val="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236" name="组合 235"/>
          <p:cNvGrpSpPr/>
          <p:nvPr/>
        </p:nvGrpSpPr>
        <p:grpSpPr>
          <a:xfrm>
            <a:off x="11469370" y="548005"/>
            <a:ext cx="504190" cy="457200"/>
            <a:chOff x="11289" y="2393"/>
            <a:chExt cx="794" cy="720"/>
          </a:xfrm>
        </p:grpSpPr>
        <p:sp>
          <p:nvSpPr>
            <p:cNvPr id="237" name="文本框 236"/>
            <p:cNvSpPr txBox="1"/>
            <p:nvPr/>
          </p:nvSpPr>
          <p:spPr>
            <a:xfrm>
              <a:off x="11289" y="2825"/>
              <a:ext cx="794" cy="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600"/>
                <a:t>兰州银行</a:t>
              </a:r>
              <a:endParaRPr lang="zh-CN" altLang="en-US" sz="600"/>
            </a:p>
          </p:txBody>
        </p:sp>
        <p:pic>
          <p:nvPicPr>
            <p:cNvPr id="238" name="图片 237" descr="201509211738519330nGz2c2x"/>
            <p:cNvPicPr>
              <a:picLocks noChangeAspect="1"/>
            </p:cNvPicPr>
            <p:nvPr/>
          </p:nvPicPr>
          <p:blipFill>
            <a:blip r:embed="rId32"/>
            <a:srcRect r="73184"/>
            <a:stretch>
              <a:fillRect/>
            </a:stretch>
          </p:blipFill>
          <p:spPr>
            <a:xfrm>
              <a:off x="11488" y="2393"/>
              <a:ext cx="397" cy="436"/>
            </a:xfrm>
            <a:prstGeom prst="rect">
              <a:avLst/>
            </a:prstGeom>
          </p:spPr>
        </p:pic>
      </p:grpSp>
      <p:grpSp>
        <p:nvGrpSpPr>
          <p:cNvPr id="239" name="组合 238"/>
          <p:cNvGrpSpPr/>
          <p:nvPr/>
        </p:nvGrpSpPr>
        <p:grpSpPr>
          <a:xfrm>
            <a:off x="11469370" y="1234440"/>
            <a:ext cx="504190" cy="450215"/>
            <a:chOff x="11314" y="3938"/>
            <a:chExt cx="794" cy="709"/>
          </a:xfrm>
        </p:grpSpPr>
        <p:sp>
          <p:nvSpPr>
            <p:cNvPr id="240" name="文本框 239"/>
            <p:cNvSpPr txBox="1"/>
            <p:nvPr/>
          </p:nvSpPr>
          <p:spPr>
            <a:xfrm>
              <a:off x="11314" y="4359"/>
              <a:ext cx="794" cy="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600"/>
                <a:t>昆仑银行</a:t>
              </a:r>
              <a:endParaRPr lang="zh-CN" altLang="en-US" sz="600"/>
            </a:p>
          </p:txBody>
        </p:sp>
        <p:pic>
          <p:nvPicPr>
            <p:cNvPr id="241" name="图片 240"/>
            <p:cNvPicPr>
              <a:picLocks noChangeAspect="1"/>
            </p:cNvPicPr>
            <p:nvPr>
              <p:custDataLst>
                <p:tags r:id="rId33"/>
              </p:custDataLst>
            </p:nvPr>
          </p:nvPicPr>
          <p:blipFill>
            <a:blip r:embed="rId34"/>
            <a:stretch>
              <a:fillRect/>
            </a:stretch>
          </p:blipFill>
          <p:spPr>
            <a:xfrm>
              <a:off x="11513" y="3938"/>
              <a:ext cx="397" cy="421"/>
            </a:xfrm>
            <a:prstGeom prst="rect">
              <a:avLst/>
            </a:prstGeom>
          </p:spPr>
        </p:pic>
      </p:grpSp>
      <p:grpSp>
        <p:nvGrpSpPr>
          <p:cNvPr id="242" name="组合 241"/>
          <p:cNvGrpSpPr/>
          <p:nvPr/>
        </p:nvGrpSpPr>
        <p:grpSpPr>
          <a:xfrm>
            <a:off x="11469370" y="1913890"/>
            <a:ext cx="504190" cy="456565"/>
            <a:chOff x="11314" y="5310"/>
            <a:chExt cx="794" cy="719"/>
          </a:xfrm>
        </p:grpSpPr>
        <p:sp>
          <p:nvSpPr>
            <p:cNvPr id="243" name="文本框 242"/>
            <p:cNvSpPr txBox="1"/>
            <p:nvPr/>
          </p:nvSpPr>
          <p:spPr>
            <a:xfrm>
              <a:off x="11314" y="5741"/>
              <a:ext cx="794" cy="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600"/>
                <a:t>宁波通商</a:t>
              </a:r>
              <a:endParaRPr lang="zh-CN" altLang="en-US" sz="600"/>
            </a:p>
          </p:txBody>
        </p:sp>
        <p:pic>
          <p:nvPicPr>
            <p:cNvPr id="244" name="图片 243"/>
            <p:cNvPicPr>
              <a:picLocks noChangeAspect="1"/>
            </p:cNvPicPr>
            <p:nvPr>
              <p:custDataLst>
                <p:tags r:id="rId35"/>
              </p:custDataLst>
            </p:nvPr>
          </p:nvPicPr>
          <p:blipFill>
            <a:blip r:embed="rId36"/>
            <a:stretch>
              <a:fillRect/>
            </a:stretch>
          </p:blipFill>
          <p:spPr>
            <a:xfrm>
              <a:off x="11513" y="5310"/>
              <a:ext cx="397" cy="425"/>
            </a:xfrm>
            <a:prstGeom prst="rect">
              <a:avLst/>
            </a:prstGeom>
          </p:spPr>
        </p:pic>
      </p:grpSp>
      <p:grpSp>
        <p:nvGrpSpPr>
          <p:cNvPr id="245" name="组合 244"/>
          <p:cNvGrpSpPr/>
          <p:nvPr/>
        </p:nvGrpSpPr>
        <p:grpSpPr>
          <a:xfrm>
            <a:off x="11469370" y="3279775"/>
            <a:ext cx="504190" cy="457835"/>
            <a:chOff x="11289" y="7924"/>
            <a:chExt cx="794" cy="721"/>
          </a:xfrm>
        </p:grpSpPr>
        <p:sp>
          <p:nvSpPr>
            <p:cNvPr id="246" name="文本框 245"/>
            <p:cNvSpPr txBox="1"/>
            <p:nvPr/>
          </p:nvSpPr>
          <p:spPr>
            <a:xfrm>
              <a:off x="11289" y="8357"/>
              <a:ext cx="794" cy="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600"/>
                <a:t>长江商业</a:t>
              </a:r>
              <a:endParaRPr lang="zh-CN" altLang="en-US" sz="600"/>
            </a:p>
          </p:txBody>
        </p:sp>
        <p:pic>
          <p:nvPicPr>
            <p:cNvPr id="247" name="图片 246"/>
            <p:cNvPicPr>
              <a:picLocks noChangeAspect="1"/>
            </p:cNvPicPr>
            <p:nvPr>
              <p:custDataLst>
                <p:tags r:id="rId37"/>
              </p:custDataLst>
            </p:nvPr>
          </p:nvPicPr>
          <p:blipFill>
            <a:blip r:embed="rId38"/>
            <a:stretch>
              <a:fillRect/>
            </a:stretch>
          </p:blipFill>
          <p:spPr>
            <a:xfrm>
              <a:off x="11488" y="7924"/>
              <a:ext cx="397" cy="430"/>
            </a:xfrm>
            <a:prstGeom prst="rect">
              <a:avLst/>
            </a:prstGeom>
          </p:spPr>
        </p:pic>
      </p:grpSp>
      <p:grpSp>
        <p:nvGrpSpPr>
          <p:cNvPr id="248" name="组合 247"/>
          <p:cNvGrpSpPr/>
          <p:nvPr/>
        </p:nvGrpSpPr>
        <p:grpSpPr>
          <a:xfrm>
            <a:off x="11469370" y="2599690"/>
            <a:ext cx="504190" cy="450850"/>
            <a:chOff x="11315" y="6640"/>
            <a:chExt cx="794" cy="710"/>
          </a:xfrm>
        </p:grpSpPr>
        <p:sp>
          <p:nvSpPr>
            <p:cNvPr id="249" name="文本框 248"/>
            <p:cNvSpPr txBox="1"/>
            <p:nvPr/>
          </p:nvSpPr>
          <p:spPr>
            <a:xfrm>
              <a:off x="11315" y="7062"/>
              <a:ext cx="794" cy="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600"/>
                <a:t>小米消金</a:t>
              </a:r>
              <a:endParaRPr lang="zh-CN" altLang="en-US" sz="600"/>
            </a:p>
          </p:txBody>
        </p:sp>
        <p:pic>
          <p:nvPicPr>
            <p:cNvPr id="250" name="图片 249"/>
            <p:cNvPicPr>
              <a:picLocks noChangeAspect="1"/>
            </p:cNvPicPr>
            <p:nvPr>
              <p:custDataLst>
                <p:tags r:id="rId39"/>
              </p:custDataLst>
            </p:nvPr>
          </p:nvPicPr>
          <p:blipFill>
            <a:blip r:embed="rId40"/>
            <a:stretch>
              <a:fillRect/>
            </a:stretch>
          </p:blipFill>
          <p:spPr>
            <a:xfrm>
              <a:off x="11514" y="6640"/>
              <a:ext cx="397" cy="422"/>
            </a:xfrm>
            <a:prstGeom prst="rect">
              <a:avLst/>
            </a:prstGeom>
          </p:spPr>
        </p:pic>
      </p:grpSp>
      <p:sp>
        <p:nvSpPr>
          <p:cNvPr id="251" name="圆角矩形 250"/>
          <p:cNvSpPr/>
          <p:nvPr>
            <p:custDataLst>
              <p:tags r:id="rId41"/>
            </p:custDataLst>
          </p:nvPr>
        </p:nvSpPr>
        <p:spPr>
          <a:xfrm>
            <a:off x="10863580" y="3718560"/>
            <a:ext cx="568960" cy="2014855"/>
          </a:xfrm>
          <a:prstGeom prst="roundRect">
            <a:avLst>
              <a:gd name="adj" fmla="val 5189"/>
            </a:avLst>
          </a:prstGeom>
          <a:solidFill>
            <a:schemeClr val="bg1"/>
          </a:solidFill>
          <a:ln w="12700" cap="flat" cmpd="sng">
            <a:noFill/>
            <a:prstDash val="solid"/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lstStyle/>
          <a:p>
            <a:pPr lvl="0" algn="ctr">
              <a:lnSpc>
                <a:spcPct val="160000"/>
              </a:lnSpc>
              <a:buClrTx/>
              <a:buSzTx/>
              <a:buFontTx/>
            </a:pPr>
            <a:endParaRPr lang="zh-CN" altLang="en-US" sz="800" b="1">
              <a:solidFill>
                <a:schemeClr val="tx1">
                  <a:lumMod val="95000"/>
                  <a:lumOff val="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52" name="圆角矩形 251"/>
          <p:cNvSpPr/>
          <p:nvPr>
            <p:custDataLst>
              <p:tags r:id="rId42"/>
            </p:custDataLst>
          </p:nvPr>
        </p:nvSpPr>
        <p:spPr>
          <a:xfrm>
            <a:off x="10930255" y="3973830"/>
            <a:ext cx="434975" cy="252095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7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资金查询</a:t>
            </a:r>
            <a:endParaRPr lang="zh-CN" altLang="en-US" sz="70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53" name="圆角矩形 252"/>
          <p:cNvSpPr/>
          <p:nvPr>
            <p:custDataLst>
              <p:tags r:id="rId43"/>
            </p:custDataLst>
          </p:nvPr>
        </p:nvSpPr>
        <p:spPr>
          <a:xfrm>
            <a:off x="10930255" y="4261485"/>
            <a:ext cx="434975" cy="252095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7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资产查询</a:t>
            </a:r>
            <a:endParaRPr lang="zh-CN" altLang="en-US" sz="70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54" name="圆角矩形 253"/>
          <p:cNvSpPr/>
          <p:nvPr>
            <p:custDataLst>
              <p:tags r:id="rId44"/>
            </p:custDataLst>
          </p:nvPr>
        </p:nvSpPr>
        <p:spPr>
          <a:xfrm>
            <a:off x="10930255" y="4540250"/>
            <a:ext cx="434975" cy="252095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7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展业态势</a:t>
            </a:r>
            <a:endParaRPr lang="zh-CN" altLang="en-US" sz="70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55" name="圆角矩形 254"/>
          <p:cNvSpPr/>
          <p:nvPr>
            <p:custDataLst>
              <p:tags r:id="rId45"/>
            </p:custDataLst>
          </p:nvPr>
        </p:nvSpPr>
        <p:spPr>
          <a:xfrm>
            <a:off x="10930255" y="4829810"/>
            <a:ext cx="434975" cy="252095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7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业务提醒</a:t>
            </a:r>
            <a:endParaRPr lang="zh-CN" altLang="en-US" sz="70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56" name="圆角矩形 255"/>
          <p:cNvSpPr/>
          <p:nvPr>
            <p:custDataLst>
              <p:tags r:id="rId46"/>
            </p:custDataLst>
          </p:nvPr>
        </p:nvSpPr>
        <p:spPr>
          <a:xfrm>
            <a:off x="10930255" y="5114925"/>
            <a:ext cx="434975" cy="252095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7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业务工单</a:t>
            </a:r>
            <a:endParaRPr lang="zh-CN" altLang="en-US" sz="70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57" name="圆角矩形 256"/>
          <p:cNvSpPr/>
          <p:nvPr>
            <p:custDataLst>
              <p:tags r:id="rId47"/>
            </p:custDataLst>
          </p:nvPr>
        </p:nvSpPr>
        <p:spPr>
          <a:xfrm>
            <a:off x="10930255" y="5400040"/>
            <a:ext cx="434975" cy="252095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7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交易开关</a:t>
            </a:r>
            <a:endParaRPr lang="zh-CN" altLang="en-US" sz="70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58" name="同侧圆角矩形 257"/>
          <p:cNvSpPr/>
          <p:nvPr/>
        </p:nvSpPr>
        <p:spPr>
          <a:xfrm>
            <a:off x="10863580" y="477520"/>
            <a:ext cx="568960" cy="179705"/>
          </a:xfrm>
          <a:prstGeom prst="round2SameRect">
            <a:avLst>
              <a:gd name="adj1" fmla="val 28823"/>
              <a:gd name="adj2" fmla="val 0"/>
            </a:avLst>
          </a:prstGeom>
          <a:gradFill>
            <a:gsLst>
              <a:gs pos="0">
                <a:srgbClr val="2957DE"/>
              </a:gs>
              <a:gs pos="100000">
                <a:srgbClr val="598BF6"/>
              </a:gs>
            </a:gsLst>
            <a:lin ang="4500000" scaled="0"/>
          </a:gradFill>
          <a:ln w="6032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7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接入自助服务</a:t>
            </a:r>
            <a:endParaRPr lang="zh-CN" altLang="en-US" sz="7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59" name="同侧圆角矩形 258"/>
          <p:cNvSpPr/>
          <p:nvPr/>
        </p:nvSpPr>
        <p:spPr>
          <a:xfrm>
            <a:off x="10863580" y="3718560"/>
            <a:ext cx="568960" cy="179705"/>
          </a:xfrm>
          <a:prstGeom prst="round2SameRect">
            <a:avLst>
              <a:gd name="adj1" fmla="val 28823"/>
              <a:gd name="adj2" fmla="val 0"/>
            </a:avLst>
          </a:prstGeom>
          <a:gradFill>
            <a:gsLst>
              <a:gs pos="0">
                <a:srgbClr val="2957DE"/>
              </a:gs>
              <a:gs pos="100000">
                <a:srgbClr val="598BF6"/>
              </a:gs>
            </a:gsLst>
            <a:lin ang="4500000" scaled="0"/>
          </a:gradFill>
          <a:ln w="6032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lIns="91440" tIns="45720" rIns="9144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7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运营自助服务</a:t>
            </a:r>
            <a:endParaRPr lang="zh-CN" altLang="en-US" sz="7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60" name="文本框 16"/>
          <p:cNvSpPr txBox="1"/>
          <p:nvPr>
            <p:custDataLst>
              <p:tags r:id="rId48"/>
            </p:custDataLst>
          </p:nvPr>
        </p:nvSpPr>
        <p:spPr>
          <a:xfrm>
            <a:off x="10790555" y="210185"/>
            <a:ext cx="1224280" cy="215900"/>
          </a:xfrm>
          <a:prstGeom prst="rect">
            <a:avLst/>
          </a:prstGeom>
          <a:noFill/>
          <a:effectLst/>
        </p:spPr>
        <p:txBody>
          <a:bodyPr wrap="square" rtlCol="0">
            <a:noAutofit/>
          </a:bodyPr>
          <a:lstStyle>
            <a:defPPr>
              <a:defRPr lang="zh-CN"/>
            </a:defPPr>
            <a:lvl1pPr>
              <a:defRPr sz="2400">
                <a:latin typeface="汉仪菱心体简" panose="02010400000101010101" charset="-122"/>
                <a:ea typeface="汉仪菱心体简" panose="02010400000101010101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zh-CN" altLang="en-US" sz="1000" b="1">
                <a:solidFill>
                  <a:srgbClr val="2A59DF"/>
                </a:solidFill>
                <a:latin typeface="微软雅黑" panose="020B0503020204020204" charset="-122"/>
                <a:ea typeface="微软雅黑" panose="020B0503020204020204" charset="-122"/>
                <a:sym typeface="HarmonyOS Sans SC Bold" panose="00000800000000000000" pitchFamily="2" charset="-122"/>
              </a:rPr>
              <a:t>机构自助服务平台</a:t>
            </a:r>
            <a:endParaRPr lang="zh-CN" altLang="en-US" sz="1000" b="1">
              <a:solidFill>
                <a:srgbClr val="2A59DF"/>
              </a:solidFill>
              <a:latin typeface="微软雅黑" panose="020B0503020204020204" charset="-122"/>
              <a:ea typeface="微软雅黑" panose="020B0503020204020204" charset="-122"/>
              <a:sym typeface="HarmonyOS Sans SC Bold" panose="00000800000000000000" pitchFamily="2" charset="-122"/>
            </a:endParaRPr>
          </a:p>
        </p:txBody>
      </p:sp>
      <p:cxnSp>
        <p:nvCxnSpPr>
          <p:cNvPr id="261" name="直接连接符 260"/>
          <p:cNvCxnSpPr/>
          <p:nvPr/>
        </p:nvCxnSpPr>
        <p:spPr>
          <a:xfrm>
            <a:off x="11556365" y="4462780"/>
            <a:ext cx="323850" cy="0"/>
          </a:xfrm>
          <a:prstGeom prst="line">
            <a:avLst/>
          </a:prstGeom>
          <a:ln>
            <a:solidFill>
              <a:schemeClr val="accent1">
                <a:alpha val="32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2" name="直接连接符 261"/>
          <p:cNvCxnSpPr/>
          <p:nvPr/>
        </p:nvCxnSpPr>
        <p:spPr>
          <a:xfrm>
            <a:off x="11562715" y="5089525"/>
            <a:ext cx="323850" cy="0"/>
          </a:xfrm>
          <a:prstGeom prst="line">
            <a:avLst/>
          </a:prstGeom>
          <a:ln>
            <a:solidFill>
              <a:schemeClr val="accent1">
                <a:alpha val="32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63" name="组合 262"/>
          <p:cNvGrpSpPr/>
          <p:nvPr/>
        </p:nvGrpSpPr>
        <p:grpSpPr>
          <a:xfrm>
            <a:off x="11469370" y="5229860"/>
            <a:ext cx="504190" cy="447675"/>
            <a:chOff x="11314" y="9201"/>
            <a:chExt cx="794" cy="705"/>
          </a:xfrm>
        </p:grpSpPr>
        <p:sp>
          <p:nvSpPr>
            <p:cNvPr id="264" name="文本框 263"/>
            <p:cNvSpPr txBox="1"/>
            <p:nvPr/>
          </p:nvSpPr>
          <p:spPr>
            <a:xfrm>
              <a:off x="11314" y="9618"/>
              <a:ext cx="794" cy="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600"/>
                <a:t>吉林银行</a:t>
              </a:r>
              <a:endParaRPr lang="zh-CN" altLang="en-US" sz="600"/>
            </a:p>
          </p:txBody>
        </p:sp>
        <p:pic>
          <p:nvPicPr>
            <p:cNvPr id="265" name="图片 264"/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11514" y="9201"/>
              <a:ext cx="395" cy="417"/>
            </a:xfrm>
            <a:prstGeom prst="rect">
              <a:avLst/>
            </a:prstGeom>
          </p:spPr>
        </p:pic>
      </p:grpSp>
      <p:grpSp>
        <p:nvGrpSpPr>
          <p:cNvPr id="266" name="组合 265"/>
          <p:cNvGrpSpPr/>
          <p:nvPr/>
        </p:nvGrpSpPr>
        <p:grpSpPr>
          <a:xfrm>
            <a:off x="11469370" y="4613275"/>
            <a:ext cx="504190" cy="387350"/>
            <a:chOff x="12352" y="9757"/>
            <a:chExt cx="794" cy="610"/>
          </a:xfrm>
        </p:grpSpPr>
        <p:sp>
          <p:nvSpPr>
            <p:cNvPr id="267" name="文本框 266"/>
            <p:cNvSpPr txBox="1"/>
            <p:nvPr/>
          </p:nvSpPr>
          <p:spPr>
            <a:xfrm>
              <a:off x="12352" y="10079"/>
              <a:ext cx="794" cy="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600"/>
                <a:t>众安小贷</a:t>
              </a:r>
              <a:endParaRPr lang="zh-CN" altLang="en-US" sz="600"/>
            </a:p>
          </p:txBody>
        </p:sp>
        <p:pic>
          <p:nvPicPr>
            <p:cNvPr id="268" name="图片 267"/>
            <p:cNvPicPr>
              <a:picLocks noChangeAspect="1"/>
            </p:cNvPicPr>
            <p:nvPr/>
          </p:nvPicPr>
          <p:blipFill>
            <a:blip r:embed="rId50"/>
            <a:stretch>
              <a:fillRect/>
            </a:stretch>
          </p:blipFill>
          <p:spPr>
            <a:xfrm>
              <a:off x="12489" y="9757"/>
              <a:ext cx="520" cy="322"/>
            </a:xfrm>
            <a:prstGeom prst="rect">
              <a:avLst/>
            </a:prstGeom>
          </p:spPr>
        </p:pic>
      </p:grpSp>
      <p:grpSp>
        <p:nvGrpSpPr>
          <p:cNvPr id="269" name="组合 268"/>
          <p:cNvGrpSpPr/>
          <p:nvPr/>
        </p:nvGrpSpPr>
        <p:grpSpPr>
          <a:xfrm>
            <a:off x="11469370" y="3966845"/>
            <a:ext cx="504190" cy="417195"/>
            <a:chOff x="13673" y="4425"/>
            <a:chExt cx="794" cy="657"/>
          </a:xfrm>
        </p:grpSpPr>
        <p:sp>
          <p:nvSpPr>
            <p:cNvPr id="270" name="文本框 269"/>
            <p:cNvSpPr txBox="1"/>
            <p:nvPr/>
          </p:nvSpPr>
          <p:spPr>
            <a:xfrm>
              <a:off x="13673" y="4794"/>
              <a:ext cx="794" cy="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600"/>
                <a:t>国民信托</a:t>
              </a:r>
              <a:endParaRPr lang="zh-CN" altLang="en-US" sz="600"/>
            </a:p>
          </p:txBody>
        </p:sp>
        <p:pic>
          <p:nvPicPr>
            <p:cNvPr id="271" name="图片 270"/>
            <p:cNvPicPr>
              <a:picLocks noChangeAspect="1"/>
            </p:cNvPicPr>
            <p:nvPr/>
          </p:nvPicPr>
          <p:blipFill>
            <a:blip r:embed="rId51"/>
            <a:stretch>
              <a:fillRect/>
            </a:stretch>
          </p:blipFill>
          <p:spPr>
            <a:xfrm>
              <a:off x="13890" y="4425"/>
              <a:ext cx="361" cy="369"/>
            </a:xfrm>
            <a:prstGeom prst="rect">
              <a:avLst/>
            </a:prstGeom>
          </p:spPr>
        </p:pic>
      </p:grpSp>
      <p:cxnSp>
        <p:nvCxnSpPr>
          <p:cNvPr id="272" name="直接连接符 271"/>
          <p:cNvCxnSpPr/>
          <p:nvPr/>
        </p:nvCxnSpPr>
        <p:spPr>
          <a:xfrm>
            <a:off x="11562715" y="3837305"/>
            <a:ext cx="323850" cy="0"/>
          </a:xfrm>
          <a:prstGeom prst="line">
            <a:avLst/>
          </a:prstGeom>
          <a:ln>
            <a:solidFill>
              <a:schemeClr val="accent1">
                <a:alpha val="32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3" name="直接连接符 272"/>
          <p:cNvCxnSpPr/>
          <p:nvPr/>
        </p:nvCxnSpPr>
        <p:spPr>
          <a:xfrm>
            <a:off x="11556365" y="3145155"/>
            <a:ext cx="323850" cy="0"/>
          </a:xfrm>
          <a:prstGeom prst="line">
            <a:avLst/>
          </a:prstGeom>
          <a:ln>
            <a:solidFill>
              <a:schemeClr val="accent1">
                <a:alpha val="32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4" name="直接连接符 273"/>
          <p:cNvCxnSpPr/>
          <p:nvPr/>
        </p:nvCxnSpPr>
        <p:spPr>
          <a:xfrm>
            <a:off x="11562715" y="2471420"/>
            <a:ext cx="323850" cy="0"/>
          </a:xfrm>
          <a:prstGeom prst="line">
            <a:avLst/>
          </a:prstGeom>
          <a:ln>
            <a:solidFill>
              <a:schemeClr val="accent1">
                <a:alpha val="32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5" name="直接连接符 274"/>
          <p:cNvCxnSpPr/>
          <p:nvPr/>
        </p:nvCxnSpPr>
        <p:spPr>
          <a:xfrm>
            <a:off x="11562715" y="1762760"/>
            <a:ext cx="323850" cy="0"/>
          </a:xfrm>
          <a:prstGeom prst="line">
            <a:avLst/>
          </a:prstGeom>
          <a:ln>
            <a:solidFill>
              <a:schemeClr val="accent1">
                <a:alpha val="32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6" name="直接连接符 275"/>
          <p:cNvCxnSpPr/>
          <p:nvPr/>
        </p:nvCxnSpPr>
        <p:spPr>
          <a:xfrm>
            <a:off x="11549380" y="1107440"/>
            <a:ext cx="323850" cy="0"/>
          </a:xfrm>
          <a:prstGeom prst="line">
            <a:avLst/>
          </a:prstGeom>
          <a:ln>
            <a:solidFill>
              <a:schemeClr val="accent1">
                <a:alpha val="32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8" name="右箭头 277"/>
          <p:cNvSpPr/>
          <p:nvPr>
            <p:custDataLst>
              <p:tags r:id="rId52"/>
            </p:custDataLst>
          </p:nvPr>
        </p:nvSpPr>
        <p:spPr>
          <a:xfrm rot="5400000">
            <a:off x="7510145" y="1642110"/>
            <a:ext cx="200660" cy="288290"/>
          </a:xfrm>
          <a:prstGeom prst="rightArrow">
            <a:avLst/>
          </a:prstGeom>
          <a:solidFill>
            <a:srgbClr val="F5B482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t" anchorCtr="0" forceAA="0" compatLnSpc="1">
            <a:noAutofit/>
          </a:bodyPr>
          <a:p>
            <a:pPr lvl="0" algn="ctr">
              <a:lnSpc>
                <a:spcPct val="150000"/>
              </a:lnSpc>
              <a:buClrTx/>
              <a:buSzTx/>
              <a:buFontTx/>
            </a:pPr>
            <a:endParaRPr lang="zh-CN" altLang="en-US" sz="1400" b="1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FAFAFA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79" name="右箭头 278"/>
          <p:cNvSpPr/>
          <p:nvPr>
            <p:custDataLst>
              <p:tags r:id="rId53"/>
            </p:custDataLst>
          </p:nvPr>
        </p:nvSpPr>
        <p:spPr>
          <a:xfrm rot="16200000">
            <a:off x="9490710" y="1642110"/>
            <a:ext cx="200660" cy="288290"/>
          </a:xfrm>
          <a:prstGeom prst="rightArrow">
            <a:avLst/>
          </a:prstGeom>
          <a:solidFill>
            <a:srgbClr val="F5B482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t" anchorCtr="0" forceAA="0" compatLnSpc="1">
            <a:noAutofit/>
          </a:bodyPr>
          <a:p>
            <a:pPr lvl="0" algn="ctr">
              <a:lnSpc>
                <a:spcPct val="150000"/>
              </a:lnSpc>
              <a:buClrTx/>
              <a:buSzTx/>
              <a:buFontTx/>
            </a:pPr>
            <a:endParaRPr lang="zh-CN" altLang="en-US" sz="1400" b="1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FAFAFA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80" name="右箭头 279"/>
          <p:cNvSpPr/>
          <p:nvPr>
            <p:custDataLst>
              <p:tags r:id="rId54"/>
            </p:custDataLst>
          </p:nvPr>
        </p:nvSpPr>
        <p:spPr>
          <a:xfrm>
            <a:off x="8508365" y="1029335"/>
            <a:ext cx="200660" cy="288290"/>
          </a:xfrm>
          <a:prstGeom prst="rightArrow">
            <a:avLst/>
          </a:prstGeom>
          <a:solidFill>
            <a:srgbClr val="F5B482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t" anchorCtr="0" forceAA="0" compatLnSpc="1">
            <a:noAutofit/>
          </a:bodyPr>
          <a:p>
            <a:pPr lvl="0" algn="ctr">
              <a:lnSpc>
                <a:spcPct val="150000"/>
              </a:lnSpc>
              <a:buClrTx/>
              <a:buSzTx/>
              <a:buFontTx/>
            </a:pPr>
            <a:endParaRPr lang="zh-CN" altLang="en-US" sz="1400" b="1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FAFAFA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81" name="同侧圆角矩形 280"/>
          <p:cNvSpPr/>
          <p:nvPr/>
        </p:nvSpPr>
        <p:spPr>
          <a:xfrm>
            <a:off x="6732270" y="1882775"/>
            <a:ext cx="3752850" cy="198120"/>
          </a:xfrm>
          <a:prstGeom prst="round2SameRect">
            <a:avLst>
              <a:gd name="adj1" fmla="val 28823"/>
              <a:gd name="adj2" fmla="val 0"/>
            </a:avLst>
          </a:prstGeom>
          <a:gradFill>
            <a:gsLst>
              <a:gs pos="0">
                <a:srgbClr val="2957DE"/>
              </a:gs>
              <a:gs pos="100000">
                <a:srgbClr val="598BF6"/>
              </a:gs>
            </a:gsLst>
            <a:lin ang="4500000" scaled="0"/>
          </a:gradFill>
          <a:ln w="6032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资产交易平台</a:t>
            </a:r>
            <a:endParaRPr lang="zh-CN" altLang="en-US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82" name="圆角矩形 281"/>
          <p:cNvSpPr/>
          <p:nvPr>
            <p:custDataLst>
              <p:tags r:id="rId55"/>
            </p:custDataLst>
          </p:nvPr>
        </p:nvSpPr>
        <p:spPr>
          <a:xfrm>
            <a:off x="6818630" y="2161540"/>
            <a:ext cx="1129665" cy="260794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numCol="1" spcCol="0" rtlCol="0" fromWordArt="0" anchor="t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资产转让系统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87" name="同侧圆角矩形 286"/>
          <p:cNvSpPr/>
          <p:nvPr/>
        </p:nvSpPr>
        <p:spPr>
          <a:xfrm>
            <a:off x="6728460" y="494665"/>
            <a:ext cx="1764000" cy="198120"/>
          </a:xfrm>
          <a:prstGeom prst="round2SameRect">
            <a:avLst>
              <a:gd name="adj1" fmla="val 28823"/>
              <a:gd name="adj2" fmla="val 0"/>
            </a:avLst>
          </a:prstGeom>
          <a:gradFill>
            <a:gsLst>
              <a:gs pos="0">
                <a:srgbClr val="2957DE"/>
              </a:gs>
              <a:gs pos="100000">
                <a:srgbClr val="598BF6"/>
              </a:gs>
            </a:gsLst>
            <a:lin ang="4500000" scaled="0"/>
          </a:gradFill>
          <a:ln w="6032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信贷资产管理系统</a:t>
            </a:r>
            <a:endParaRPr lang="zh-CN" altLang="en-US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7" name="圆角矩形 206"/>
          <p:cNvSpPr/>
          <p:nvPr>
            <p:custDataLst>
              <p:tags r:id="rId56"/>
            </p:custDataLst>
          </p:nvPr>
        </p:nvSpPr>
        <p:spPr>
          <a:xfrm>
            <a:off x="8709025" y="494665"/>
            <a:ext cx="1764030" cy="1191260"/>
          </a:xfrm>
          <a:prstGeom prst="roundRect">
            <a:avLst>
              <a:gd name="adj" fmla="val 2948"/>
            </a:avLst>
          </a:prstGeom>
          <a:solidFill>
            <a:schemeClr val="bg1"/>
          </a:solidFill>
          <a:ln w="12700">
            <a:solidFill>
              <a:schemeClr val="accent1">
                <a:alpha val="61000"/>
              </a:schemeClr>
            </a:solidFill>
            <a:prstDash val="sysDash"/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p>
            <a:pPr lvl="0" algn="ctr">
              <a:lnSpc>
                <a:spcPct val="80000"/>
              </a:lnSpc>
              <a:buClrTx/>
              <a:buSzTx/>
              <a:buFontTx/>
            </a:pPr>
            <a:endParaRPr lang="zh-CN" altLang="en-US" sz="800" b="1">
              <a:solidFill>
                <a:schemeClr val="tx1">
                  <a:lumMod val="95000"/>
                  <a:lumOff val="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88" name="同侧圆角矩形 287"/>
          <p:cNvSpPr/>
          <p:nvPr/>
        </p:nvSpPr>
        <p:spPr>
          <a:xfrm>
            <a:off x="8709025" y="494665"/>
            <a:ext cx="1764030" cy="198120"/>
          </a:xfrm>
          <a:prstGeom prst="round2SameRect">
            <a:avLst>
              <a:gd name="adj1" fmla="val 28823"/>
              <a:gd name="adj2" fmla="val 0"/>
            </a:avLst>
          </a:prstGeom>
          <a:gradFill>
            <a:gsLst>
              <a:gs pos="0">
                <a:srgbClr val="2957DE"/>
              </a:gs>
              <a:gs pos="100000">
                <a:srgbClr val="598BF6"/>
              </a:gs>
            </a:gsLst>
            <a:lin ang="4500000" scaled="0"/>
          </a:gradFill>
          <a:ln w="6032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机构资产管理系统</a:t>
            </a:r>
            <a:endParaRPr lang="zh-CN" altLang="en-US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90" name="圆角矩形 289"/>
          <p:cNvSpPr/>
          <p:nvPr>
            <p:custDataLst>
              <p:tags r:id="rId57"/>
            </p:custDataLst>
          </p:nvPr>
        </p:nvSpPr>
        <p:spPr>
          <a:xfrm>
            <a:off x="8826500" y="789840"/>
            <a:ext cx="434340" cy="216000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借据拆分</a:t>
            </a:r>
            <a:endParaRPr lang="zh-CN" altLang="en-US" sz="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91" name="圆角矩形 290"/>
          <p:cNvSpPr/>
          <p:nvPr>
            <p:custDataLst>
              <p:tags r:id="rId58"/>
            </p:custDataLst>
          </p:nvPr>
        </p:nvSpPr>
        <p:spPr>
          <a:xfrm>
            <a:off x="9373870" y="789840"/>
            <a:ext cx="434340" cy="216000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计划拆分</a:t>
            </a:r>
            <a:endParaRPr lang="zh-CN" altLang="en-US" sz="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92" name="圆角矩形 291"/>
          <p:cNvSpPr/>
          <p:nvPr>
            <p:custDataLst>
              <p:tags r:id="rId59"/>
            </p:custDataLst>
          </p:nvPr>
        </p:nvSpPr>
        <p:spPr>
          <a:xfrm>
            <a:off x="9954260" y="789840"/>
            <a:ext cx="434340" cy="216000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还款拆分</a:t>
            </a:r>
            <a:endParaRPr lang="zh-CN" altLang="en-US" sz="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93" name="圆角矩形 292"/>
          <p:cNvSpPr/>
          <p:nvPr>
            <p:custDataLst>
              <p:tags r:id="rId60"/>
            </p:custDataLst>
          </p:nvPr>
        </p:nvSpPr>
        <p:spPr>
          <a:xfrm>
            <a:off x="8826500" y="1085750"/>
            <a:ext cx="434340" cy="216000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减免拆分</a:t>
            </a:r>
            <a:endParaRPr lang="zh-CN" altLang="en-US" sz="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98" name="圆角矩形 297"/>
          <p:cNvSpPr/>
          <p:nvPr>
            <p:custDataLst>
              <p:tags r:id="rId61"/>
            </p:custDataLst>
          </p:nvPr>
        </p:nvSpPr>
        <p:spPr>
          <a:xfrm>
            <a:off x="6818630" y="789940"/>
            <a:ext cx="468000" cy="215900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贷款开立</a:t>
            </a:r>
            <a:endParaRPr lang="zh-CN" altLang="en-US" sz="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15" name="圆角矩形 314"/>
          <p:cNvSpPr/>
          <p:nvPr>
            <p:custDataLst>
              <p:tags r:id="rId62"/>
            </p:custDataLst>
          </p:nvPr>
        </p:nvSpPr>
        <p:spPr>
          <a:xfrm>
            <a:off x="7372990" y="789940"/>
            <a:ext cx="467995" cy="215900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贷款还款</a:t>
            </a:r>
            <a:endParaRPr lang="zh-CN" altLang="en-US" sz="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17" name="圆角矩形 316"/>
          <p:cNvSpPr/>
          <p:nvPr>
            <p:custDataLst>
              <p:tags r:id="rId63"/>
            </p:custDataLst>
          </p:nvPr>
        </p:nvSpPr>
        <p:spPr>
          <a:xfrm>
            <a:off x="6818630" y="1085850"/>
            <a:ext cx="468000" cy="215900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计划变更</a:t>
            </a:r>
            <a:endParaRPr lang="zh-CN" altLang="en-US" sz="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18" name="圆角矩形 317"/>
          <p:cNvSpPr/>
          <p:nvPr>
            <p:custDataLst>
              <p:tags r:id="rId64"/>
            </p:custDataLst>
          </p:nvPr>
        </p:nvSpPr>
        <p:spPr>
          <a:xfrm>
            <a:off x="7372985" y="1085850"/>
            <a:ext cx="468000" cy="215900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退款冲销</a:t>
            </a:r>
            <a:endParaRPr lang="zh-CN" altLang="en-US" sz="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19" name="圆角矩形 318"/>
          <p:cNvSpPr/>
          <p:nvPr>
            <p:custDataLst>
              <p:tags r:id="rId65"/>
            </p:custDataLst>
          </p:nvPr>
        </p:nvSpPr>
        <p:spPr>
          <a:xfrm>
            <a:off x="7927340" y="1085850"/>
            <a:ext cx="468000" cy="215900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贷款计提</a:t>
            </a:r>
            <a:endParaRPr lang="zh-CN" altLang="en-US" sz="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21" name="圆角矩形 320"/>
          <p:cNvSpPr/>
          <p:nvPr>
            <p:custDataLst>
              <p:tags r:id="rId66"/>
            </p:custDataLst>
          </p:nvPr>
        </p:nvSpPr>
        <p:spPr>
          <a:xfrm>
            <a:off x="6818630" y="1381760"/>
            <a:ext cx="468000" cy="215900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借据日终</a:t>
            </a:r>
            <a:endParaRPr lang="zh-CN" altLang="en-US" sz="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23" name="圆角矩形 322"/>
          <p:cNvSpPr/>
          <p:nvPr>
            <p:custDataLst>
              <p:tags r:id="rId67"/>
            </p:custDataLst>
          </p:nvPr>
        </p:nvSpPr>
        <p:spPr>
          <a:xfrm>
            <a:off x="7372985" y="1381760"/>
            <a:ext cx="468000" cy="215900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记账流水</a:t>
            </a:r>
            <a:endParaRPr lang="zh-CN" altLang="en-US" sz="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24" name="圆角矩形 323"/>
          <p:cNvSpPr/>
          <p:nvPr>
            <p:custDataLst>
              <p:tags r:id="rId68"/>
            </p:custDataLst>
          </p:nvPr>
        </p:nvSpPr>
        <p:spPr>
          <a:xfrm>
            <a:off x="7927340" y="1381760"/>
            <a:ext cx="468000" cy="215900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快照备份</a:t>
            </a:r>
            <a:endParaRPr lang="zh-CN" altLang="en-US" sz="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31" name="圆角矩形 330"/>
          <p:cNvSpPr/>
          <p:nvPr>
            <p:custDataLst>
              <p:tags r:id="rId69"/>
            </p:custDataLst>
          </p:nvPr>
        </p:nvSpPr>
        <p:spPr>
          <a:xfrm>
            <a:off x="9954260" y="1085750"/>
            <a:ext cx="434340" cy="216000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计划变更</a:t>
            </a:r>
            <a:endParaRPr lang="zh-CN" altLang="en-US" sz="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32" name="圆角矩形 331"/>
          <p:cNvSpPr/>
          <p:nvPr>
            <p:custDataLst>
              <p:tags r:id="rId70"/>
            </p:custDataLst>
          </p:nvPr>
        </p:nvSpPr>
        <p:spPr>
          <a:xfrm>
            <a:off x="8826500" y="1381760"/>
            <a:ext cx="434340" cy="216000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日终核算</a:t>
            </a:r>
            <a:endParaRPr lang="zh-CN" altLang="en-US" sz="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34" name="圆角矩形 333"/>
          <p:cNvSpPr/>
          <p:nvPr>
            <p:custDataLst>
              <p:tags r:id="rId71"/>
            </p:custDataLst>
          </p:nvPr>
        </p:nvSpPr>
        <p:spPr>
          <a:xfrm>
            <a:off x="9373870" y="1381760"/>
            <a:ext cx="434340" cy="216000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债权转让</a:t>
            </a:r>
            <a:endParaRPr lang="zh-CN" altLang="en-US" sz="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36" name="圆角矩形 335"/>
          <p:cNvSpPr/>
          <p:nvPr>
            <p:custDataLst>
              <p:tags r:id="rId72"/>
            </p:custDataLst>
          </p:nvPr>
        </p:nvSpPr>
        <p:spPr>
          <a:xfrm>
            <a:off x="7927345" y="789940"/>
            <a:ext cx="467995" cy="215900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贷款减免</a:t>
            </a:r>
            <a:endParaRPr lang="zh-CN" altLang="en-US" sz="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43" name="圆角矩形 342"/>
          <p:cNvSpPr/>
          <p:nvPr>
            <p:custDataLst>
              <p:tags r:id="rId73"/>
            </p:custDataLst>
          </p:nvPr>
        </p:nvSpPr>
        <p:spPr>
          <a:xfrm>
            <a:off x="9373870" y="1085750"/>
            <a:ext cx="434340" cy="216000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冲销拆分</a:t>
            </a:r>
            <a:endParaRPr lang="zh-CN" altLang="en-US" sz="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46" name="圆角矩形 345"/>
          <p:cNvSpPr/>
          <p:nvPr>
            <p:custDataLst>
              <p:tags r:id="rId74"/>
            </p:custDataLst>
          </p:nvPr>
        </p:nvSpPr>
        <p:spPr>
          <a:xfrm>
            <a:off x="9954260" y="1381760"/>
            <a:ext cx="434340" cy="216000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资产代偿</a:t>
            </a:r>
            <a:endParaRPr lang="zh-CN" altLang="en-US" sz="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2" name="图片 1" descr="微信公众号"/>
          <p:cNvPicPr>
            <a:picLocks noChangeAspect="1"/>
          </p:cNvPicPr>
          <p:nvPr/>
        </p:nvPicPr>
        <p:blipFill>
          <a:blip r:embed="rId75"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3006725" y="528638"/>
            <a:ext cx="686435" cy="556260"/>
          </a:xfrm>
          <a:prstGeom prst="rect">
            <a:avLst/>
          </a:prstGeom>
        </p:spPr>
      </p:pic>
      <p:pic>
        <p:nvPicPr>
          <p:cNvPr id="3" name="图片 2" descr="小程序 (1)"/>
          <p:cNvPicPr>
            <a:picLocks noChangeAspect="1"/>
          </p:cNvPicPr>
          <p:nvPr/>
        </p:nvPicPr>
        <p:blipFill>
          <a:blip r:embed="rId77"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4229100" y="622935"/>
            <a:ext cx="367665" cy="367665"/>
          </a:xfrm>
          <a:prstGeom prst="rect">
            <a:avLst/>
          </a:prstGeom>
        </p:spPr>
      </p:pic>
      <p:pic>
        <p:nvPicPr>
          <p:cNvPr id="4" name="图片 3" descr="APP"/>
          <p:cNvPicPr>
            <a:picLocks noChangeAspect="1"/>
          </p:cNvPicPr>
          <p:nvPr/>
        </p:nvPicPr>
        <p:blipFill>
          <a:blip r:embed="rId79">
            <a:extLs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5132705" y="598488"/>
            <a:ext cx="416560" cy="416560"/>
          </a:xfrm>
          <a:prstGeom prst="rect">
            <a:avLst/>
          </a:prstGeom>
        </p:spPr>
      </p:pic>
      <p:sp>
        <p:nvSpPr>
          <p:cNvPr id="6" name="圆角矩形 5"/>
          <p:cNvSpPr/>
          <p:nvPr>
            <p:custDataLst>
              <p:tags r:id="rId81"/>
            </p:custDataLst>
          </p:nvPr>
        </p:nvSpPr>
        <p:spPr>
          <a:xfrm>
            <a:off x="8039100" y="2161540"/>
            <a:ext cx="1129665" cy="260794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numCol="1" spcCol="0" rtlCol="0" fromWordArt="0" anchor="t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资产证券化系统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" name="圆角矩形 7"/>
          <p:cNvSpPr/>
          <p:nvPr>
            <p:custDataLst>
              <p:tags r:id="rId82"/>
            </p:custDataLst>
          </p:nvPr>
        </p:nvSpPr>
        <p:spPr>
          <a:xfrm>
            <a:off x="9259570" y="2161540"/>
            <a:ext cx="1129665" cy="260794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numCol="1" spcCol="0" rtlCol="0" fromWordArt="0" anchor="t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数字资产交易系统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229235" y="5149215"/>
            <a:ext cx="10379710" cy="684530"/>
            <a:chOff x="360" y="9413"/>
            <a:chExt cx="16346" cy="1078"/>
          </a:xfrm>
        </p:grpSpPr>
        <p:sp>
          <p:nvSpPr>
            <p:cNvPr id="9" name="矩形 8"/>
            <p:cNvSpPr/>
            <p:nvPr/>
          </p:nvSpPr>
          <p:spPr>
            <a:xfrm>
              <a:off x="360" y="9413"/>
              <a:ext cx="16347" cy="1079"/>
            </a:xfrm>
            <a:prstGeom prst="rect">
              <a:avLst/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11" name="直接连接符 256"/>
            <p:cNvCxnSpPr/>
            <p:nvPr>
              <p:custDataLst>
                <p:tags r:id="rId83"/>
              </p:custDataLst>
            </p:nvPr>
          </p:nvCxnSpPr>
          <p:spPr>
            <a:xfrm flipH="1">
              <a:off x="380" y="9413"/>
              <a:ext cx="2" cy="1077"/>
            </a:xfrm>
            <a:prstGeom prst="line">
              <a:avLst/>
            </a:prstGeom>
            <a:ln w="31750">
              <a:solidFill>
                <a:srgbClr val="92D050"/>
              </a:solidFill>
            </a:ln>
            <a:effectLst/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3" name="文本框 16"/>
          <p:cNvSpPr txBox="1"/>
          <p:nvPr>
            <p:custDataLst>
              <p:tags r:id="rId84"/>
            </p:custDataLst>
          </p:nvPr>
        </p:nvSpPr>
        <p:spPr>
          <a:xfrm>
            <a:off x="243205" y="5149215"/>
            <a:ext cx="295275" cy="684530"/>
          </a:xfrm>
          <a:prstGeom prst="rect">
            <a:avLst/>
          </a:prstGeom>
          <a:noFill/>
          <a:effectLst/>
        </p:spPr>
        <p:txBody>
          <a:bodyPr vert="mongolianVert" wrap="square" rtlCol="0">
            <a:noAutofit/>
          </a:bodyPr>
          <a:lstStyle>
            <a:defPPr>
              <a:defRPr lang="zh-CN"/>
            </a:defPPr>
            <a:lvl1pPr>
              <a:defRPr sz="2400">
                <a:latin typeface="汉仪菱心体简" panose="02010400000101010101" charset="-122"/>
                <a:ea typeface="汉仪菱心体简" panose="02010400000101010101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zh-CN" sz="1000" b="1" dirty="0">
                <a:solidFill>
                  <a:srgbClr val="2A59DF"/>
                </a:solidFill>
                <a:latin typeface="微软雅黑" panose="020B0503020204020204" charset="-122"/>
                <a:ea typeface="微软雅黑" panose="020B0503020204020204" charset="-122"/>
                <a:sym typeface="HarmonyOS Sans SC Bold" panose="00000800000000000000" pitchFamily="2" charset="-122"/>
              </a:rPr>
              <a:t>能力支撑</a:t>
            </a:r>
            <a:endParaRPr lang="zh-CN" sz="1000" b="1" dirty="0">
              <a:solidFill>
                <a:srgbClr val="2A59DF"/>
              </a:solidFill>
              <a:latin typeface="微软雅黑" panose="020B0503020204020204" charset="-122"/>
              <a:ea typeface="微软雅黑" panose="020B0503020204020204" charset="-122"/>
              <a:sym typeface="HarmonyOS Sans SC Bold" panose="00000800000000000000" pitchFamily="2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85"/>
            </p:custDataLst>
          </p:nvPr>
        </p:nvSpPr>
        <p:spPr>
          <a:xfrm>
            <a:off x="2437130" y="5279390"/>
            <a:ext cx="815340" cy="42354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信贷影像</a:t>
            </a:r>
            <a:endParaRPr lang="zh-CN" altLang="en-US" sz="9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业务系统</a:t>
            </a:r>
            <a:endParaRPr lang="zh-CN" altLang="en-US" sz="9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5" name="圆角矩形 14"/>
          <p:cNvSpPr/>
          <p:nvPr>
            <p:custDataLst>
              <p:tags r:id="rId86"/>
            </p:custDataLst>
          </p:nvPr>
        </p:nvSpPr>
        <p:spPr>
          <a:xfrm>
            <a:off x="1534160" y="5280025"/>
            <a:ext cx="815340" cy="42354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信贷</a:t>
            </a:r>
            <a:r>
              <a:rPr lang="zh-CN" altLang="en-US" sz="9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订单</a:t>
            </a:r>
            <a:endParaRPr lang="zh-CN" altLang="en-US" sz="9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交易系统</a:t>
            </a:r>
            <a:endParaRPr lang="zh-CN" altLang="en-US" sz="9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6" name="圆角矩形 15"/>
          <p:cNvSpPr/>
          <p:nvPr>
            <p:custDataLst>
              <p:tags r:id="rId87"/>
            </p:custDataLst>
          </p:nvPr>
        </p:nvSpPr>
        <p:spPr>
          <a:xfrm>
            <a:off x="4243070" y="5279390"/>
            <a:ext cx="815340" cy="42354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信贷合同</a:t>
            </a:r>
            <a:endParaRPr lang="zh-CN" altLang="en-US" sz="9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管理系统</a:t>
            </a:r>
            <a:endParaRPr lang="en-US" altLang="zh-CN" sz="9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7" name="圆角矩形 16"/>
          <p:cNvSpPr/>
          <p:nvPr>
            <p:custDataLst>
              <p:tags r:id="rId88"/>
            </p:custDataLst>
          </p:nvPr>
        </p:nvSpPr>
        <p:spPr>
          <a:xfrm>
            <a:off x="5146040" y="5279390"/>
            <a:ext cx="815340" cy="42354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信贷消息</a:t>
            </a:r>
            <a:endParaRPr lang="zh-CN" altLang="en-US" sz="9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管理系统</a:t>
            </a:r>
            <a:endParaRPr lang="zh-CN" altLang="en-US" sz="9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8" name="圆角矩形 17"/>
          <p:cNvSpPr/>
          <p:nvPr>
            <p:custDataLst>
              <p:tags r:id="rId89"/>
            </p:custDataLst>
          </p:nvPr>
        </p:nvSpPr>
        <p:spPr>
          <a:xfrm>
            <a:off x="6049010" y="5279390"/>
            <a:ext cx="815340" cy="42354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信贷清分</a:t>
            </a:r>
            <a:endParaRPr lang="zh-CN" altLang="en-US" sz="9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结算系统</a:t>
            </a:r>
            <a:endParaRPr lang="zh-CN" altLang="en-US" sz="9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9" name="圆角矩形 18"/>
          <p:cNvSpPr/>
          <p:nvPr>
            <p:custDataLst>
              <p:tags r:id="rId90"/>
            </p:custDataLst>
          </p:nvPr>
        </p:nvSpPr>
        <p:spPr>
          <a:xfrm>
            <a:off x="6951980" y="5279390"/>
            <a:ext cx="815340" cy="42354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信贷分成</a:t>
            </a:r>
            <a:endParaRPr lang="zh-CN" altLang="en-US" sz="9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计算系统</a:t>
            </a:r>
            <a:endParaRPr lang="zh-CN" altLang="en-US" sz="9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" name="圆角矩形 19"/>
          <p:cNvSpPr/>
          <p:nvPr>
            <p:custDataLst>
              <p:tags r:id="rId91"/>
            </p:custDataLst>
          </p:nvPr>
        </p:nvSpPr>
        <p:spPr>
          <a:xfrm>
            <a:off x="7854950" y="5279390"/>
            <a:ext cx="815340" cy="42354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信贷对账</a:t>
            </a:r>
            <a:endParaRPr lang="zh-CN" altLang="en-US" sz="9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文件系统</a:t>
            </a:r>
            <a:endParaRPr lang="zh-CN" altLang="en-US" sz="9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1" name="圆角矩形 20"/>
          <p:cNvSpPr/>
          <p:nvPr>
            <p:custDataLst>
              <p:tags r:id="rId92"/>
            </p:custDataLst>
          </p:nvPr>
        </p:nvSpPr>
        <p:spPr>
          <a:xfrm>
            <a:off x="631190" y="5280025"/>
            <a:ext cx="815340" cy="42354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信贷客户</a:t>
            </a:r>
            <a:endParaRPr lang="zh-CN" altLang="en-US" sz="9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管理系统</a:t>
            </a:r>
            <a:endParaRPr lang="zh-CN" altLang="en-US" sz="9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2" name="圆角矩形 21"/>
          <p:cNvSpPr/>
          <p:nvPr>
            <p:custDataLst>
              <p:tags r:id="rId93"/>
            </p:custDataLst>
          </p:nvPr>
        </p:nvSpPr>
        <p:spPr>
          <a:xfrm>
            <a:off x="9660890" y="5280025"/>
            <a:ext cx="815340" cy="42354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信贷运营</a:t>
            </a:r>
            <a:endParaRPr lang="zh-CN" altLang="en-US" sz="9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管理系统</a:t>
            </a:r>
            <a:endParaRPr lang="zh-CN" altLang="en-US" sz="9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4" name="圆角矩形 23"/>
          <p:cNvSpPr/>
          <p:nvPr>
            <p:custDataLst>
              <p:tags r:id="rId94"/>
            </p:custDataLst>
          </p:nvPr>
        </p:nvSpPr>
        <p:spPr>
          <a:xfrm>
            <a:off x="8757920" y="5279390"/>
            <a:ext cx="815340" cy="42354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信贷账务</a:t>
            </a:r>
            <a:endParaRPr lang="zh-CN" altLang="en-US" sz="9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核算系统</a:t>
            </a:r>
            <a:endParaRPr lang="zh-CN" altLang="en-US" sz="9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5" name="圆角矩形 24"/>
          <p:cNvSpPr/>
          <p:nvPr>
            <p:custDataLst>
              <p:tags r:id="rId95"/>
            </p:custDataLst>
          </p:nvPr>
        </p:nvSpPr>
        <p:spPr>
          <a:xfrm>
            <a:off x="3340100" y="5280025"/>
            <a:ext cx="815340" cy="42354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信贷资金</a:t>
            </a:r>
            <a:endParaRPr lang="zh-CN" altLang="en-US" sz="9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管理系统</a:t>
            </a:r>
            <a:endParaRPr lang="zh-CN" altLang="en-US" sz="9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537845" y="1461135"/>
            <a:ext cx="4192117" cy="758190"/>
            <a:chOff x="847" y="2301"/>
            <a:chExt cx="8701" cy="1194"/>
          </a:xfrm>
        </p:grpSpPr>
        <p:sp>
          <p:nvSpPr>
            <p:cNvPr id="184" name="圆角矩形 183"/>
            <p:cNvSpPr/>
            <p:nvPr>
              <p:custDataLst>
                <p:tags r:id="rId96"/>
              </p:custDataLst>
            </p:nvPr>
          </p:nvSpPr>
          <p:spPr>
            <a:xfrm>
              <a:off x="847" y="2301"/>
              <a:ext cx="8701" cy="1194"/>
            </a:xfrm>
            <a:prstGeom prst="roundRect">
              <a:avLst>
                <a:gd name="adj" fmla="val 5430"/>
              </a:avLst>
            </a:prstGeom>
            <a:solidFill>
              <a:schemeClr val="accent1">
                <a:alpha val="10000"/>
              </a:schemeClr>
            </a:solidFill>
            <a:ln w="12700">
              <a:solidFill>
                <a:schemeClr val="accent1">
                  <a:alpha val="61000"/>
                </a:schemeClr>
              </a:solidFill>
              <a:prstDash val="sysDash"/>
            </a:ln>
          </p:spPr>
          <p:style>
            <a:lnRef idx="0">
              <a:srgbClr val="FFFFFF"/>
            </a:lnRef>
            <a:fillRef idx="3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p>
              <a:pPr lvl="0" algn="ctr">
                <a:lnSpc>
                  <a:spcPct val="80000"/>
                </a:lnSpc>
                <a:buClrTx/>
                <a:buSzTx/>
                <a:buFontTx/>
              </a:pPr>
              <a:endParaRPr lang="zh-CN" altLang="en-US" sz="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79" name="同侧圆角矩形 178"/>
            <p:cNvSpPr/>
            <p:nvPr/>
          </p:nvSpPr>
          <p:spPr>
            <a:xfrm rot="16200000">
              <a:off x="406" y="2742"/>
              <a:ext cx="1194" cy="312"/>
            </a:xfrm>
            <a:prstGeom prst="round2SameRect">
              <a:avLst>
                <a:gd name="adj1" fmla="val 28823"/>
                <a:gd name="adj2" fmla="val 0"/>
              </a:avLst>
            </a:prstGeom>
            <a:gradFill>
              <a:gsLst>
                <a:gs pos="0">
                  <a:srgbClr val="2957DE"/>
                </a:gs>
                <a:gs pos="100000">
                  <a:srgbClr val="598BF6"/>
                </a:gs>
              </a:gsLst>
              <a:lin ang="4500000" scaled="0"/>
            </a:gradFill>
            <a:ln w="60325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eaVert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7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用户决策系统</a:t>
              </a:r>
              <a:endParaRPr lang="en-US" altLang="zh-CN" sz="7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6" name="圆角矩形 25"/>
            <p:cNvSpPr/>
            <p:nvPr>
              <p:custDataLst>
                <p:tags r:id="rId97"/>
              </p:custDataLst>
            </p:nvPr>
          </p:nvSpPr>
          <p:spPr>
            <a:xfrm>
              <a:off x="1296" y="2424"/>
              <a:ext cx="1119" cy="433"/>
            </a:xfrm>
            <a:prstGeom prst="roundRect">
              <a:avLst>
                <a:gd name="adj" fmla="val 9803"/>
              </a:avLst>
            </a:prstGeom>
            <a:solidFill>
              <a:schemeClr val="bg1"/>
            </a:solidFill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none" tIns="0" bIns="0" numCol="1" spcCol="0" rtlCol="0" fromWordArt="0" anchor="ctr" anchorCtr="0" forceAA="0" compatLnSpc="1">
              <a:noAutofit/>
            </a:bodyPr>
            <a:p>
              <a:pPr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600" b="1">
                  <a:solidFill>
                    <a:srgbClr val="1E54E3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决策进线</a:t>
              </a:r>
              <a:endPara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7" name="圆角矩形 26"/>
            <p:cNvSpPr/>
            <p:nvPr>
              <p:custDataLst>
                <p:tags r:id="rId98"/>
              </p:custDataLst>
            </p:nvPr>
          </p:nvSpPr>
          <p:spPr>
            <a:xfrm>
              <a:off x="4084" y="2424"/>
              <a:ext cx="1119" cy="433"/>
            </a:xfrm>
            <a:prstGeom prst="roundRect">
              <a:avLst>
                <a:gd name="adj" fmla="val 9803"/>
              </a:avLst>
            </a:prstGeom>
            <a:solidFill>
              <a:schemeClr val="bg1"/>
            </a:solidFill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none" tIns="0" bIns="0" numCol="1" spcCol="0" rtlCol="0" fromWordArt="0" anchor="ctr" anchorCtr="0" forceAA="0" compatLnSpc="1">
              <a:noAutofit/>
            </a:bodyPr>
            <a:p>
              <a:pPr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600" b="1">
                  <a:solidFill>
                    <a:srgbClr val="1E54E3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策略管理</a:t>
              </a:r>
              <a:endPara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8" name="圆角矩形 27"/>
            <p:cNvSpPr/>
            <p:nvPr>
              <p:custDataLst>
                <p:tags r:id="rId99"/>
              </p:custDataLst>
            </p:nvPr>
          </p:nvSpPr>
          <p:spPr>
            <a:xfrm>
              <a:off x="6846" y="2424"/>
              <a:ext cx="1119" cy="433"/>
            </a:xfrm>
            <a:prstGeom prst="roundRect">
              <a:avLst>
                <a:gd name="adj" fmla="val 9803"/>
              </a:avLst>
            </a:prstGeom>
            <a:solidFill>
              <a:schemeClr val="bg1"/>
            </a:solidFill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none" tIns="0" bIns="0" numCol="1" spcCol="0" rtlCol="0" fromWordArt="0" anchor="ctr" anchorCtr="0" forceAA="0" compatLnSpc="1">
              <a:noAutofit/>
            </a:bodyPr>
            <a:p>
              <a:pPr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600" b="1">
                  <a:solidFill>
                    <a:srgbClr val="1E54E3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标签计算</a:t>
              </a:r>
              <a:endPara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9" name="圆角矩形 28"/>
            <p:cNvSpPr/>
            <p:nvPr>
              <p:custDataLst>
                <p:tags r:id="rId100"/>
              </p:custDataLst>
            </p:nvPr>
          </p:nvSpPr>
          <p:spPr>
            <a:xfrm>
              <a:off x="8268" y="2950"/>
              <a:ext cx="1119" cy="433"/>
            </a:xfrm>
            <a:prstGeom prst="roundRect">
              <a:avLst>
                <a:gd name="adj" fmla="val 9803"/>
              </a:avLst>
            </a:prstGeom>
            <a:solidFill>
              <a:schemeClr val="bg1"/>
            </a:solidFill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none" tIns="0" bIns="0" numCol="1" spcCol="0" rtlCol="0" fromWordArt="0" anchor="ctr" anchorCtr="0" forceAA="0" compatLnSpc="1">
              <a:noAutofit/>
            </a:bodyPr>
            <a:p>
              <a:pPr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600" b="1">
                  <a:solidFill>
                    <a:srgbClr val="1E54E3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数据源查询</a:t>
              </a:r>
              <a:endPara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0" name="圆角矩形 29"/>
            <p:cNvSpPr/>
            <p:nvPr>
              <p:custDataLst>
                <p:tags r:id="rId101"/>
              </p:custDataLst>
            </p:nvPr>
          </p:nvSpPr>
          <p:spPr>
            <a:xfrm>
              <a:off x="2690" y="2424"/>
              <a:ext cx="1119" cy="433"/>
            </a:xfrm>
            <a:prstGeom prst="roundRect">
              <a:avLst>
                <a:gd name="adj" fmla="val 9803"/>
              </a:avLst>
            </a:prstGeom>
            <a:solidFill>
              <a:schemeClr val="bg1"/>
            </a:solidFill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none" tIns="0" bIns="0" numCol="1" spcCol="0" rtlCol="0" fromWordArt="0" anchor="ctr" anchorCtr="0" forceAA="0" compatLnSpc="1">
              <a:noAutofit/>
            </a:bodyPr>
            <a:p>
              <a:pPr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600" b="1">
                  <a:solidFill>
                    <a:srgbClr val="1E54E3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结果回盘</a:t>
              </a:r>
              <a:endPara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1" name="圆角矩形 30"/>
            <p:cNvSpPr/>
            <p:nvPr>
              <p:custDataLst>
                <p:tags r:id="rId102"/>
              </p:custDataLst>
            </p:nvPr>
          </p:nvSpPr>
          <p:spPr>
            <a:xfrm>
              <a:off x="2690" y="2950"/>
              <a:ext cx="1119" cy="433"/>
            </a:xfrm>
            <a:prstGeom prst="roundRect">
              <a:avLst>
                <a:gd name="adj" fmla="val 9803"/>
              </a:avLst>
            </a:prstGeom>
            <a:solidFill>
              <a:schemeClr val="bg1"/>
            </a:solidFill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none" tIns="0" bIns="0" numCol="1" spcCol="0" rtlCol="0" fromWordArt="0" anchor="ctr" anchorCtr="0" forceAA="0" compatLnSpc="1">
              <a:noAutofit/>
            </a:bodyPr>
            <a:p>
              <a:pPr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600" b="1">
                  <a:solidFill>
                    <a:srgbClr val="1E54E3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分拆计算</a:t>
              </a:r>
              <a:endPara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2" name="圆角矩形 31"/>
            <p:cNvSpPr/>
            <p:nvPr>
              <p:custDataLst>
                <p:tags r:id="rId103"/>
              </p:custDataLst>
            </p:nvPr>
          </p:nvSpPr>
          <p:spPr>
            <a:xfrm>
              <a:off x="4085" y="2950"/>
              <a:ext cx="1119" cy="433"/>
            </a:xfrm>
            <a:prstGeom prst="roundRect">
              <a:avLst>
                <a:gd name="adj" fmla="val 9803"/>
              </a:avLst>
            </a:prstGeom>
            <a:solidFill>
              <a:schemeClr val="bg1"/>
            </a:solidFill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none" tIns="0" bIns="0" numCol="1" spcCol="0" rtlCol="0" fromWordArt="0" anchor="ctr" anchorCtr="0" forceAA="0" compatLnSpc="1">
              <a:noAutofit/>
            </a:bodyPr>
            <a:p>
              <a:pPr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600" b="1">
                  <a:solidFill>
                    <a:srgbClr val="1E54E3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二次营销</a:t>
              </a:r>
              <a:endPara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3" name="圆角矩形 32"/>
            <p:cNvSpPr/>
            <p:nvPr>
              <p:custDataLst>
                <p:tags r:id="rId104"/>
              </p:custDataLst>
            </p:nvPr>
          </p:nvSpPr>
          <p:spPr>
            <a:xfrm>
              <a:off x="5479" y="2950"/>
              <a:ext cx="1119" cy="433"/>
            </a:xfrm>
            <a:prstGeom prst="roundRect">
              <a:avLst>
                <a:gd name="adj" fmla="val 9803"/>
              </a:avLst>
            </a:prstGeom>
            <a:solidFill>
              <a:schemeClr val="bg1"/>
            </a:solidFill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none" tIns="0" bIns="0" numCol="1" spcCol="0" rtlCol="0" fromWordArt="0" anchor="ctr" anchorCtr="0" forceAA="0" compatLnSpc="1">
              <a:noAutofit/>
            </a:bodyPr>
            <a:p>
              <a:pPr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600" b="1">
                  <a:solidFill>
                    <a:srgbClr val="1E54E3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准入规则</a:t>
              </a:r>
              <a:endPara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4" name="圆角矩形 33"/>
            <p:cNvSpPr/>
            <p:nvPr>
              <p:custDataLst>
                <p:tags r:id="rId105"/>
              </p:custDataLst>
            </p:nvPr>
          </p:nvSpPr>
          <p:spPr>
            <a:xfrm>
              <a:off x="6874" y="2950"/>
              <a:ext cx="1119" cy="433"/>
            </a:xfrm>
            <a:prstGeom prst="roundRect">
              <a:avLst>
                <a:gd name="adj" fmla="val 9803"/>
              </a:avLst>
            </a:prstGeom>
            <a:solidFill>
              <a:schemeClr val="bg1"/>
            </a:solidFill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none" tIns="0" bIns="0" numCol="1" spcCol="0" rtlCol="0" fromWordArt="0" anchor="ctr" anchorCtr="0" forceAA="0" compatLnSpc="1">
              <a:noAutofit/>
            </a:bodyPr>
            <a:p>
              <a:pPr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600" b="1">
                  <a:solidFill>
                    <a:srgbClr val="1E54E3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用户画像</a:t>
              </a:r>
              <a:endPara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5" name="圆角矩形 34"/>
            <p:cNvSpPr/>
            <p:nvPr>
              <p:custDataLst>
                <p:tags r:id="rId106"/>
              </p:custDataLst>
            </p:nvPr>
          </p:nvSpPr>
          <p:spPr>
            <a:xfrm>
              <a:off x="1296" y="2950"/>
              <a:ext cx="1119" cy="433"/>
            </a:xfrm>
            <a:prstGeom prst="roundRect">
              <a:avLst>
                <a:gd name="adj" fmla="val 9803"/>
              </a:avLst>
            </a:prstGeom>
            <a:solidFill>
              <a:schemeClr val="bg1"/>
            </a:solidFill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none" tIns="0" bIns="0" numCol="1" spcCol="0" rtlCol="0" fromWordArt="0" anchor="ctr" anchorCtr="0" forceAA="0" compatLnSpc="1">
              <a:noAutofit/>
            </a:bodyPr>
            <a:p>
              <a:pPr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600" b="1">
                  <a:solidFill>
                    <a:srgbClr val="1E54E3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分层模型</a:t>
              </a:r>
              <a:endPara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6" name="圆角矩形 35"/>
            <p:cNvSpPr/>
            <p:nvPr>
              <p:custDataLst>
                <p:tags r:id="rId107"/>
              </p:custDataLst>
            </p:nvPr>
          </p:nvSpPr>
          <p:spPr>
            <a:xfrm>
              <a:off x="8266" y="2424"/>
              <a:ext cx="1119" cy="433"/>
            </a:xfrm>
            <a:prstGeom prst="roundRect">
              <a:avLst>
                <a:gd name="adj" fmla="val 9803"/>
              </a:avLst>
            </a:prstGeom>
            <a:solidFill>
              <a:schemeClr val="bg1"/>
            </a:solidFill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none" tIns="0" bIns="0" numCol="1" spcCol="0" rtlCol="0" fromWordArt="0" anchor="ctr" anchorCtr="0" forceAA="0" compatLnSpc="1">
              <a:noAutofit/>
            </a:bodyPr>
            <a:p>
              <a:pPr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600" b="1">
                  <a:solidFill>
                    <a:srgbClr val="1E54E3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归因分析</a:t>
              </a:r>
              <a:endPara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7" name="圆角矩形 36"/>
            <p:cNvSpPr/>
            <p:nvPr>
              <p:custDataLst>
                <p:tags r:id="rId108"/>
              </p:custDataLst>
            </p:nvPr>
          </p:nvSpPr>
          <p:spPr>
            <a:xfrm>
              <a:off x="5478" y="2424"/>
              <a:ext cx="1119" cy="433"/>
            </a:xfrm>
            <a:prstGeom prst="roundRect">
              <a:avLst>
                <a:gd name="adj" fmla="val 9803"/>
              </a:avLst>
            </a:prstGeom>
            <a:solidFill>
              <a:schemeClr val="bg1"/>
            </a:solidFill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none" tIns="0" bIns="0" numCol="1" spcCol="0" rtlCol="0" fromWordArt="0" anchor="ctr" anchorCtr="0" forceAA="0" compatLnSpc="1">
              <a:noAutofit/>
            </a:bodyPr>
            <a:p>
              <a:pPr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600" b="1">
                  <a:solidFill>
                    <a:srgbClr val="1E54E3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指标管理</a:t>
              </a:r>
              <a:endPara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38" name="圆角矩形 37"/>
          <p:cNvSpPr/>
          <p:nvPr>
            <p:custDataLst>
              <p:tags r:id="rId109"/>
            </p:custDataLst>
          </p:nvPr>
        </p:nvSpPr>
        <p:spPr>
          <a:xfrm>
            <a:off x="648335" y="2636520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机构管理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0" name="圆角矩形 39"/>
          <p:cNvSpPr/>
          <p:nvPr>
            <p:custDataLst>
              <p:tags r:id="rId110"/>
            </p:custDataLst>
          </p:nvPr>
        </p:nvSpPr>
        <p:spPr>
          <a:xfrm>
            <a:off x="1461135" y="2636520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接口管理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5" name="圆角矩形 44"/>
          <p:cNvSpPr/>
          <p:nvPr>
            <p:custDataLst>
              <p:tags r:id="rId111"/>
            </p:custDataLst>
          </p:nvPr>
        </p:nvSpPr>
        <p:spPr>
          <a:xfrm>
            <a:off x="1461135" y="2986405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密钥管理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6" name="圆角矩形 45"/>
          <p:cNvSpPr/>
          <p:nvPr>
            <p:custDataLst>
              <p:tags r:id="rId112"/>
            </p:custDataLst>
          </p:nvPr>
        </p:nvSpPr>
        <p:spPr>
          <a:xfrm>
            <a:off x="648335" y="3686175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加密解密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7" name="圆角矩形 46"/>
          <p:cNvSpPr/>
          <p:nvPr>
            <p:custDataLst>
              <p:tags r:id="rId113"/>
            </p:custDataLst>
          </p:nvPr>
        </p:nvSpPr>
        <p:spPr>
          <a:xfrm>
            <a:off x="648335" y="2986405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交易管理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8" name="圆角矩形 47"/>
          <p:cNvSpPr/>
          <p:nvPr>
            <p:custDataLst>
              <p:tags r:id="rId114"/>
            </p:custDataLst>
          </p:nvPr>
        </p:nvSpPr>
        <p:spPr>
          <a:xfrm>
            <a:off x="1461135" y="3686175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联合登录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9" name="圆角矩形 48"/>
          <p:cNvSpPr/>
          <p:nvPr>
            <p:custDataLst>
              <p:tags r:id="rId115"/>
            </p:custDataLst>
          </p:nvPr>
        </p:nvSpPr>
        <p:spPr>
          <a:xfrm>
            <a:off x="648335" y="4036060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数据同步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0" name="圆角矩形 49"/>
          <p:cNvSpPr/>
          <p:nvPr>
            <p:custDataLst>
              <p:tags r:id="rId116"/>
            </p:custDataLst>
          </p:nvPr>
        </p:nvSpPr>
        <p:spPr>
          <a:xfrm>
            <a:off x="1461135" y="4036060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结果回盘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1" name="圆角矩形 50"/>
          <p:cNvSpPr/>
          <p:nvPr>
            <p:custDataLst>
              <p:tags r:id="rId117"/>
            </p:custDataLst>
          </p:nvPr>
        </p:nvSpPr>
        <p:spPr>
          <a:xfrm>
            <a:off x="648335" y="4385945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报表管理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2" name="圆角矩形 51"/>
          <p:cNvSpPr/>
          <p:nvPr>
            <p:custDataLst>
              <p:tags r:id="rId118"/>
            </p:custDataLst>
          </p:nvPr>
        </p:nvSpPr>
        <p:spPr>
          <a:xfrm>
            <a:off x="1461135" y="4385945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费用结算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3" name="圆角矩形 52"/>
          <p:cNvSpPr/>
          <p:nvPr>
            <p:custDataLst>
              <p:tags r:id="rId119"/>
            </p:custDataLst>
          </p:nvPr>
        </p:nvSpPr>
        <p:spPr>
          <a:xfrm>
            <a:off x="1461135" y="3336290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机构路由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4" name="圆角矩形 53"/>
          <p:cNvSpPr/>
          <p:nvPr>
            <p:custDataLst>
              <p:tags r:id="rId120"/>
            </p:custDataLst>
          </p:nvPr>
        </p:nvSpPr>
        <p:spPr>
          <a:xfrm>
            <a:off x="648335" y="3336290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导流决策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6" name="圆角矩形 55"/>
          <p:cNvSpPr/>
          <p:nvPr>
            <p:custDataLst>
              <p:tags r:id="rId121"/>
            </p:custDataLst>
          </p:nvPr>
        </p:nvSpPr>
        <p:spPr>
          <a:xfrm>
            <a:off x="2541270" y="2636520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机构管理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5" name="圆角矩形 74"/>
          <p:cNvSpPr/>
          <p:nvPr>
            <p:custDataLst>
              <p:tags r:id="rId122"/>
            </p:custDataLst>
          </p:nvPr>
        </p:nvSpPr>
        <p:spPr>
          <a:xfrm>
            <a:off x="3366770" y="2640965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6" name="圆角矩形 75"/>
          <p:cNvSpPr/>
          <p:nvPr>
            <p:custDataLst>
              <p:tags r:id="rId123"/>
            </p:custDataLst>
          </p:nvPr>
        </p:nvSpPr>
        <p:spPr>
          <a:xfrm>
            <a:off x="2541270" y="2986405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7" name="圆角矩形 76"/>
          <p:cNvSpPr/>
          <p:nvPr>
            <p:custDataLst>
              <p:tags r:id="rId124"/>
            </p:custDataLst>
          </p:nvPr>
        </p:nvSpPr>
        <p:spPr>
          <a:xfrm>
            <a:off x="3366770" y="2989580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授信审批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8" name="圆角矩形 77"/>
          <p:cNvSpPr/>
          <p:nvPr>
            <p:custDataLst>
              <p:tags r:id="rId125"/>
            </p:custDataLst>
          </p:nvPr>
        </p:nvSpPr>
        <p:spPr>
          <a:xfrm>
            <a:off x="3366770" y="3338195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放款申请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9" name="圆角矩形 78"/>
          <p:cNvSpPr/>
          <p:nvPr>
            <p:custDataLst>
              <p:tags r:id="rId126"/>
            </p:custDataLst>
          </p:nvPr>
        </p:nvSpPr>
        <p:spPr>
          <a:xfrm>
            <a:off x="3366770" y="3686810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还款通知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0" name="圆角矩形 79"/>
          <p:cNvSpPr/>
          <p:nvPr>
            <p:custDataLst>
              <p:tags r:id="rId127"/>
            </p:custDataLst>
          </p:nvPr>
        </p:nvSpPr>
        <p:spPr>
          <a:xfrm>
            <a:off x="3366770" y="4035425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协议回传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1" name="圆角矩形 80"/>
          <p:cNvSpPr/>
          <p:nvPr>
            <p:custDataLst>
              <p:tags r:id="rId128"/>
            </p:custDataLst>
          </p:nvPr>
        </p:nvSpPr>
        <p:spPr>
          <a:xfrm>
            <a:off x="3366770" y="4384040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凭证打印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2" name="圆角矩形 81"/>
          <p:cNvSpPr/>
          <p:nvPr>
            <p:custDataLst>
              <p:tags r:id="rId129"/>
            </p:custDataLst>
          </p:nvPr>
        </p:nvSpPr>
        <p:spPr>
          <a:xfrm>
            <a:off x="2541270" y="4385945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报文转换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3" name="圆角矩形 82"/>
          <p:cNvSpPr/>
          <p:nvPr>
            <p:custDataLst>
              <p:tags r:id="rId130"/>
            </p:custDataLst>
          </p:nvPr>
        </p:nvSpPr>
        <p:spPr>
          <a:xfrm>
            <a:off x="2541270" y="4036060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协议签署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8" name="圆角矩形 87"/>
          <p:cNvSpPr/>
          <p:nvPr>
            <p:custDataLst>
              <p:tags r:id="rId131"/>
            </p:custDataLst>
          </p:nvPr>
        </p:nvSpPr>
        <p:spPr>
          <a:xfrm>
            <a:off x="2541270" y="3686175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放款通知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9" name="圆角矩形 88"/>
          <p:cNvSpPr/>
          <p:nvPr>
            <p:custDataLst>
              <p:tags r:id="rId132"/>
            </p:custDataLst>
          </p:nvPr>
        </p:nvSpPr>
        <p:spPr>
          <a:xfrm>
            <a:off x="2541270" y="3336290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用信审批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0" name="圆角矩形 89"/>
          <p:cNvSpPr/>
          <p:nvPr>
            <p:custDataLst>
              <p:tags r:id="rId133"/>
            </p:custDataLst>
          </p:nvPr>
        </p:nvSpPr>
        <p:spPr>
          <a:xfrm>
            <a:off x="4435475" y="2640965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机构管理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1" name="圆角矩形 90"/>
          <p:cNvSpPr/>
          <p:nvPr>
            <p:custDataLst>
              <p:tags r:id="rId134"/>
            </p:custDataLst>
          </p:nvPr>
        </p:nvSpPr>
        <p:spPr>
          <a:xfrm>
            <a:off x="5248910" y="2640965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3" name="圆角矩形 92"/>
          <p:cNvSpPr/>
          <p:nvPr>
            <p:custDataLst>
              <p:tags r:id="rId135"/>
            </p:custDataLst>
          </p:nvPr>
        </p:nvSpPr>
        <p:spPr>
          <a:xfrm>
            <a:off x="4435475" y="3339465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授信审批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4" name="圆角矩形 93"/>
          <p:cNvSpPr/>
          <p:nvPr>
            <p:custDataLst>
              <p:tags r:id="rId136"/>
            </p:custDataLst>
          </p:nvPr>
        </p:nvSpPr>
        <p:spPr>
          <a:xfrm>
            <a:off x="5248910" y="3339465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用信审批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5" name="圆角矩形 94"/>
          <p:cNvSpPr/>
          <p:nvPr>
            <p:custDataLst>
              <p:tags r:id="rId137"/>
            </p:custDataLst>
          </p:nvPr>
        </p:nvSpPr>
        <p:spPr>
          <a:xfrm>
            <a:off x="5248910" y="2990215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撞库查询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6" name="圆角矩形 95"/>
          <p:cNvSpPr/>
          <p:nvPr>
            <p:custDataLst>
              <p:tags r:id="rId138"/>
            </p:custDataLst>
          </p:nvPr>
        </p:nvSpPr>
        <p:spPr>
          <a:xfrm>
            <a:off x="4435475" y="3688715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结果通知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8" name="圆角矩形 97"/>
          <p:cNvSpPr/>
          <p:nvPr>
            <p:custDataLst>
              <p:tags r:id="rId139"/>
            </p:custDataLst>
          </p:nvPr>
        </p:nvSpPr>
        <p:spPr>
          <a:xfrm>
            <a:off x="4435475" y="2990215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9" name="圆角矩形 98"/>
          <p:cNvSpPr/>
          <p:nvPr>
            <p:custDataLst>
              <p:tags r:id="rId140"/>
            </p:custDataLst>
          </p:nvPr>
        </p:nvSpPr>
        <p:spPr>
          <a:xfrm>
            <a:off x="5248910" y="3688715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协议下载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5" name="圆角矩形 104"/>
          <p:cNvSpPr/>
          <p:nvPr>
            <p:custDataLst>
              <p:tags r:id="rId141"/>
            </p:custDataLst>
          </p:nvPr>
        </p:nvSpPr>
        <p:spPr>
          <a:xfrm>
            <a:off x="4435475" y="4037965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流程编排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6" name="圆角矩形 105"/>
          <p:cNvSpPr/>
          <p:nvPr>
            <p:custDataLst>
              <p:tags r:id="rId142"/>
            </p:custDataLst>
          </p:nvPr>
        </p:nvSpPr>
        <p:spPr>
          <a:xfrm>
            <a:off x="4435475" y="4387215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资产同步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7" name="圆角矩形 106"/>
          <p:cNvSpPr/>
          <p:nvPr>
            <p:custDataLst>
              <p:tags r:id="rId143"/>
            </p:custDataLst>
          </p:nvPr>
        </p:nvSpPr>
        <p:spPr>
          <a:xfrm>
            <a:off x="5248910" y="4387215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费用结算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8" name="圆角矩形 107"/>
          <p:cNvSpPr/>
          <p:nvPr>
            <p:custDataLst>
              <p:tags r:id="rId144"/>
            </p:custDataLst>
          </p:nvPr>
        </p:nvSpPr>
        <p:spPr>
          <a:xfrm>
            <a:off x="5248910" y="4037965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报文转换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2" name="圆角矩形 41"/>
          <p:cNvSpPr/>
          <p:nvPr>
            <p:custDataLst>
              <p:tags r:id="rId145"/>
            </p:custDataLst>
          </p:nvPr>
        </p:nvSpPr>
        <p:spPr>
          <a:xfrm>
            <a:off x="4843145" y="1461135"/>
            <a:ext cx="1221105" cy="758190"/>
          </a:xfrm>
          <a:prstGeom prst="roundRect">
            <a:avLst>
              <a:gd name="adj" fmla="val 5430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61000"/>
              </a:schemeClr>
            </a:solidFill>
            <a:prstDash val="sysDash"/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p>
            <a:pPr lvl="0" algn="ctr">
              <a:lnSpc>
                <a:spcPct val="80000"/>
              </a:lnSpc>
              <a:buClrTx/>
              <a:buSzTx/>
              <a:buFontTx/>
            </a:pPr>
            <a:endParaRPr lang="zh-CN" altLang="en-US" sz="800" b="1">
              <a:solidFill>
                <a:schemeClr val="tx1">
                  <a:lumMod val="95000"/>
                  <a:lumOff val="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3" name="同侧圆角矩形 42"/>
          <p:cNvSpPr/>
          <p:nvPr/>
        </p:nvSpPr>
        <p:spPr>
          <a:xfrm rot="16200000">
            <a:off x="4539210" y="1765070"/>
            <a:ext cx="758190" cy="150321"/>
          </a:xfrm>
          <a:prstGeom prst="round2SameRect">
            <a:avLst>
              <a:gd name="adj1" fmla="val 28823"/>
              <a:gd name="adj2" fmla="val 0"/>
            </a:avLst>
          </a:prstGeom>
          <a:gradFill>
            <a:gsLst>
              <a:gs pos="0">
                <a:srgbClr val="2957DE"/>
              </a:gs>
              <a:gs pos="100000">
                <a:srgbClr val="598BF6"/>
              </a:gs>
            </a:gsLst>
            <a:lin ang="4500000" scaled="0"/>
          </a:gradFill>
          <a:ln w="6032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eaVert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7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公共路由系统</a:t>
            </a:r>
            <a:endParaRPr lang="en-US" altLang="zh-CN" sz="7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4" name="圆角矩形 43"/>
          <p:cNvSpPr/>
          <p:nvPr>
            <p:custDataLst>
              <p:tags r:id="rId146"/>
            </p:custDataLst>
          </p:nvPr>
        </p:nvSpPr>
        <p:spPr>
          <a:xfrm>
            <a:off x="5146040" y="1539240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路由管理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5" name="圆角矩形 54"/>
          <p:cNvSpPr/>
          <p:nvPr>
            <p:custDataLst>
              <p:tags r:id="rId147"/>
            </p:custDataLst>
          </p:nvPr>
        </p:nvSpPr>
        <p:spPr>
          <a:xfrm>
            <a:off x="5146040" y="1872615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路由决策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组合 69"/>
          <p:cNvGrpSpPr/>
          <p:nvPr/>
        </p:nvGrpSpPr>
        <p:grpSpPr>
          <a:xfrm>
            <a:off x="226695" y="210185"/>
            <a:ext cx="6247130" cy="4871085"/>
            <a:chOff x="4255" y="1711"/>
            <a:chExt cx="5799" cy="4270"/>
          </a:xfrm>
        </p:grpSpPr>
        <p:sp>
          <p:nvSpPr>
            <p:cNvPr id="354" name="矩形 353"/>
            <p:cNvSpPr/>
            <p:nvPr/>
          </p:nvSpPr>
          <p:spPr>
            <a:xfrm>
              <a:off x="4255" y="1729"/>
              <a:ext cx="5797" cy="4252"/>
            </a:xfrm>
            <a:prstGeom prst="rect">
              <a:avLst/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16"/>
            <p:cNvSpPr txBox="1"/>
            <p:nvPr>
              <p:custDataLst>
                <p:tags r:id="rId1"/>
              </p:custDataLst>
            </p:nvPr>
          </p:nvSpPr>
          <p:spPr>
            <a:xfrm>
              <a:off x="4257" y="1711"/>
              <a:ext cx="5796" cy="164"/>
            </a:xfrm>
            <a:prstGeom prst="rect">
              <a:avLst/>
            </a:prstGeom>
            <a:noFill/>
            <a:effectLst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>
                <a:defRPr sz="2400">
                  <a:latin typeface="汉仪菱心体简" panose="02010400000101010101" charset="-122"/>
                  <a:ea typeface="汉仪菱心体简" panose="02010400000101010101" charset="-122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buClrTx/>
                <a:buSzTx/>
                <a:buFontTx/>
              </a:pPr>
              <a:r>
                <a:rPr lang="zh-CN" sz="1000" b="1" dirty="0">
                  <a:solidFill>
                    <a:srgbClr val="2A59DF"/>
                  </a:solidFill>
                  <a:latin typeface="微软雅黑" panose="020B0503020204020204" charset="-122"/>
                  <a:ea typeface="微软雅黑" panose="020B0503020204020204" charset="-122"/>
                  <a:sym typeface="HarmonyOS Sans SC Bold" panose="00000800000000000000" pitchFamily="2" charset="-122"/>
                </a:rPr>
                <a:t>贷前</a:t>
              </a:r>
              <a:endParaRPr lang="zh-CN" sz="1000" b="1" dirty="0">
                <a:solidFill>
                  <a:srgbClr val="2A59DF"/>
                </a:solidFill>
                <a:latin typeface="微软雅黑" panose="020B0503020204020204" charset="-122"/>
                <a:ea typeface="微软雅黑" panose="020B0503020204020204" charset="-122"/>
                <a:sym typeface="HarmonyOS Sans SC Bold" panose="00000800000000000000" pitchFamily="2" charset="-122"/>
              </a:endParaRPr>
            </a:p>
          </p:txBody>
        </p:sp>
        <p:cxnSp>
          <p:nvCxnSpPr>
            <p:cNvPr id="194" name="直接连接符 256"/>
            <p:cNvCxnSpPr/>
            <p:nvPr>
              <p:custDataLst>
                <p:tags r:id="rId2"/>
              </p:custDataLst>
            </p:nvPr>
          </p:nvCxnSpPr>
          <p:spPr>
            <a:xfrm>
              <a:off x="4257" y="1712"/>
              <a:ext cx="5797" cy="0"/>
            </a:xfrm>
            <a:prstGeom prst="line">
              <a:avLst/>
            </a:prstGeom>
            <a:ln w="31750">
              <a:solidFill>
                <a:srgbClr val="1E54E3"/>
              </a:solidFill>
            </a:ln>
            <a:effectLst/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71" name="圆角矩形 70"/>
          <p:cNvSpPr/>
          <p:nvPr>
            <p:custDataLst>
              <p:tags r:id="rId3"/>
            </p:custDataLst>
          </p:nvPr>
        </p:nvSpPr>
        <p:spPr>
          <a:xfrm>
            <a:off x="385445" y="494665"/>
            <a:ext cx="5883275" cy="629920"/>
          </a:xfrm>
          <a:prstGeom prst="roundRect">
            <a:avLst>
              <a:gd name="adj" fmla="val 2948"/>
            </a:avLst>
          </a:prstGeom>
          <a:solidFill>
            <a:schemeClr val="bg1"/>
          </a:solidFill>
          <a:ln w="12700">
            <a:solidFill>
              <a:schemeClr val="accent1">
                <a:alpha val="61000"/>
              </a:schemeClr>
            </a:solidFill>
            <a:prstDash val="sysDash"/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p>
            <a:pPr lvl="0" algn="ctr">
              <a:lnSpc>
                <a:spcPct val="80000"/>
              </a:lnSpc>
              <a:buClrTx/>
              <a:buSzTx/>
              <a:buFontTx/>
            </a:pPr>
            <a:endParaRPr lang="zh-CN" altLang="en-US" sz="800" b="1">
              <a:solidFill>
                <a:schemeClr val="tx1">
                  <a:lumMod val="95000"/>
                  <a:lumOff val="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23" name="图片 122" descr="HTML5_Logo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5675" y="584835"/>
            <a:ext cx="443865" cy="443865"/>
          </a:xfrm>
          <a:prstGeom prst="rect">
            <a:avLst/>
          </a:prstGeom>
        </p:spPr>
      </p:pic>
      <p:pic>
        <p:nvPicPr>
          <p:cNvPr id="124" name="图片 123" descr="API请求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22791" t="16810" r="21711" b="13480"/>
          <a:stretch>
            <a:fillRect/>
          </a:stretch>
        </p:blipFill>
        <p:spPr>
          <a:xfrm>
            <a:off x="1935480" y="593090"/>
            <a:ext cx="535305" cy="427355"/>
          </a:xfrm>
          <a:prstGeom prst="rect">
            <a:avLst/>
          </a:prstGeom>
        </p:spPr>
      </p:pic>
      <p:sp>
        <p:nvSpPr>
          <p:cNvPr id="164" name="圆角矩形 163"/>
          <p:cNvSpPr/>
          <p:nvPr>
            <p:custDataLst>
              <p:tags r:id="rId8"/>
            </p:custDataLst>
          </p:nvPr>
        </p:nvSpPr>
        <p:spPr>
          <a:xfrm>
            <a:off x="385445" y="1322705"/>
            <a:ext cx="5883275" cy="3571240"/>
          </a:xfrm>
          <a:prstGeom prst="roundRect">
            <a:avLst>
              <a:gd name="adj" fmla="val 2948"/>
            </a:avLst>
          </a:prstGeom>
          <a:solidFill>
            <a:schemeClr val="bg1"/>
          </a:solidFill>
          <a:ln w="12700">
            <a:solidFill>
              <a:schemeClr val="accent1">
                <a:alpha val="61000"/>
              </a:schemeClr>
            </a:solidFill>
            <a:prstDash val="sysDash"/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p>
            <a:pPr lvl="0" algn="ctr">
              <a:lnSpc>
                <a:spcPct val="80000"/>
              </a:lnSpc>
              <a:buClrTx/>
              <a:buSzTx/>
              <a:buFontTx/>
            </a:pPr>
            <a:endParaRPr lang="zh-CN" altLang="en-US" sz="800" b="1">
              <a:solidFill>
                <a:schemeClr val="tx1">
                  <a:lumMod val="95000"/>
                  <a:lumOff val="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84" name="圆角矩形 183"/>
          <p:cNvSpPr/>
          <p:nvPr>
            <p:custDataLst>
              <p:tags r:id="rId9"/>
            </p:custDataLst>
          </p:nvPr>
        </p:nvSpPr>
        <p:spPr>
          <a:xfrm>
            <a:off x="537845" y="1461135"/>
            <a:ext cx="5525135" cy="758190"/>
          </a:xfrm>
          <a:prstGeom prst="roundRect">
            <a:avLst>
              <a:gd name="adj" fmla="val 5430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61000"/>
              </a:schemeClr>
            </a:solidFill>
            <a:prstDash val="sysDash"/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p>
            <a:pPr lvl="0" algn="ctr">
              <a:lnSpc>
                <a:spcPct val="80000"/>
              </a:lnSpc>
              <a:buClrTx/>
              <a:buSzTx/>
              <a:buFontTx/>
            </a:pPr>
            <a:endParaRPr lang="zh-CN" altLang="en-US" sz="800" b="1">
              <a:solidFill>
                <a:schemeClr val="tx1">
                  <a:lumMod val="95000"/>
                  <a:lumOff val="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200" name="组合 199"/>
          <p:cNvGrpSpPr/>
          <p:nvPr/>
        </p:nvGrpSpPr>
        <p:grpSpPr>
          <a:xfrm>
            <a:off x="549275" y="2351405"/>
            <a:ext cx="1738630" cy="2388870"/>
            <a:chOff x="966" y="5073"/>
            <a:chExt cx="2306" cy="3762"/>
          </a:xfrm>
        </p:grpSpPr>
        <p:sp>
          <p:nvSpPr>
            <p:cNvPr id="180" name="圆角矩形 179"/>
            <p:cNvSpPr/>
            <p:nvPr>
              <p:custDataLst>
                <p:tags r:id="rId10"/>
              </p:custDataLst>
            </p:nvPr>
          </p:nvSpPr>
          <p:spPr>
            <a:xfrm>
              <a:off x="970" y="5083"/>
              <a:ext cx="2303" cy="3753"/>
            </a:xfrm>
            <a:prstGeom prst="roundRect">
              <a:avLst>
                <a:gd name="adj" fmla="val 5430"/>
              </a:avLst>
            </a:prstGeom>
            <a:solidFill>
              <a:schemeClr val="accent1">
                <a:alpha val="10000"/>
              </a:schemeClr>
            </a:solidFill>
            <a:ln w="12700">
              <a:solidFill>
                <a:schemeClr val="accent1">
                  <a:alpha val="61000"/>
                </a:schemeClr>
              </a:solidFill>
              <a:prstDash val="sysDash"/>
            </a:ln>
          </p:spPr>
          <p:style>
            <a:lnRef idx="0">
              <a:srgbClr val="FFFFFF"/>
            </a:lnRef>
            <a:fillRef idx="3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p>
              <a:pPr lvl="0" algn="ctr">
                <a:lnSpc>
                  <a:spcPct val="80000"/>
                </a:lnSpc>
                <a:buClrTx/>
                <a:buSzTx/>
                <a:buFontTx/>
              </a:pPr>
              <a:endParaRPr lang="zh-CN" altLang="en-US" sz="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81" name="同侧圆角矩形 180"/>
            <p:cNvSpPr/>
            <p:nvPr/>
          </p:nvSpPr>
          <p:spPr>
            <a:xfrm>
              <a:off x="966" y="5073"/>
              <a:ext cx="2305" cy="312"/>
            </a:xfrm>
            <a:prstGeom prst="round2SameRect">
              <a:avLst>
                <a:gd name="adj1" fmla="val 28823"/>
                <a:gd name="adj2" fmla="val 0"/>
              </a:avLst>
            </a:prstGeom>
            <a:gradFill>
              <a:gsLst>
                <a:gs pos="0">
                  <a:srgbClr val="2957DE"/>
                </a:gs>
                <a:gs pos="100000">
                  <a:srgbClr val="598BF6"/>
                </a:gs>
              </a:gsLst>
              <a:lin ang="4500000" scaled="0"/>
            </a:gradFill>
            <a:ln w="60325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流量输出系统</a:t>
              </a:r>
              <a:endPara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179" name="同侧圆角矩形 178"/>
          <p:cNvSpPr/>
          <p:nvPr/>
        </p:nvSpPr>
        <p:spPr>
          <a:xfrm rot="16200000">
            <a:off x="257810" y="1741170"/>
            <a:ext cx="758190" cy="198120"/>
          </a:xfrm>
          <a:prstGeom prst="round2SameRect">
            <a:avLst>
              <a:gd name="adj1" fmla="val 28823"/>
              <a:gd name="adj2" fmla="val 0"/>
            </a:avLst>
          </a:prstGeom>
          <a:gradFill>
            <a:gsLst>
              <a:gs pos="0">
                <a:srgbClr val="2957DE"/>
              </a:gs>
              <a:gs pos="100000">
                <a:srgbClr val="598BF6"/>
              </a:gs>
            </a:gsLst>
            <a:lin ang="4500000" scaled="0"/>
          </a:gradFill>
          <a:ln w="6032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eaVert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7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用户决策系统</a:t>
            </a:r>
            <a:endParaRPr lang="en-US" altLang="zh-CN" sz="7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202" name="组合 201"/>
          <p:cNvGrpSpPr/>
          <p:nvPr/>
        </p:nvGrpSpPr>
        <p:grpSpPr>
          <a:xfrm>
            <a:off x="2437130" y="2345055"/>
            <a:ext cx="1738630" cy="2388870"/>
            <a:chOff x="3462" y="5073"/>
            <a:chExt cx="2306" cy="3762"/>
          </a:xfrm>
        </p:grpSpPr>
        <p:sp>
          <p:nvSpPr>
            <p:cNvPr id="185" name="圆角矩形 184"/>
            <p:cNvSpPr/>
            <p:nvPr>
              <p:custDataLst>
                <p:tags r:id="rId11"/>
              </p:custDataLst>
            </p:nvPr>
          </p:nvSpPr>
          <p:spPr>
            <a:xfrm>
              <a:off x="3466" y="5083"/>
              <a:ext cx="2303" cy="3753"/>
            </a:xfrm>
            <a:prstGeom prst="roundRect">
              <a:avLst>
                <a:gd name="adj" fmla="val 5430"/>
              </a:avLst>
            </a:prstGeom>
            <a:solidFill>
              <a:schemeClr val="accent1">
                <a:alpha val="10000"/>
              </a:schemeClr>
            </a:solidFill>
            <a:ln w="12700">
              <a:solidFill>
                <a:schemeClr val="accent1">
                  <a:alpha val="61000"/>
                </a:schemeClr>
              </a:solidFill>
              <a:prstDash val="sysDash"/>
            </a:ln>
          </p:spPr>
          <p:style>
            <a:lnRef idx="0">
              <a:srgbClr val="FFFFFF"/>
            </a:lnRef>
            <a:fillRef idx="3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p>
              <a:pPr lvl="0" algn="ctr">
                <a:lnSpc>
                  <a:spcPct val="80000"/>
                </a:lnSpc>
                <a:buClrTx/>
                <a:buSzTx/>
                <a:buFontTx/>
              </a:pPr>
              <a:endParaRPr lang="zh-CN" altLang="en-US" sz="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87" name="同侧圆角矩形 186"/>
            <p:cNvSpPr/>
            <p:nvPr/>
          </p:nvSpPr>
          <p:spPr>
            <a:xfrm>
              <a:off x="3462" y="5073"/>
              <a:ext cx="2305" cy="312"/>
            </a:xfrm>
            <a:prstGeom prst="round2SameRect">
              <a:avLst>
                <a:gd name="adj1" fmla="val 28823"/>
                <a:gd name="adj2" fmla="val 0"/>
              </a:avLst>
            </a:prstGeom>
            <a:gradFill>
              <a:gsLst>
                <a:gs pos="0">
                  <a:srgbClr val="2957DE"/>
                </a:gs>
                <a:gs pos="100000">
                  <a:srgbClr val="598BF6"/>
                </a:gs>
              </a:gsLst>
              <a:lin ang="4500000" scaled="0"/>
            </a:gradFill>
            <a:ln w="60325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资金撮合系统</a:t>
              </a:r>
              <a:endPara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203" name="组合 202"/>
          <p:cNvGrpSpPr/>
          <p:nvPr/>
        </p:nvGrpSpPr>
        <p:grpSpPr>
          <a:xfrm>
            <a:off x="4324985" y="2345055"/>
            <a:ext cx="1738630" cy="2388870"/>
            <a:chOff x="6350" y="5073"/>
            <a:chExt cx="2306" cy="3762"/>
          </a:xfrm>
        </p:grpSpPr>
        <p:sp>
          <p:nvSpPr>
            <p:cNvPr id="193" name="圆角矩形 192"/>
            <p:cNvSpPr/>
            <p:nvPr>
              <p:custDataLst>
                <p:tags r:id="rId12"/>
              </p:custDataLst>
            </p:nvPr>
          </p:nvSpPr>
          <p:spPr>
            <a:xfrm>
              <a:off x="6354" y="5083"/>
              <a:ext cx="2303" cy="3753"/>
            </a:xfrm>
            <a:prstGeom prst="roundRect">
              <a:avLst>
                <a:gd name="adj" fmla="val 5430"/>
              </a:avLst>
            </a:prstGeom>
            <a:solidFill>
              <a:schemeClr val="accent1">
                <a:alpha val="10000"/>
              </a:schemeClr>
            </a:solidFill>
            <a:ln w="12700">
              <a:solidFill>
                <a:schemeClr val="accent1">
                  <a:alpha val="61000"/>
                </a:schemeClr>
              </a:solidFill>
              <a:prstDash val="sysDash"/>
            </a:ln>
          </p:spPr>
          <p:style>
            <a:lnRef idx="0">
              <a:srgbClr val="FFFFFF"/>
            </a:lnRef>
            <a:fillRef idx="3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p>
              <a:pPr lvl="0" algn="ctr">
                <a:lnSpc>
                  <a:spcPct val="80000"/>
                </a:lnSpc>
                <a:buClrTx/>
                <a:buSzTx/>
                <a:buFontTx/>
              </a:pPr>
              <a:endParaRPr lang="zh-CN" altLang="en-US" sz="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98" name="同侧圆角矩形 197"/>
            <p:cNvSpPr/>
            <p:nvPr/>
          </p:nvSpPr>
          <p:spPr>
            <a:xfrm>
              <a:off x="6350" y="5073"/>
              <a:ext cx="2305" cy="312"/>
            </a:xfrm>
            <a:prstGeom prst="round2SameRect">
              <a:avLst>
                <a:gd name="adj1" fmla="val 28823"/>
                <a:gd name="adj2" fmla="val 0"/>
              </a:avLst>
            </a:prstGeom>
            <a:gradFill>
              <a:gsLst>
                <a:gs pos="0">
                  <a:srgbClr val="2957DE"/>
                </a:gs>
                <a:gs pos="100000">
                  <a:srgbClr val="598BF6"/>
                </a:gs>
              </a:gsLst>
              <a:lin ang="4500000" scaled="0"/>
            </a:gradFill>
            <a:ln w="60325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融担增信系统</a:t>
              </a:r>
              <a:endPara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 rot="0">
            <a:off x="6581775" y="187960"/>
            <a:ext cx="4026535" cy="4893945"/>
            <a:chOff x="10225" y="1676"/>
            <a:chExt cx="7392" cy="8890"/>
          </a:xfrm>
        </p:grpSpPr>
        <p:grpSp>
          <p:nvGrpSpPr>
            <p:cNvPr id="23" name="组合 22"/>
            <p:cNvGrpSpPr/>
            <p:nvPr/>
          </p:nvGrpSpPr>
          <p:grpSpPr>
            <a:xfrm>
              <a:off x="10225" y="1676"/>
              <a:ext cx="7393" cy="8890"/>
              <a:chOff x="10225" y="1676"/>
              <a:chExt cx="1928" cy="8890"/>
            </a:xfrm>
          </p:grpSpPr>
          <p:sp>
            <p:nvSpPr>
              <p:cNvPr id="316" name="圆角矩形 315"/>
              <p:cNvSpPr/>
              <p:nvPr>
                <p:custDataLst>
                  <p:tags r:id="rId13"/>
                </p:custDataLst>
              </p:nvPr>
            </p:nvSpPr>
            <p:spPr>
              <a:xfrm>
                <a:off x="10225" y="1676"/>
                <a:ext cx="1928" cy="8891"/>
              </a:xfrm>
              <a:prstGeom prst="roundRect">
                <a:avLst>
                  <a:gd name="adj" fmla="val 62"/>
                </a:avLst>
              </a:prstGeom>
              <a:solidFill>
                <a:schemeClr val="accent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cxnSp>
            <p:nvCxnSpPr>
              <p:cNvPr id="10" name="直接连接符 314"/>
              <p:cNvCxnSpPr/>
              <p:nvPr>
                <p:custDataLst>
                  <p:tags r:id="rId14"/>
                </p:custDataLst>
              </p:nvPr>
            </p:nvCxnSpPr>
            <p:spPr>
              <a:xfrm flipV="1">
                <a:off x="10225" y="1690"/>
                <a:ext cx="1928" cy="7"/>
              </a:xfrm>
              <a:prstGeom prst="line">
                <a:avLst/>
              </a:prstGeom>
              <a:ln w="31750">
                <a:solidFill>
                  <a:srgbClr val="FA9401"/>
                </a:solidFill>
              </a:ln>
              <a:effectLst/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156" name="文本框 16"/>
            <p:cNvSpPr txBox="1"/>
            <p:nvPr>
              <p:custDataLst>
                <p:tags r:id="rId15"/>
              </p:custDataLst>
            </p:nvPr>
          </p:nvSpPr>
          <p:spPr>
            <a:xfrm>
              <a:off x="10233" y="1711"/>
              <a:ext cx="7385" cy="340"/>
            </a:xfrm>
            <a:prstGeom prst="rect">
              <a:avLst/>
            </a:prstGeom>
            <a:noFill/>
            <a:effectLst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>
                <a:defRPr sz="2400">
                  <a:latin typeface="汉仪菱心体简" panose="02010400000101010101" charset="-122"/>
                  <a:ea typeface="汉仪菱心体简" panose="02010400000101010101" charset="-122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buClrTx/>
                <a:buSzTx/>
                <a:buFontTx/>
              </a:pPr>
              <a:r>
                <a:rPr lang="zh-CN" altLang="en-US" sz="1000" b="1">
                  <a:solidFill>
                    <a:srgbClr val="2A59DF"/>
                  </a:solidFill>
                  <a:latin typeface="微软雅黑" panose="020B0503020204020204" charset="-122"/>
                  <a:ea typeface="微软雅黑" panose="020B0503020204020204" charset="-122"/>
                  <a:sym typeface="HarmonyOS Sans SC Bold" panose="00000800000000000000" pitchFamily="2" charset="-122"/>
                </a:rPr>
                <a:t>贷后</a:t>
              </a:r>
              <a:endParaRPr lang="zh-CN" altLang="en-US" sz="1000" b="1">
                <a:solidFill>
                  <a:srgbClr val="2A59DF"/>
                </a:solidFill>
                <a:latin typeface="微软雅黑" panose="020B0503020204020204" charset="-122"/>
                <a:ea typeface="微软雅黑" panose="020B0503020204020204" charset="-122"/>
                <a:sym typeface="HarmonyOS Sans SC Bold" panose="00000800000000000000" pitchFamily="2" charset="-122"/>
              </a:endParaRPr>
            </a:p>
          </p:txBody>
        </p:sp>
      </p:grpSp>
      <p:sp>
        <p:nvSpPr>
          <p:cNvPr id="204" name="圆角矩形 203"/>
          <p:cNvSpPr/>
          <p:nvPr>
            <p:custDataLst>
              <p:tags r:id="rId16"/>
            </p:custDataLst>
          </p:nvPr>
        </p:nvSpPr>
        <p:spPr>
          <a:xfrm>
            <a:off x="6728460" y="494665"/>
            <a:ext cx="1764030" cy="1191260"/>
          </a:xfrm>
          <a:prstGeom prst="roundRect">
            <a:avLst>
              <a:gd name="adj" fmla="val 2948"/>
            </a:avLst>
          </a:prstGeom>
          <a:solidFill>
            <a:schemeClr val="bg1"/>
          </a:solidFill>
          <a:ln w="12700">
            <a:solidFill>
              <a:schemeClr val="accent1">
                <a:alpha val="61000"/>
              </a:schemeClr>
            </a:solidFill>
            <a:prstDash val="sysDash"/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p>
            <a:pPr lvl="0" algn="ctr">
              <a:lnSpc>
                <a:spcPct val="80000"/>
              </a:lnSpc>
              <a:buClrTx/>
              <a:buSzTx/>
              <a:buFontTx/>
            </a:pPr>
            <a:endParaRPr lang="zh-CN" altLang="en-US" sz="800" b="1">
              <a:solidFill>
                <a:schemeClr val="tx1">
                  <a:lumMod val="95000"/>
                  <a:lumOff val="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5" name="圆角矩形 204"/>
          <p:cNvSpPr/>
          <p:nvPr>
            <p:custDataLst>
              <p:tags r:id="rId17"/>
            </p:custDataLst>
          </p:nvPr>
        </p:nvSpPr>
        <p:spPr>
          <a:xfrm>
            <a:off x="6732270" y="1882140"/>
            <a:ext cx="3753485" cy="3011805"/>
          </a:xfrm>
          <a:prstGeom prst="roundRect">
            <a:avLst>
              <a:gd name="adj" fmla="val 2948"/>
            </a:avLst>
          </a:prstGeom>
          <a:noFill/>
          <a:ln w="12700">
            <a:solidFill>
              <a:schemeClr val="accent1">
                <a:alpha val="61000"/>
              </a:schemeClr>
            </a:solidFill>
            <a:prstDash val="sysDash"/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p>
            <a:pPr lvl="0" algn="ctr">
              <a:lnSpc>
                <a:spcPct val="80000"/>
              </a:lnSpc>
              <a:buClrTx/>
              <a:buSzTx/>
              <a:buFontTx/>
            </a:pPr>
            <a:endParaRPr lang="zh-CN" altLang="en-US" sz="800" b="1">
              <a:solidFill>
                <a:schemeClr val="tx1">
                  <a:lumMod val="95000"/>
                  <a:lumOff val="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8" name="圆角矩形 207"/>
          <p:cNvSpPr/>
          <p:nvPr>
            <p:custDataLst>
              <p:tags r:id="rId18"/>
            </p:custDataLst>
          </p:nvPr>
        </p:nvSpPr>
        <p:spPr>
          <a:xfrm>
            <a:off x="10785475" y="187960"/>
            <a:ext cx="1224280" cy="5645785"/>
          </a:xfrm>
          <a:prstGeom prst="roundRect">
            <a:avLst>
              <a:gd name="adj" fmla="val 62"/>
            </a:avLst>
          </a:prstGeom>
          <a:solidFill>
            <a:schemeClr val="accent2">
              <a:alpha val="1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209" name="直接连接符 314"/>
          <p:cNvCxnSpPr/>
          <p:nvPr>
            <p:custDataLst>
              <p:tags r:id="rId19"/>
            </p:custDataLst>
          </p:nvPr>
        </p:nvCxnSpPr>
        <p:spPr>
          <a:xfrm flipV="1">
            <a:off x="10785475" y="196850"/>
            <a:ext cx="1224280" cy="4445"/>
          </a:xfrm>
          <a:prstGeom prst="line">
            <a:avLst/>
          </a:prstGeom>
          <a:ln w="31750">
            <a:solidFill>
              <a:srgbClr val="FA9401"/>
            </a:solidFill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3" name="圆角矩形 222"/>
          <p:cNvSpPr/>
          <p:nvPr>
            <p:custDataLst>
              <p:tags r:id="rId20"/>
            </p:custDataLst>
          </p:nvPr>
        </p:nvSpPr>
        <p:spPr>
          <a:xfrm>
            <a:off x="10863580" y="477520"/>
            <a:ext cx="568960" cy="3168015"/>
          </a:xfrm>
          <a:prstGeom prst="roundRect">
            <a:avLst>
              <a:gd name="adj" fmla="val 5189"/>
            </a:avLst>
          </a:prstGeom>
          <a:solidFill>
            <a:schemeClr val="bg1"/>
          </a:solidFill>
          <a:ln w="12700" cap="flat" cmpd="sng">
            <a:noFill/>
            <a:prstDash val="solid"/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lstStyle/>
          <a:p>
            <a:pPr lvl="0" algn="ctr">
              <a:lnSpc>
                <a:spcPct val="160000"/>
              </a:lnSpc>
              <a:buClrTx/>
              <a:buSzTx/>
              <a:buFontTx/>
            </a:pPr>
            <a:endParaRPr lang="zh-CN" altLang="en-US" sz="800" b="1">
              <a:solidFill>
                <a:schemeClr val="tx1">
                  <a:lumMod val="95000"/>
                  <a:lumOff val="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24" name="圆角矩形 223"/>
          <p:cNvSpPr/>
          <p:nvPr>
            <p:custDataLst>
              <p:tags r:id="rId21"/>
            </p:custDataLst>
          </p:nvPr>
        </p:nvSpPr>
        <p:spPr>
          <a:xfrm>
            <a:off x="10930255" y="741680"/>
            <a:ext cx="434975" cy="252095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7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机构管理</a:t>
            </a:r>
            <a:endParaRPr lang="zh-CN" altLang="en-US" sz="70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25" name="圆角矩形 224"/>
          <p:cNvSpPr/>
          <p:nvPr>
            <p:custDataLst>
              <p:tags r:id="rId22"/>
            </p:custDataLst>
          </p:nvPr>
        </p:nvSpPr>
        <p:spPr>
          <a:xfrm>
            <a:off x="10930255" y="1029335"/>
            <a:ext cx="434975" cy="252095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7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用例管理</a:t>
            </a:r>
            <a:endParaRPr lang="zh-CN" altLang="en-US" sz="70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26" name="圆角矩形 225"/>
          <p:cNvSpPr/>
          <p:nvPr>
            <p:custDataLst>
              <p:tags r:id="rId23"/>
            </p:custDataLst>
          </p:nvPr>
        </p:nvSpPr>
        <p:spPr>
          <a:xfrm>
            <a:off x="10930255" y="1308100"/>
            <a:ext cx="434975" cy="252095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7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场景管理</a:t>
            </a:r>
            <a:endParaRPr lang="zh-CN" altLang="en-US" sz="70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27" name="圆角矩形 226"/>
          <p:cNvSpPr/>
          <p:nvPr>
            <p:custDataLst>
              <p:tags r:id="rId24"/>
            </p:custDataLst>
          </p:nvPr>
        </p:nvSpPr>
        <p:spPr>
          <a:xfrm>
            <a:off x="10930255" y="1597660"/>
            <a:ext cx="434975" cy="252095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7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模板管理</a:t>
            </a:r>
            <a:endParaRPr lang="zh-CN" altLang="en-US" sz="70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28" name="圆角矩形 227"/>
          <p:cNvSpPr/>
          <p:nvPr>
            <p:custDataLst>
              <p:tags r:id="rId25"/>
            </p:custDataLst>
          </p:nvPr>
        </p:nvSpPr>
        <p:spPr>
          <a:xfrm>
            <a:off x="10930255" y="1882775"/>
            <a:ext cx="434975" cy="252095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7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断言设计</a:t>
            </a:r>
            <a:endParaRPr lang="zh-CN" altLang="en-US" sz="70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29" name="圆角矩形 228"/>
          <p:cNvSpPr/>
          <p:nvPr>
            <p:custDataLst>
              <p:tags r:id="rId26"/>
            </p:custDataLst>
          </p:nvPr>
        </p:nvSpPr>
        <p:spPr>
          <a:xfrm>
            <a:off x="10930255" y="2167890"/>
            <a:ext cx="434975" cy="252095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7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自助联调</a:t>
            </a:r>
            <a:endParaRPr lang="zh-CN" altLang="en-US" sz="70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30" name="圆角矩形 229"/>
          <p:cNvSpPr/>
          <p:nvPr>
            <p:custDataLst>
              <p:tags r:id="rId27"/>
            </p:custDataLst>
          </p:nvPr>
        </p:nvSpPr>
        <p:spPr>
          <a:xfrm>
            <a:off x="10930255" y="2445385"/>
            <a:ext cx="434975" cy="252095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7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联调报告</a:t>
            </a:r>
            <a:endParaRPr lang="zh-CN" altLang="en-US" sz="70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31" name="圆角矩形 230"/>
          <p:cNvSpPr/>
          <p:nvPr>
            <p:custDataLst>
              <p:tags r:id="rId28"/>
            </p:custDataLst>
          </p:nvPr>
        </p:nvSpPr>
        <p:spPr>
          <a:xfrm>
            <a:off x="10930255" y="2734945"/>
            <a:ext cx="434975" cy="252095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7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自助日切</a:t>
            </a:r>
            <a:endParaRPr lang="zh-CN" altLang="en-US" sz="70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32" name="圆角矩形 231"/>
          <p:cNvSpPr/>
          <p:nvPr>
            <p:custDataLst>
              <p:tags r:id="rId29"/>
            </p:custDataLst>
          </p:nvPr>
        </p:nvSpPr>
        <p:spPr>
          <a:xfrm>
            <a:off x="10930255" y="3018790"/>
            <a:ext cx="434975" cy="252095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7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自助核算</a:t>
            </a:r>
            <a:endParaRPr lang="zh-CN" altLang="en-US" sz="70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33" name="圆角矩形 232"/>
          <p:cNvSpPr/>
          <p:nvPr>
            <p:custDataLst>
              <p:tags r:id="rId30"/>
            </p:custDataLst>
          </p:nvPr>
        </p:nvSpPr>
        <p:spPr>
          <a:xfrm>
            <a:off x="10930255" y="3303905"/>
            <a:ext cx="434975" cy="252095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7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自助文件</a:t>
            </a:r>
            <a:endParaRPr lang="zh-CN" altLang="en-US" sz="70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34" name="右箭头 233"/>
          <p:cNvSpPr/>
          <p:nvPr>
            <p:custDataLst>
              <p:tags r:id="rId31"/>
            </p:custDataLst>
          </p:nvPr>
        </p:nvSpPr>
        <p:spPr>
          <a:xfrm>
            <a:off x="10608310" y="1985010"/>
            <a:ext cx="200660" cy="288290"/>
          </a:xfrm>
          <a:prstGeom prst="rightArrow">
            <a:avLst/>
          </a:prstGeom>
          <a:solidFill>
            <a:srgbClr val="F5B482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t" anchorCtr="0" forceAA="0" compatLnSpc="1">
            <a:noAutofit/>
          </a:bodyPr>
          <a:lstStyle/>
          <a:p>
            <a:pPr lvl="0" algn="ctr">
              <a:lnSpc>
                <a:spcPct val="150000"/>
              </a:lnSpc>
              <a:buClrTx/>
              <a:buSzTx/>
              <a:buFontTx/>
            </a:pPr>
            <a:endParaRPr lang="zh-CN" altLang="en-US" sz="1400" b="1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FAFAFA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35" name="圆角矩形 234"/>
          <p:cNvSpPr/>
          <p:nvPr>
            <p:custDataLst>
              <p:tags r:id="rId32"/>
            </p:custDataLst>
          </p:nvPr>
        </p:nvSpPr>
        <p:spPr>
          <a:xfrm>
            <a:off x="11477625" y="477520"/>
            <a:ext cx="467995" cy="5255895"/>
          </a:xfrm>
          <a:prstGeom prst="roundRect">
            <a:avLst>
              <a:gd name="adj" fmla="val 5189"/>
            </a:avLst>
          </a:prstGeom>
          <a:solidFill>
            <a:schemeClr val="bg1"/>
          </a:solidFill>
          <a:ln w="12700" cap="flat" cmpd="sng">
            <a:noFill/>
            <a:prstDash val="solid"/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lstStyle/>
          <a:p>
            <a:pPr lvl="0" algn="ctr">
              <a:lnSpc>
                <a:spcPct val="90000"/>
              </a:lnSpc>
              <a:buClrTx/>
              <a:buSzTx/>
              <a:buFontTx/>
            </a:pPr>
            <a:endParaRPr lang="zh-CN" altLang="en-US" sz="900" b="1">
              <a:solidFill>
                <a:schemeClr val="tx1">
                  <a:lumMod val="95000"/>
                  <a:lumOff val="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236" name="组合 235"/>
          <p:cNvGrpSpPr/>
          <p:nvPr/>
        </p:nvGrpSpPr>
        <p:grpSpPr>
          <a:xfrm>
            <a:off x="11469370" y="548005"/>
            <a:ext cx="504190" cy="457200"/>
            <a:chOff x="11289" y="2393"/>
            <a:chExt cx="794" cy="720"/>
          </a:xfrm>
        </p:grpSpPr>
        <p:sp>
          <p:nvSpPr>
            <p:cNvPr id="237" name="文本框 236"/>
            <p:cNvSpPr txBox="1"/>
            <p:nvPr/>
          </p:nvSpPr>
          <p:spPr>
            <a:xfrm>
              <a:off x="11289" y="2825"/>
              <a:ext cx="794" cy="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600"/>
                <a:t>兰州银行</a:t>
              </a:r>
              <a:endParaRPr lang="zh-CN" altLang="en-US" sz="600"/>
            </a:p>
          </p:txBody>
        </p:sp>
        <p:pic>
          <p:nvPicPr>
            <p:cNvPr id="238" name="图片 237" descr="201509211738519330nGz2c2x"/>
            <p:cNvPicPr>
              <a:picLocks noChangeAspect="1"/>
            </p:cNvPicPr>
            <p:nvPr/>
          </p:nvPicPr>
          <p:blipFill>
            <a:blip r:embed="rId33"/>
            <a:srcRect r="73184"/>
            <a:stretch>
              <a:fillRect/>
            </a:stretch>
          </p:blipFill>
          <p:spPr>
            <a:xfrm>
              <a:off x="11488" y="2393"/>
              <a:ext cx="397" cy="436"/>
            </a:xfrm>
            <a:prstGeom prst="rect">
              <a:avLst/>
            </a:prstGeom>
          </p:spPr>
        </p:pic>
      </p:grpSp>
      <p:grpSp>
        <p:nvGrpSpPr>
          <p:cNvPr id="239" name="组合 238"/>
          <p:cNvGrpSpPr/>
          <p:nvPr/>
        </p:nvGrpSpPr>
        <p:grpSpPr>
          <a:xfrm>
            <a:off x="11469370" y="1234440"/>
            <a:ext cx="504190" cy="450215"/>
            <a:chOff x="11314" y="3938"/>
            <a:chExt cx="794" cy="709"/>
          </a:xfrm>
        </p:grpSpPr>
        <p:sp>
          <p:nvSpPr>
            <p:cNvPr id="240" name="文本框 239"/>
            <p:cNvSpPr txBox="1"/>
            <p:nvPr/>
          </p:nvSpPr>
          <p:spPr>
            <a:xfrm>
              <a:off x="11314" y="4359"/>
              <a:ext cx="794" cy="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600"/>
                <a:t>昆仑银行</a:t>
              </a:r>
              <a:endParaRPr lang="zh-CN" altLang="en-US" sz="600"/>
            </a:p>
          </p:txBody>
        </p:sp>
        <p:pic>
          <p:nvPicPr>
            <p:cNvPr id="241" name="图片 240"/>
            <p:cNvPicPr>
              <a:picLocks noChangeAspect="1"/>
            </p:cNvPicPr>
            <p:nvPr>
              <p:custDataLst>
                <p:tags r:id="rId34"/>
              </p:custDataLst>
            </p:nvPr>
          </p:nvPicPr>
          <p:blipFill>
            <a:blip r:embed="rId35"/>
            <a:stretch>
              <a:fillRect/>
            </a:stretch>
          </p:blipFill>
          <p:spPr>
            <a:xfrm>
              <a:off x="11513" y="3938"/>
              <a:ext cx="397" cy="421"/>
            </a:xfrm>
            <a:prstGeom prst="rect">
              <a:avLst/>
            </a:prstGeom>
          </p:spPr>
        </p:pic>
      </p:grpSp>
      <p:grpSp>
        <p:nvGrpSpPr>
          <p:cNvPr id="242" name="组合 241"/>
          <p:cNvGrpSpPr/>
          <p:nvPr/>
        </p:nvGrpSpPr>
        <p:grpSpPr>
          <a:xfrm>
            <a:off x="11469370" y="1913890"/>
            <a:ext cx="504190" cy="456565"/>
            <a:chOff x="11314" y="5310"/>
            <a:chExt cx="794" cy="719"/>
          </a:xfrm>
        </p:grpSpPr>
        <p:sp>
          <p:nvSpPr>
            <p:cNvPr id="243" name="文本框 242"/>
            <p:cNvSpPr txBox="1"/>
            <p:nvPr/>
          </p:nvSpPr>
          <p:spPr>
            <a:xfrm>
              <a:off x="11314" y="5741"/>
              <a:ext cx="794" cy="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600"/>
                <a:t>宁波通商</a:t>
              </a:r>
              <a:endParaRPr lang="zh-CN" altLang="en-US" sz="600"/>
            </a:p>
          </p:txBody>
        </p:sp>
        <p:pic>
          <p:nvPicPr>
            <p:cNvPr id="244" name="图片 243"/>
            <p:cNvPicPr>
              <a:picLocks noChangeAspect="1"/>
            </p:cNvPicPr>
            <p:nvPr>
              <p:custDataLst>
                <p:tags r:id="rId36"/>
              </p:custDataLst>
            </p:nvPr>
          </p:nvPicPr>
          <p:blipFill>
            <a:blip r:embed="rId37"/>
            <a:stretch>
              <a:fillRect/>
            </a:stretch>
          </p:blipFill>
          <p:spPr>
            <a:xfrm>
              <a:off x="11513" y="5310"/>
              <a:ext cx="397" cy="425"/>
            </a:xfrm>
            <a:prstGeom prst="rect">
              <a:avLst/>
            </a:prstGeom>
          </p:spPr>
        </p:pic>
      </p:grpSp>
      <p:grpSp>
        <p:nvGrpSpPr>
          <p:cNvPr id="245" name="组合 244"/>
          <p:cNvGrpSpPr/>
          <p:nvPr/>
        </p:nvGrpSpPr>
        <p:grpSpPr>
          <a:xfrm>
            <a:off x="11469370" y="3279775"/>
            <a:ext cx="504190" cy="457835"/>
            <a:chOff x="11289" y="7924"/>
            <a:chExt cx="794" cy="721"/>
          </a:xfrm>
        </p:grpSpPr>
        <p:sp>
          <p:nvSpPr>
            <p:cNvPr id="246" name="文本框 245"/>
            <p:cNvSpPr txBox="1"/>
            <p:nvPr/>
          </p:nvSpPr>
          <p:spPr>
            <a:xfrm>
              <a:off x="11289" y="8357"/>
              <a:ext cx="794" cy="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600"/>
                <a:t>长江商业</a:t>
              </a:r>
              <a:endParaRPr lang="zh-CN" altLang="en-US" sz="600"/>
            </a:p>
          </p:txBody>
        </p:sp>
        <p:pic>
          <p:nvPicPr>
            <p:cNvPr id="247" name="图片 246"/>
            <p:cNvPicPr>
              <a:picLocks noChangeAspect="1"/>
            </p:cNvPicPr>
            <p:nvPr>
              <p:custDataLst>
                <p:tags r:id="rId38"/>
              </p:custDataLst>
            </p:nvPr>
          </p:nvPicPr>
          <p:blipFill>
            <a:blip r:embed="rId39"/>
            <a:stretch>
              <a:fillRect/>
            </a:stretch>
          </p:blipFill>
          <p:spPr>
            <a:xfrm>
              <a:off x="11488" y="7924"/>
              <a:ext cx="397" cy="430"/>
            </a:xfrm>
            <a:prstGeom prst="rect">
              <a:avLst/>
            </a:prstGeom>
          </p:spPr>
        </p:pic>
      </p:grpSp>
      <p:grpSp>
        <p:nvGrpSpPr>
          <p:cNvPr id="248" name="组合 247"/>
          <p:cNvGrpSpPr/>
          <p:nvPr/>
        </p:nvGrpSpPr>
        <p:grpSpPr>
          <a:xfrm>
            <a:off x="11469370" y="2599690"/>
            <a:ext cx="504190" cy="450850"/>
            <a:chOff x="11315" y="6640"/>
            <a:chExt cx="794" cy="710"/>
          </a:xfrm>
        </p:grpSpPr>
        <p:sp>
          <p:nvSpPr>
            <p:cNvPr id="249" name="文本框 248"/>
            <p:cNvSpPr txBox="1"/>
            <p:nvPr/>
          </p:nvSpPr>
          <p:spPr>
            <a:xfrm>
              <a:off x="11315" y="7062"/>
              <a:ext cx="794" cy="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600"/>
                <a:t>小米消金</a:t>
              </a:r>
              <a:endParaRPr lang="zh-CN" altLang="en-US" sz="600"/>
            </a:p>
          </p:txBody>
        </p:sp>
        <p:pic>
          <p:nvPicPr>
            <p:cNvPr id="250" name="图片 249"/>
            <p:cNvPicPr>
              <a:picLocks noChangeAspect="1"/>
            </p:cNvPicPr>
            <p:nvPr>
              <p:custDataLst>
                <p:tags r:id="rId40"/>
              </p:custDataLst>
            </p:nvPr>
          </p:nvPicPr>
          <p:blipFill>
            <a:blip r:embed="rId41"/>
            <a:stretch>
              <a:fillRect/>
            </a:stretch>
          </p:blipFill>
          <p:spPr>
            <a:xfrm>
              <a:off x="11514" y="6640"/>
              <a:ext cx="397" cy="422"/>
            </a:xfrm>
            <a:prstGeom prst="rect">
              <a:avLst/>
            </a:prstGeom>
          </p:spPr>
        </p:pic>
      </p:grpSp>
      <p:sp>
        <p:nvSpPr>
          <p:cNvPr id="251" name="圆角矩形 250"/>
          <p:cNvSpPr/>
          <p:nvPr>
            <p:custDataLst>
              <p:tags r:id="rId42"/>
            </p:custDataLst>
          </p:nvPr>
        </p:nvSpPr>
        <p:spPr>
          <a:xfrm>
            <a:off x="10863580" y="3718560"/>
            <a:ext cx="568960" cy="2014855"/>
          </a:xfrm>
          <a:prstGeom prst="roundRect">
            <a:avLst>
              <a:gd name="adj" fmla="val 5189"/>
            </a:avLst>
          </a:prstGeom>
          <a:solidFill>
            <a:schemeClr val="bg1"/>
          </a:solidFill>
          <a:ln w="12700" cap="flat" cmpd="sng">
            <a:noFill/>
            <a:prstDash val="solid"/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lstStyle/>
          <a:p>
            <a:pPr lvl="0" algn="ctr">
              <a:lnSpc>
                <a:spcPct val="160000"/>
              </a:lnSpc>
              <a:buClrTx/>
              <a:buSzTx/>
              <a:buFontTx/>
            </a:pPr>
            <a:endParaRPr lang="zh-CN" altLang="en-US" sz="800" b="1">
              <a:solidFill>
                <a:schemeClr val="tx1">
                  <a:lumMod val="95000"/>
                  <a:lumOff val="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52" name="圆角矩形 251"/>
          <p:cNvSpPr/>
          <p:nvPr>
            <p:custDataLst>
              <p:tags r:id="rId43"/>
            </p:custDataLst>
          </p:nvPr>
        </p:nvSpPr>
        <p:spPr>
          <a:xfrm>
            <a:off x="10930255" y="3973830"/>
            <a:ext cx="434975" cy="252095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7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资金查询</a:t>
            </a:r>
            <a:endParaRPr lang="zh-CN" altLang="en-US" sz="70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53" name="圆角矩形 252"/>
          <p:cNvSpPr/>
          <p:nvPr>
            <p:custDataLst>
              <p:tags r:id="rId44"/>
            </p:custDataLst>
          </p:nvPr>
        </p:nvSpPr>
        <p:spPr>
          <a:xfrm>
            <a:off x="10930255" y="4261485"/>
            <a:ext cx="434975" cy="252095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7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资产查询</a:t>
            </a:r>
            <a:endParaRPr lang="zh-CN" altLang="en-US" sz="70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54" name="圆角矩形 253"/>
          <p:cNvSpPr/>
          <p:nvPr>
            <p:custDataLst>
              <p:tags r:id="rId45"/>
            </p:custDataLst>
          </p:nvPr>
        </p:nvSpPr>
        <p:spPr>
          <a:xfrm>
            <a:off x="10930255" y="4540250"/>
            <a:ext cx="434975" cy="252095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7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展业态势</a:t>
            </a:r>
            <a:endParaRPr lang="zh-CN" altLang="en-US" sz="70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55" name="圆角矩形 254"/>
          <p:cNvSpPr/>
          <p:nvPr>
            <p:custDataLst>
              <p:tags r:id="rId46"/>
            </p:custDataLst>
          </p:nvPr>
        </p:nvSpPr>
        <p:spPr>
          <a:xfrm>
            <a:off x="10930255" y="4829810"/>
            <a:ext cx="434975" cy="252095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7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业务提醒</a:t>
            </a:r>
            <a:endParaRPr lang="zh-CN" altLang="en-US" sz="70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56" name="圆角矩形 255"/>
          <p:cNvSpPr/>
          <p:nvPr>
            <p:custDataLst>
              <p:tags r:id="rId47"/>
            </p:custDataLst>
          </p:nvPr>
        </p:nvSpPr>
        <p:spPr>
          <a:xfrm>
            <a:off x="10930255" y="5114925"/>
            <a:ext cx="434975" cy="252095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7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业务工单</a:t>
            </a:r>
            <a:endParaRPr lang="zh-CN" altLang="en-US" sz="70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57" name="圆角矩形 256"/>
          <p:cNvSpPr/>
          <p:nvPr>
            <p:custDataLst>
              <p:tags r:id="rId48"/>
            </p:custDataLst>
          </p:nvPr>
        </p:nvSpPr>
        <p:spPr>
          <a:xfrm>
            <a:off x="10930255" y="5400040"/>
            <a:ext cx="434975" cy="252095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7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交易开关</a:t>
            </a:r>
            <a:endParaRPr lang="zh-CN" altLang="en-US" sz="70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58" name="同侧圆角矩形 257"/>
          <p:cNvSpPr/>
          <p:nvPr/>
        </p:nvSpPr>
        <p:spPr>
          <a:xfrm>
            <a:off x="10863580" y="477520"/>
            <a:ext cx="568960" cy="179705"/>
          </a:xfrm>
          <a:prstGeom prst="round2SameRect">
            <a:avLst>
              <a:gd name="adj1" fmla="val 28823"/>
              <a:gd name="adj2" fmla="val 0"/>
            </a:avLst>
          </a:prstGeom>
          <a:gradFill>
            <a:gsLst>
              <a:gs pos="0">
                <a:srgbClr val="2957DE"/>
              </a:gs>
              <a:gs pos="100000">
                <a:srgbClr val="598BF6"/>
              </a:gs>
            </a:gsLst>
            <a:lin ang="4500000" scaled="0"/>
          </a:gradFill>
          <a:ln w="6032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7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接入自助服务</a:t>
            </a:r>
            <a:endParaRPr lang="zh-CN" altLang="en-US" sz="7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59" name="同侧圆角矩形 258"/>
          <p:cNvSpPr/>
          <p:nvPr/>
        </p:nvSpPr>
        <p:spPr>
          <a:xfrm>
            <a:off x="10863580" y="3718560"/>
            <a:ext cx="568960" cy="179705"/>
          </a:xfrm>
          <a:prstGeom prst="round2SameRect">
            <a:avLst>
              <a:gd name="adj1" fmla="val 28823"/>
              <a:gd name="adj2" fmla="val 0"/>
            </a:avLst>
          </a:prstGeom>
          <a:gradFill>
            <a:gsLst>
              <a:gs pos="0">
                <a:srgbClr val="2957DE"/>
              </a:gs>
              <a:gs pos="100000">
                <a:srgbClr val="598BF6"/>
              </a:gs>
            </a:gsLst>
            <a:lin ang="4500000" scaled="0"/>
          </a:gradFill>
          <a:ln w="6032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lIns="91440" tIns="45720" rIns="9144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7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运营自助服务</a:t>
            </a:r>
            <a:endParaRPr lang="zh-CN" altLang="en-US" sz="7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60" name="文本框 16"/>
          <p:cNvSpPr txBox="1"/>
          <p:nvPr>
            <p:custDataLst>
              <p:tags r:id="rId49"/>
            </p:custDataLst>
          </p:nvPr>
        </p:nvSpPr>
        <p:spPr>
          <a:xfrm>
            <a:off x="10790555" y="210185"/>
            <a:ext cx="1224280" cy="215900"/>
          </a:xfrm>
          <a:prstGeom prst="rect">
            <a:avLst/>
          </a:prstGeom>
          <a:noFill/>
          <a:effectLst/>
        </p:spPr>
        <p:txBody>
          <a:bodyPr wrap="square" rtlCol="0">
            <a:noAutofit/>
          </a:bodyPr>
          <a:lstStyle>
            <a:defPPr>
              <a:defRPr lang="zh-CN"/>
            </a:defPPr>
            <a:lvl1pPr>
              <a:defRPr sz="2400">
                <a:latin typeface="汉仪菱心体简" panose="02010400000101010101" charset="-122"/>
                <a:ea typeface="汉仪菱心体简" panose="02010400000101010101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zh-CN" altLang="en-US" sz="1000" b="1">
                <a:solidFill>
                  <a:srgbClr val="2A59DF"/>
                </a:solidFill>
                <a:latin typeface="微软雅黑" panose="020B0503020204020204" charset="-122"/>
                <a:ea typeface="微软雅黑" panose="020B0503020204020204" charset="-122"/>
                <a:sym typeface="HarmonyOS Sans SC Bold" panose="00000800000000000000" pitchFamily="2" charset="-122"/>
              </a:rPr>
              <a:t>机构自助服务平台</a:t>
            </a:r>
            <a:endParaRPr lang="zh-CN" altLang="en-US" sz="1000" b="1">
              <a:solidFill>
                <a:srgbClr val="2A59DF"/>
              </a:solidFill>
              <a:latin typeface="微软雅黑" panose="020B0503020204020204" charset="-122"/>
              <a:ea typeface="微软雅黑" panose="020B0503020204020204" charset="-122"/>
              <a:sym typeface="HarmonyOS Sans SC Bold" panose="00000800000000000000" pitchFamily="2" charset="-122"/>
            </a:endParaRPr>
          </a:p>
        </p:txBody>
      </p:sp>
      <p:cxnSp>
        <p:nvCxnSpPr>
          <p:cNvPr id="261" name="直接连接符 260"/>
          <p:cNvCxnSpPr/>
          <p:nvPr/>
        </p:nvCxnSpPr>
        <p:spPr>
          <a:xfrm>
            <a:off x="11556365" y="4462780"/>
            <a:ext cx="323850" cy="0"/>
          </a:xfrm>
          <a:prstGeom prst="line">
            <a:avLst/>
          </a:prstGeom>
          <a:ln>
            <a:solidFill>
              <a:schemeClr val="accent1">
                <a:alpha val="32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2" name="直接连接符 261"/>
          <p:cNvCxnSpPr/>
          <p:nvPr/>
        </p:nvCxnSpPr>
        <p:spPr>
          <a:xfrm>
            <a:off x="11562715" y="5089525"/>
            <a:ext cx="323850" cy="0"/>
          </a:xfrm>
          <a:prstGeom prst="line">
            <a:avLst/>
          </a:prstGeom>
          <a:ln>
            <a:solidFill>
              <a:schemeClr val="accent1">
                <a:alpha val="32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63" name="组合 262"/>
          <p:cNvGrpSpPr/>
          <p:nvPr/>
        </p:nvGrpSpPr>
        <p:grpSpPr>
          <a:xfrm>
            <a:off x="11469370" y="5229860"/>
            <a:ext cx="504190" cy="447675"/>
            <a:chOff x="11314" y="9201"/>
            <a:chExt cx="794" cy="705"/>
          </a:xfrm>
        </p:grpSpPr>
        <p:sp>
          <p:nvSpPr>
            <p:cNvPr id="264" name="文本框 263"/>
            <p:cNvSpPr txBox="1"/>
            <p:nvPr/>
          </p:nvSpPr>
          <p:spPr>
            <a:xfrm>
              <a:off x="11314" y="9618"/>
              <a:ext cx="794" cy="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600"/>
                <a:t>吉林银行</a:t>
              </a:r>
              <a:endParaRPr lang="zh-CN" altLang="en-US" sz="600"/>
            </a:p>
          </p:txBody>
        </p:sp>
        <p:pic>
          <p:nvPicPr>
            <p:cNvPr id="265" name="图片 264"/>
            <p:cNvPicPr>
              <a:picLocks noChangeAspect="1"/>
            </p:cNvPicPr>
            <p:nvPr/>
          </p:nvPicPr>
          <p:blipFill>
            <a:blip r:embed="rId50"/>
            <a:stretch>
              <a:fillRect/>
            </a:stretch>
          </p:blipFill>
          <p:spPr>
            <a:xfrm>
              <a:off x="11514" y="9201"/>
              <a:ext cx="395" cy="417"/>
            </a:xfrm>
            <a:prstGeom prst="rect">
              <a:avLst/>
            </a:prstGeom>
          </p:spPr>
        </p:pic>
      </p:grpSp>
      <p:grpSp>
        <p:nvGrpSpPr>
          <p:cNvPr id="266" name="组合 265"/>
          <p:cNvGrpSpPr/>
          <p:nvPr/>
        </p:nvGrpSpPr>
        <p:grpSpPr>
          <a:xfrm>
            <a:off x="11469370" y="4613275"/>
            <a:ext cx="504190" cy="387350"/>
            <a:chOff x="12352" y="9757"/>
            <a:chExt cx="794" cy="610"/>
          </a:xfrm>
        </p:grpSpPr>
        <p:sp>
          <p:nvSpPr>
            <p:cNvPr id="267" name="文本框 266"/>
            <p:cNvSpPr txBox="1"/>
            <p:nvPr/>
          </p:nvSpPr>
          <p:spPr>
            <a:xfrm>
              <a:off x="12352" y="10079"/>
              <a:ext cx="794" cy="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600"/>
                <a:t>众安小贷</a:t>
              </a:r>
              <a:endParaRPr lang="zh-CN" altLang="en-US" sz="600"/>
            </a:p>
          </p:txBody>
        </p:sp>
        <p:pic>
          <p:nvPicPr>
            <p:cNvPr id="268" name="图片 267"/>
            <p:cNvPicPr>
              <a:picLocks noChangeAspect="1"/>
            </p:cNvPicPr>
            <p:nvPr/>
          </p:nvPicPr>
          <p:blipFill>
            <a:blip r:embed="rId51"/>
            <a:stretch>
              <a:fillRect/>
            </a:stretch>
          </p:blipFill>
          <p:spPr>
            <a:xfrm>
              <a:off x="12489" y="9757"/>
              <a:ext cx="520" cy="322"/>
            </a:xfrm>
            <a:prstGeom prst="rect">
              <a:avLst/>
            </a:prstGeom>
          </p:spPr>
        </p:pic>
      </p:grpSp>
      <p:grpSp>
        <p:nvGrpSpPr>
          <p:cNvPr id="269" name="组合 268"/>
          <p:cNvGrpSpPr/>
          <p:nvPr/>
        </p:nvGrpSpPr>
        <p:grpSpPr>
          <a:xfrm>
            <a:off x="11469370" y="3966845"/>
            <a:ext cx="504190" cy="417195"/>
            <a:chOff x="13673" y="4425"/>
            <a:chExt cx="794" cy="657"/>
          </a:xfrm>
        </p:grpSpPr>
        <p:sp>
          <p:nvSpPr>
            <p:cNvPr id="270" name="文本框 269"/>
            <p:cNvSpPr txBox="1"/>
            <p:nvPr/>
          </p:nvSpPr>
          <p:spPr>
            <a:xfrm>
              <a:off x="13673" y="4794"/>
              <a:ext cx="794" cy="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600"/>
                <a:t>国民信托</a:t>
              </a:r>
              <a:endParaRPr lang="zh-CN" altLang="en-US" sz="600"/>
            </a:p>
          </p:txBody>
        </p:sp>
        <p:pic>
          <p:nvPicPr>
            <p:cNvPr id="271" name="图片 270"/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13890" y="4425"/>
              <a:ext cx="361" cy="369"/>
            </a:xfrm>
            <a:prstGeom prst="rect">
              <a:avLst/>
            </a:prstGeom>
          </p:spPr>
        </p:pic>
      </p:grpSp>
      <p:cxnSp>
        <p:nvCxnSpPr>
          <p:cNvPr id="272" name="直接连接符 271"/>
          <p:cNvCxnSpPr/>
          <p:nvPr/>
        </p:nvCxnSpPr>
        <p:spPr>
          <a:xfrm>
            <a:off x="11562715" y="3837305"/>
            <a:ext cx="323850" cy="0"/>
          </a:xfrm>
          <a:prstGeom prst="line">
            <a:avLst/>
          </a:prstGeom>
          <a:ln>
            <a:solidFill>
              <a:schemeClr val="accent1">
                <a:alpha val="32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3" name="直接连接符 272"/>
          <p:cNvCxnSpPr/>
          <p:nvPr/>
        </p:nvCxnSpPr>
        <p:spPr>
          <a:xfrm>
            <a:off x="11556365" y="3145155"/>
            <a:ext cx="323850" cy="0"/>
          </a:xfrm>
          <a:prstGeom prst="line">
            <a:avLst/>
          </a:prstGeom>
          <a:ln>
            <a:solidFill>
              <a:schemeClr val="accent1">
                <a:alpha val="32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4" name="直接连接符 273"/>
          <p:cNvCxnSpPr/>
          <p:nvPr/>
        </p:nvCxnSpPr>
        <p:spPr>
          <a:xfrm>
            <a:off x="11562715" y="2471420"/>
            <a:ext cx="323850" cy="0"/>
          </a:xfrm>
          <a:prstGeom prst="line">
            <a:avLst/>
          </a:prstGeom>
          <a:ln>
            <a:solidFill>
              <a:schemeClr val="accent1">
                <a:alpha val="32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5" name="直接连接符 274"/>
          <p:cNvCxnSpPr/>
          <p:nvPr/>
        </p:nvCxnSpPr>
        <p:spPr>
          <a:xfrm>
            <a:off x="11562715" y="1762760"/>
            <a:ext cx="323850" cy="0"/>
          </a:xfrm>
          <a:prstGeom prst="line">
            <a:avLst/>
          </a:prstGeom>
          <a:ln>
            <a:solidFill>
              <a:schemeClr val="accent1">
                <a:alpha val="32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6" name="直接连接符 275"/>
          <p:cNvCxnSpPr/>
          <p:nvPr/>
        </p:nvCxnSpPr>
        <p:spPr>
          <a:xfrm>
            <a:off x="11549380" y="1107440"/>
            <a:ext cx="323850" cy="0"/>
          </a:xfrm>
          <a:prstGeom prst="line">
            <a:avLst/>
          </a:prstGeom>
          <a:ln>
            <a:solidFill>
              <a:schemeClr val="accent1">
                <a:alpha val="32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8" name="右箭头 277"/>
          <p:cNvSpPr/>
          <p:nvPr>
            <p:custDataLst>
              <p:tags r:id="rId53"/>
            </p:custDataLst>
          </p:nvPr>
        </p:nvSpPr>
        <p:spPr>
          <a:xfrm rot="5400000">
            <a:off x="7510145" y="1642110"/>
            <a:ext cx="200660" cy="288290"/>
          </a:xfrm>
          <a:prstGeom prst="rightArrow">
            <a:avLst/>
          </a:prstGeom>
          <a:solidFill>
            <a:srgbClr val="F5B482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t" anchorCtr="0" forceAA="0" compatLnSpc="1">
            <a:noAutofit/>
          </a:bodyPr>
          <a:p>
            <a:pPr lvl="0" algn="ctr">
              <a:lnSpc>
                <a:spcPct val="150000"/>
              </a:lnSpc>
              <a:buClrTx/>
              <a:buSzTx/>
              <a:buFontTx/>
            </a:pPr>
            <a:endParaRPr lang="zh-CN" altLang="en-US" sz="1400" b="1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FAFAFA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79" name="右箭头 278"/>
          <p:cNvSpPr/>
          <p:nvPr>
            <p:custDataLst>
              <p:tags r:id="rId54"/>
            </p:custDataLst>
          </p:nvPr>
        </p:nvSpPr>
        <p:spPr>
          <a:xfrm rot="16200000">
            <a:off x="9490710" y="1642110"/>
            <a:ext cx="200660" cy="288290"/>
          </a:xfrm>
          <a:prstGeom prst="rightArrow">
            <a:avLst/>
          </a:prstGeom>
          <a:solidFill>
            <a:srgbClr val="F5B482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t" anchorCtr="0" forceAA="0" compatLnSpc="1">
            <a:noAutofit/>
          </a:bodyPr>
          <a:p>
            <a:pPr lvl="0" algn="ctr">
              <a:lnSpc>
                <a:spcPct val="150000"/>
              </a:lnSpc>
              <a:buClrTx/>
              <a:buSzTx/>
              <a:buFontTx/>
            </a:pPr>
            <a:endParaRPr lang="zh-CN" altLang="en-US" sz="1400" b="1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FAFAFA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80" name="右箭头 279"/>
          <p:cNvSpPr/>
          <p:nvPr>
            <p:custDataLst>
              <p:tags r:id="rId55"/>
            </p:custDataLst>
          </p:nvPr>
        </p:nvSpPr>
        <p:spPr>
          <a:xfrm>
            <a:off x="8508365" y="1029335"/>
            <a:ext cx="200660" cy="288290"/>
          </a:xfrm>
          <a:prstGeom prst="rightArrow">
            <a:avLst/>
          </a:prstGeom>
          <a:solidFill>
            <a:srgbClr val="F5B482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t" anchorCtr="0" forceAA="0" compatLnSpc="1">
            <a:noAutofit/>
          </a:bodyPr>
          <a:p>
            <a:pPr lvl="0" algn="ctr">
              <a:lnSpc>
                <a:spcPct val="150000"/>
              </a:lnSpc>
              <a:buClrTx/>
              <a:buSzTx/>
              <a:buFontTx/>
            </a:pPr>
            <a:endParaRPr lang="zh-CN" altLang="en-US" sz="1400" b="1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FAFAFA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81" name="同侧圆角矩形 280"/>
          <p:cNvSpPr/>
          <p:nvPr/>
        </p:nvSpPr>
        <p:spPr>
          <a:xfrm>
            <a:off x="6732270" y="1882775"/>
            <a:ext cx="3752850" cy="198120"/>
          </a:xfrm>
          <a:prstGeom prst="round2SameRect">
            <a:avLst>
              <a:gd name="adj1" fmla="val 28823"/>
              <a:gd name="adj2" fmla="val 0"/>
            </a:avLst>
          </a:prstGeom>
          <a:gradFill>
            <a:gsLst>
              <a:gs pos="0">
                <a:srgbClr val="2957DE"/>
              </a:gs>
              <a:gs pos="100000">
                <a:srgbClr val="598BF6"/>
              </a:gs>
            </a:gsLst>
            <a:lin ang="4500000" scaled="0"/>
          </a:gradFill>
          <a:ln w="6032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资产交易平台</a:t>
            </a:r>
            <a:endParaRPr lang="zh-CN" altLang="en-US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82" name="圆角矩形 281"/>
          <p:cNvSpPr/>
          <p:nvPr>
            <p:custDataLst>
              <p:tags r:id="rId56"/>
            </p:custDataLst>
          </p:nvPr>
        </p:nvSpPr>
        <p:spPr>
          <a:xfrm>
            <a:off x="6818630" y="2161540"/>
            <a:ext cx="1129665" cy="260794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numCol="1" spcCol="0" rtlCol="0" fromWordArt="0" anchor="t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资产转让系统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87" name="同侧圆角矩形 286"/>
          <p:cNvSpPr/>
          <p:nvPr/>
        </p:nvSpPr>
        <p:spPr>
          <a:xfrm>
            <a:off x="6728460" y="494665"/>
            <a:ext cx="1764000" cy="198120"/>
          </a:xfrm>
          <a:prstGeom prst="round2SameRect">
            <a:avLst>
              <a:gd name="adj1" fmla="val 28823"/>
              <a:gd name="adj2" fmla="val 0"/>
            </a:avLst>
          </a:prstGeom>
          <a:gradFill>
            <a:gsLst>
              <a:gs pos="0">
                <a:srgbClr val="2957DE"/>
              </a:gs>
              <a:gs pos="100000">
                <a:srgbClr val="598BF6"/>
              </a:gs>
            </a:gsLst>
            <a:lin ang="4500000" scaled="0"/>
          </a:gradFill>
          <a:ln w="6032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信贷资产管理系统</a:t>
            </a:r>
            <a:endParaRPr lang="zh-CN" altLang="en-US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7" name="圆角矩形 206"/>
          <p:cNvSpPr/>
          <p:nvPr>
            <p:custDataLst>
              <p:tags r:id="rId57"/>
            </p:custDataLst>
          </p:nvPr>
        </p:nvSpPr>
        <p:spPr>
          <a:xfrm>
            <a:off x="8709025" y="494665"/>
            <a:ext cx="1764030" cy="1191260"/>
          </a:xfrm>
          <a:prstGeom prst="roundRect">
            <a:avLst>
              <a:gd name="adj" fmla="val 2948"/>
            </a:avLst>
          </a:prstGeom>
          <a:solidFill>
            <a:schemeClr val="bg1"/>
          </a:solidFill>
          <a:ln w="12700">
            <a:solidFill>
              <a:schemeClr val="accent1">
                <a:alpha val="61000"/>
              </a:schemeClr>
            </a:solidFill>
            <a:prstDash val="sysDash"/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p>
            <a:pPr lvl="0" algn="ctr">
              <a:lnSpc>
                <a:spcPct val="80000"/>
              </a:lnSpc>
              <a:buClrTx/>
              <a:buSzTx/>
              <a:buFontTx/>
            </a:pPr>
            <a:endParaRPr lang="zh-CN" altLang="en-US" sz="800" b="1">
              <a:solidFill>
                <a:schemeClr val="tx1">
                  <a:lumMod val="95000"/>
                  <a:lumOff val="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88" name="同侧圆角矩形 287"/>
          <p:cNvSpPr/>
          <p:nvPr/>
        </p:nvSpPr>
        <p:spPr>
          <a:xfrm>
            <a:off x="8709025" y="494665"/>
            <a:ext cx="1764030" cy="198120"/>
          </a:xfrm>
          <a:prstGeom prst="round2SameRect">
            <a:avLst>
              <a:gd name="adj1" fmla="val 28823"/>
              <a:gd name="adj2" fmla="val 0"/>
            </a:avLst>
          </a:prstGeom>
          <a:gradFill>
            <a:gsLst>
              <a:gs pos="0">
                <a:srgbClr val="2957DE"/>
              </a:gs>
              <a:gs pos="100000">
                <a:srgbClr val="598BF6"/>
              </a:gs>
            </a:gsLst>
            <a:lin ang="4500000" scaled="0"/>
          </a:gradFill>
          <a:ln w="6032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机构资产管理系统</a:t>
            </a:r>
            <a:endParaRPr lang="zh-CN" altLang="en-US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90" name="圆角矩形 289"/>
          <p:cNvSpPr/>
          <p:nvPr>
            <p:custDataLst>
              <p:tags r:id="rId58"/>
            </p:custDataLst>
          </p:nvPr>
        </p:nvSpPr>
        <p:spPr>
          <a:xfrm>
            <a:off x="8826500" y="789840"/>
            <a:ext cx="434340" cy="216000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借据拆分</a:t>
            </a:r>
            <a:endParaRPr lang="zh-CN" altLang="en-US" sz="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91" name="圆角矩形 290"/>
          <p:cNvSpPr/>
          <p:nvPr>
            <p:custDataLst>
              <p:tags r:id="rId59"/>
            </p:custDataLst>
          </p:nvPr>
        </p:nvSpPr>
        <p:spPr>
          <a:xfrm>
            <a:off x="9373870" y="789840"/>
            <a:ext cx="434340" cy="216000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计划拆分</a:t>
            </a:r>
            <a:endParaRPr lang="zh-CN" altLang="en-US" sz="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92" name="圆角矩形 291"/>
          <p:cNvSpPr/>
          <p:nvPr>
            <p:custDataLst>
              <p:tags r:id="rId60"/>
            </p:custDataLst>
          </p:nvPr>
        </p:nvSpPr>
        <p:spPr>
          <a:xfrm>
            <a:off x="9954260" y="789840"/>
            <a:ext cx="434340" cy="216000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还款拆分</a:t>
            </a:r>
            <a:endParaRPr lang="zh-CN" altLang="en-US" sz="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93" name="圆角矩形 292"/>
          <p:cNvSpPr/>
          <p:nvPr>
            <p:custDataLst>
              <p:tags r:id="rId61"/>
            </p:custDataLst>
          </p:nvPr>
        </p:nvSpPr>
        <p:spPr>
          <a:xfrm>
            <a:off x="8826500" y="1085750"/>
            <a:ext cx="434340" cy="216000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减免拆分</a:t>
            </a:r>
            <a:endParaRPr lang="zh-CN" altLang="en-US" sz="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98" name="圆角矩形 297"/>
          <p:cNvSpPr/>
          <p:nvPr>
            <p:custDataLst>
              <p:tags r:id="rId62"/>
            </p:custDataLst>
          </p:nvPr>
        </p:nvSpPr>
        <p:spPr>
          <a:xfrm>
            <a:off x="6818630" y="789940"/>
            <a:ext cx="468000" cy="215900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贷款开立</a:t>
            </a:r>
            <a:endParaRPr lang="zh-CN" altLang="en-US" sz="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15" name="圆角矩形 314"/>
          <p:cNvSpPr/>
          <p:nvPr>
            <p:custDataLst>
              <p:tags r:id="rId63"/>
            </p:custDataLst>
          </p:nvPr>
        </p:nvSpPr>
        <p:spPr>
          <a:xfrm>
            <a:off x="7372990" y="789940"/>
            <a:ext cx="467995" cy="215900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贷款还款</a:t>
            </a:r>
            <a:endParaRPr lang="zh-CN" altLang="en-US" sz="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17" name="圆角矩形 316"/>
          <p:cNvSpPr/>
          <p:nvPr>
            <p:custDataLst>
              <p:tags r:id="rId64"/>
            </p:custDataLst>
          </p:nvPr>
        </p:nvSpPr>
        <p:spPr>
          <a:xfrm>
            <a:off x="6818630" y="1085850"/>
            <a:ext cx="468000" cy="215900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计划变更</a:t>
            </a:r>
            <a:endParaRPr lang="zh-CN" altLang="en-US" sz="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18" name="圆角矩形 317"/>
          <p:cNvSpPr/>
          <p:nvPr>
            <p:custDataLst>
              <p:tags r:id="rId65"/>
            </p:custDataLst>
          </p:nvPr>
        </p:nvSpPr>
        <p:spPr>
          <a:xfrm>
            <a:off x="7372985" y="1085850"/>
            <a:ext cx="468000" cy="215900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退款冲销</a:t>
            </a:r>
            <a:endParaRPr lang="zh-CN" altLang="en-US" sz="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19" name="圆角矩形 318"/>
          <p:cNvSpPr/>
          <p:nvPr>
            <p:custDataLst>
              <p:tags r:id="rId66"/>
            </p:custDataLst>
          </p:nvPr>
        </p:nvSpPr>
        <p:spPr>
          <a:xfrm>
            <a:off x="7927340" y="1085850"/>
            <a:ext cx="468000" cy="215900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贷款计提</a:t>
            </a:r>
            <a:endParaRPr lang="zh-CN" altLang="en-US" sz="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21" name="圆角矩形 320"/>
          <p:cNvSpPr/>
          <p:nvPr>
            <p:custDataLst>
              <p:tags r:id="rId67"/>
            </p:custDataLst>
          </p:nvPr>
        </p:nvSpPr>
        <p:spPr>
          <a:xfrm>
            <a:off x="6818630" y="1381760"/>
            <a:ext cx="468000" cy="215900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借据日终</a:t>
            </a:r>
            <a:endParaRPr lang="zh-CN" altLang="en-US" sz="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23" name="圆角矩形 322"/>
          <p:cNvSpPr/>
          <p:nvPr>
            <p:custDataLst>
              <p:tags r:id="rId68"/>
            </p:custDataLst>
          </p:nvPr>
        </p:nvSpPr>
        <p:spPr>
          <a:xfrm>
            <a:off x="7372985" y="1381760"/>
            <a:ext cx="468000" cy="215900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记账流水</a:t>
            </a:r>
            <a:endParaRPr lang="zh-CN" altLang="en-US" sz="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24" name="圆角矩形 323"/>
          <p:cNvSpPr/>
          <p:nvPr>
            <p:custDataLst>
              <p:tags r:id="rId69"/>
            </p:custDataLst>
          </p:nvPr>
        </p:nvSpPr>
        <p:spPr>
          <a:xfrm>
            <a:off x="7927340" y="1381760"/>
            <a:ext cx="468000" cy="215900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快照备份</a:t>
            </a:r>
            <a:endParaRPr lang="zh-CN" altLang="en-US" sz="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31" name="圆角矩形 330"/>
          <p:cNvSpPr/>
          <p:nvPr>
            <p:custDataLst>
              <p:tags r:id="rId70"/>
            </p:custDataLst>
          </p:nvPr>
        </p:nvSpPr>
        <p:spPr>
          <a:xfrm>
            <a:off x="9954260" y="1085750"/>
            <a:ext cx="434340" cy="216000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计划变更</a:t>
            </a:r>
            <a:endParaRPr lang="zh-CN" altLang="en-US" sz="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32" name="圆角矩形 331"/>
          <p:cNvSpPr/>
          <p:nvPr>
            <p:custDataLst>
              <p:tags r:id="rId71"/>
            </p:custDataLst>
          </p:nvPr>
        </p:nvSpPr>
        <p:spPr>
          <a:xfrm>
            <a:off x="8826500" y="1381760"/>
            <a:ext cx="434340" cy="216000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日终核算</a:t>
            </a:r>
            <a:endParaRPr lang="zh-CN" altLang="en-US" sz="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34" name="圆角矩形 333"/>
          <p:cNvSpPr/>
          <p:nvPr>
            <p:custDataLst>
              <p:tags r:id="rId72"/>
            </p:custDataLst>
          </p:nvPr>
        </p:nvSpPr>
        <p:spPr>
          <a:xfrm>
            <a:off x="9373870" y="1381760"/>
            <a:ext cx="434340" cy="216000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债权转让</a:t>
            </a:r>
            <a:endParaRPr lang="zh-CN" altLang="en-US" sz="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36" name="圆角矩形 335"/>
          <p:cNvSpPr/>
          <p:nvPr>
            <p:custDataLst>
              <p:tags r:id="rId73"/>
            </p:custDataLst>
          </p:nvPr>
        </p:nvSpPr>
        <p:spPr>
          <a:xfrm>
            <a:off x="7927345" y="789940"/>
            <a:ext cx="467995" cy="215900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贷款减免</a:t>
            </a:r>
            <a:endParaRPr lang="zh-CN" altLang="en-US" sz="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43" name="圆角矩形 342"/>
          <p:cNvSpPr/>
          <p:nvPr>
            <p:custDataLst>
              <p:tags r:id="rId74"/>
            </p:custDataLst>
          </p:nvPr>
        </p:nvSpPr>
        <p:spPr>
          <a:xfrm>
            <a:off x="9373870" y="1085750"/>
            <a:ext cx="434340" cy="216000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冲销拆分</a:t>
            </a:r>
            <a:endParaRPr lang="zh-CN" altLang="en-US" sz="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46" name="圆角矩形 345"/>
          <p:cNvSpPr/>
          <p:nvPr>
            <p:custDataLst>
              <p:tags r:id="rId75"/>
            </p:custDataLst>
          </p:nvPr>
        </p:nvSpPr>
        <p:spPr>
          <a:xfrm>
            <a:off x="9954260" y="1381760"/>
            <a:ext cx="434340" cy="216000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资产代偿</a:t>
            </a:r>
            <a:endParaRPr lang="zh-CN" altLang="en-US" sz="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2" name="图片 1" descr="微信公众号"/>
          <p:cNvPicPr>
            <a:picLocks noChangeAspect="1"/>
          </p:cNvPicPr>
          <p:nvPr/>
        </p:nvPicPr>
        <p:blipFill>
          <a:blip r:embed="rId76">
            <a:extLst>
              <a:ext uri="{96DAC541-7B7A-43D3-8B79-37D633B846F1}">
                <asvg:svgBlip xmlns:asvg="http://schemas.microsoft.com/office/drawing/2016/SVG/main" r:embed="rId77"/>
              </a:ext>
            </a:extLst>
          </a:blip>
          <a:stretch>
            <a:fillRect/>
          </a:stretch>
        </p:blipFill>
        <p:spPr>
          <a:xfrm>
            <a:off x="3006725" y="528638"/>
            <a:ext cx="686435" cy="556260"/>
          </a:xfrm>
          <a:prstGeom prst="rect">
            <a:avLst/>
          </a:prstGeom>
        </p:spPr>
      </p:pic>
      <p:pic>
        <p:nvPicPr>
          <p:cNvPr id="3" name="图片 2" descr="小程序 (1)"/>
          <p:cNvPicPr>
            <a:picLocks noChangeAspect="1"/>
          </p:cNvPicPr>
          <p:nvPr/>
        </p:nvPicPr>
        <p:blipFill>
          <a:blip r:embed="rId78">
            <a:extLst>
              <a:ext uri="{96DAC541-7B7A-43D3-8B79-37D633B846F1}">
                <asvg:svgBlip xmlns:asvg="http://schemas.microsoft.com/office/drawing/2016/SVG/main" r:embed="rId79"/>
              </a:ext>
            </a:extLst>
          </a:blip>
          <a:stretch>
            <a:fillRect/>
          </a:stretch>
        </p:blipFill>
        <p:spPr>
          <a:xfrm>
            <a:off x="4229100" y="622935"/>
            <a:ext cx="367665" cy="367665"/>
          </a:xfrm>
          <a:prstGeom prst="rect">
            <a:avLst/>
          </a:prstGeom>
        </p:spPr>
      </p:pic>
      <p:pic>
        <p:nvPicPr>
          <p:cNvPr id="4" name="图片 3" descr="APP"/>
          <p:cNvPicPr>
            <a:picLocks noChangeAspect="1"/>
          </p:cNvPicPr>
          <p:nvPr/>
        </p:nvPicPr>
        <p:blipFill>
          <a:blip r:embed="rId80">
            <a:extLst>
              <a:ext uri="{96DAC541-7B7A-43D3-8B79-37D633B846F1}">
                <asvg:svgBlip xmlns:asvg="http://schemas.microsoft.com/office/drawing/2016/SVG/main" r:embed="rId81"/>
              </a:ext>
            </a:extLst>
          </a:blip>
          <a:stretch>
            <a:fillRect/>
          </a:stretch>
        </p:blipFill>
        <p:spPr>
          <a:xfrm>
            <a:off x="5132705" y="598488"/>
            <a:ext cx="416560" cy="416560"/>
          </a:xfrm>
          <a:prstGeom prst="rect">
            <a:avLst/>
          </a:prstGeom>
        </p:spPr>
      </p:pic>
      <p:sp>
        <p:nvSpPr>
          <p:cNvPr id="6" name="圆角矩形 5"/>
          <p:cNvSpPr/>
          <p:nvPr>
            <p:custDataLst>
              <p:tags r:id="rId82"/>
            </p:custDataLst>
          </p:nvPr>
        </p:nvSpPr>
        <p:spPr>
          <a:xfrm>
            <a:off x="8039100" y="2161540"/>
            <a:ext cx="1129665" cy="260794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numCol="1" spcCol="0" rtlCol="0" fromWordArt="0" anchor="t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资产证券化系统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" name="圆角矩形 7"/>
          <p:cNvSpPr/>
          <p:nvPr>
            <p:custDataLst>
              <p:tags r:id="rId83"/>
            </p:custDataLst>
          </p:nvPr>
        </p:nvSpPr>
        <p:spPr>
          <a:xfrm>
            <a:off x="9259570" y="2161540"/>
            <a:ext cx="1129665" cy="260794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numCol="1" spcCol="0" rtlCol="0" fromWordArt="0" anchor="t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数字资产交易系统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229235" y="5149215"/>
            <a:ext cx="10379710" cy="684530"/>
            <a:chOff x="360" y="9413"/>
            <a:chExt cx="16346" cy="1078"/>
          </a:xfrm>
        </p:grpSpPr>
        <p:sp>
          <p:nvSpPr>
            <p:cNvPr id="9" name="矩形 8"/>
            <p:cNvSpPr/>
            <p:nvPr/>
          </p:nvSpPr>
          <p:spPr>
            <a:xfrm>
              <a:off x="360" y="9413"/>
              <a:ext cx="16347" cy="1079"/>
            </a:xfrm>
            <a:prstGeom prst="rect">
              <a:avLst/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11" name="直接连接符 256"/>
            <p:cNvCxnSpPr/>
            <p:nvPr>
              <p:custDataLst>
                <p:tags r:id="rId84"/>
              </p:custDataLst>
            </p:nvPr>
          </p:nvCxnSpPr>
          <p:spPr>
            <a:xfrm flipH="1">
              <a:off x="380" y="9413"/>
              <a:ext cx="2" cy="1077"/>
            </a:xfrm>
            <a:prstGeom prst="line">
              <a:avLst/>
            </a:prstGeom>
            <a:ln w="31750">
              <a:solidFill>
                <a:srgbClr val="92D050"/>
              </a:solidFill>
            </a:ln>
            <a:effectLst/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3" name="文本框 16"/>
          <p:cNvSpPr txBox="1"/>
          <p:nvPr>
            <p:custDataLst>
              <p:tags r:id="rId85"/>
            </p:custDataLst>
          </p:nvPr>
        </p:nvSpPr>
        <p:spPr>
          <a:xfrm>
            <a:off x="243205" y="5149215"/>
            <a:ext cx="295275" cy="684530"/>
          </a:xfrm>
          <a:prstGeom prst="rect">
            <a:avLst/>
          </a:prstGeom>
          <a:noFill/>
          <a:effectLst/>
        </p:spPr>
        <p:txBody>
          <a:bodyPr vert="mongolianVert" wrap="square" rtlCol="0">
            <a:noAutofit/>
          </a:bodyPr>
          <a:lstStyle>
            <a:defPPr>
              <a:defRPr lang="zh-CN"/>
            </a:defPPr>
            <a:lvl1pPr>
              <a:defRPr sz="2400">
                <a:latin typeface="汉仪菱心体简" panose="02010400000101010101" charset="-122"/>
                <a:ea typeface="汉仪菱心体简" panose="02010400000101010101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zh-CN" sz="1000" b="1" dirty="0">
                <a:solidFill>
                  <a:srgbClr val="2A59DF"/>
                </a:solidFill>
                <a:latin typeface="微软雅黑" panose="020B0503020204020204" charset="-122"/>
                <a:ea typeface="微软雅黑" panose="020B0503020204020204" charset="-122"/>
                <a:sym typeface="HarmonyOS Sans SC Bold" panose="00000800000000000000" pitchFamily="2" charset="-122"/>
              </a:rPr>
              <a:t>能力支撑</a:t>
            </a:r>
            <a:endParaRPr lang="zh-CN" sz="1000" b="1" dirty="0">
              <a:solidFill>
                <a:srgbClr val="2A59DF"/>
              </a:solidFill>
              <a:latin typeface="微软雅黑" panose="020B0503020204020204" charset="-122"/>
              <a:ea typeface="微软雅黑" panose="020B0503020204020204" charset="-122"/>
              <a:sym typeface="HarmonyOS Sans SC Bold" panose="00000800000000000000" pitchFamily="2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86"/>
            </p:custDataLst>
          </p:nvPr>
        </p:nvSpPr>
        <p:spPr>
          <a:xfrm>
            <a:off x="2437130" y="5279390"/>
            <a:ext cx="815340" cy="42354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信贷影像</a:t>
            </a:r>
            <a:endParaRPr lang="zh-CN" altLang="en-US" sz="9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业务系统</a:t>
            </a:r>
            <a:endParaRPr lang="zh-CN" altLang="en-US" sz="9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5" name="圆角矩形 14"/>
          <p:cNvSpPr/>
          <p:nvPr>
            <p:custDataLst>
              <p:tags r:id="rId87"/>
            </p:custDataLst>
          </p:nvPr>
        </p:nvSpPr>
        <p:spPr>
          <a:xfrm>
            <a:off x="1534160" y="5280025"/>
            <a:ext cx="815340" cy="42354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信贷</a:t>
            </a:r>
            <a:r>
              <a:rPr lang="zh-CN" altLang="en-US" sz="9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订单</a:t>
            </a:r>
            <a:endParaRPr lang="zh-CN" altLang="en-US" sz="9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交易系统</a:t>
            </a:r>
            <a:endParaRPr lang="zh-CN" altLang="en-US" sz="9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6" name="圆角矩形 15"/>
          <p:cNvSpPr/>
          <p:nvPr>
            <p:custDataLst>
              <p:tags r:id="rId88"/>
            </p:custDataLst>
          </p:nvPr>
        </p:nvSpPr>
        <p:spPr>
          <a:xfrm>
            <a:off x="4243070" y="5279390"/>
            <a:ext cx="815340" cy="42354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信贷合同</a:t>
            </a:r>
            <a:endParaRPr lang="zh-CN" altLang="en-US" sz="9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管理系统</a:t>
            </a:r>
            <a:endParaRPr lang="en-US" altLang="zh-CN" sz="9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7" name="圆角矩形 16"/>
          <p:cNvSpPr/>
          <p:nvPr>
            <p:custDataLst>
              <p:tags r:id="rId89"/>
            </p:custDataLst>
          </p:nvPr>
        </p:nvSpPr>
        <p:spPr>
          <a:xfrm>
            <a:off x="5146040" y="5279390"/>
            <a:ext cx="815340" cy="42354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信贷消息</a:t>
            </a:r>
            <a:endParaRPr lang="zh-CN" altLang="en-US" sz="9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管理系统</a:t>
            </a:r>
            <a:endParaRPr lang="zh-CN" altLang="en-US" sz="9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8" name="圆角矩形 17"/>
          <p:cNvSpPr/>
          <p:nvPr>
            <p:custDataLst>
              <p:tags r:id="rId90"/>
            </p:custDataLst>
          </p:nvPr>
        </p:nvSpPr>
        <p:spPr>
          <a:xfrm>
            <a:off x="6049010" y="5279390"/>
            <a:ext cx="815340" cy="42354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信贷清分</a:t>
            </a:r>
            <a:endParaRPr lang="zh-CN" altLang="en-US" sz="9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结算系统</a:t>
            </a:r>
            <a:endParaRPr lang="zh-CN" altLang="en-US" sz="9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9" name="圆角矩形 18"/>
          <p:cNvSpPr/>
          <p:nvPr>
            <p:custDataLst>
              <p:tags r:id="rId91"/>
            </p:custDataLst>
          </p:nvPr>
        </p:nvSpPr>
        <p:spPr>
          <a:xfrm>
            <a:off x="6951980" y="5279390"/>
            <a:ext cx="815340" cy="42354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信贷分成</a:t>
            </a:r>
            <a:endParaRPr lang="zh-CN" altLang="en-US" sz="9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计算系统</a:t>
            </a:r>
            <a:endParaRPr lang="zh-CN" altLang="en-US" sz="9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" name="圆角矩形 19"/>
          <p:cNvSpPr/>
          <p:nvPr>
            <p:custDataLst>
              <p:tags r:id="rId92"/>
            </p:custDataLst>
          </p:nvPr>
        </p:nvSpPr>
        <p:spPr>
          <a:xfrm>
            <a:off x="7854950" y="5279390"/>
            <a:ext cx="815340" cy="42354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信贷对账</a:t>
            </a:r>
            <a:endParaRPr lang="zh-CN" altLang="en-US" sz="9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文件系统</a:t>
            </a:r>
            <a:endParaRPr lang="zh-CN" altLang="en-US" sz="9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1" name="圆角矩形 20"/>
          <p:cNvSpPr/>
          <p:nvPr>
            <p:custDataLst>
              <p:tags r:id="rId93"/>
            </p:custDataLst>
          </p:nvPr>
        </p:nvSpPr>
        <p:spPr>
          <a:xfrm>
            <a:off x="631190" y="5280025"/>
            <a:ext cx="815340" cy="42354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信贷客户</a:t>
            </a:r>
            <a:endParaRPr lang="zh-CN" altLang="en-US" sz="9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管理系统</a:t>
            </a:r>
            <a:endParaRPr lang="zh-CN" altLang="en-US" sz="9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2" name="圆角矩形 21"/>
          <p:cNvSpPr/>
          <p:nvPr>
            <p:custDataLst>
              <p:tags r:id="rId94"/>
            </p:custDataLst>
          </p:nvPr>
        </p:nvSpPr>
        <p:spPr>
          <a:xfrm>
            <a:off x="9660890" y="5280025"/>
            <a:ext cx="815340" cy="42354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信贷运营</a:t>
            </a:r>
            <a:endParaRPr lang="zh-CN" altLang="en-US" sz="9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管理系统</a:t>
            </a:r>
            <a:endParaRPr lang="zh-CN" altLang="en-US" sz="9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4" name="圆角矩形 23"/>
          <p:cNvSpPr/>
          <p:nvPr>
            <p:custDataLst>
              <p:tags r:id="rId95"/>
            </p:custDataLst>
          </p:nvPr>
        </p:nvSpPr>
        <p:spPr>
          <a:xfrm>
            <a:off x="8757920" y="5279390"/>
            <a:ext cx="815340" cy="42354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信贷账务</a:t>
            </a:r>
            <a:endParaRPr lang="zh-CN" altLang="en-US" sz="9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核算系统</a:t>
            </a:r>
            <a:endParaRPr lang="zh-CN" altLang="en-US" sz="9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5" name="圆角矩形 24"/>
          <p:cNvSpPr/>
          <p:nvPr>
            <p:custDataLst>
              <p:tags r:id="rId96"/>
            </p:custDataLst>
          </p:nvPr>
        </p:nvSpPr>
        <p:spPr>
          <a:xfrm>
            <a:off x="3340100" y="5280025"/>
            <a:ext cx="815340" cy="42354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信贷资金</a:t>
            </a:r>
            <a:endParaRPr lang="zh-CN" altLang="en-US" sz="9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管理系统</a:t>
            </a:r>
            <a:endParaRPr lang="zh-CN" altLang="en-US" sz="9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6" name="圆角矩形 25"/>
          <p:cNvSpPr/>
          <p:nvPr>
            <p:custDataLst>
              <p:tags r:id="rId97"/>
            </p:custDataLst>
          </p:nvPr>
        </p:nvSpPr>
        <p:spPr>
          <a:xfrm>
            <a:off x="822960" y="1539240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决策进线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7" name="圆角矩形 26"/>
          <p:cNvSpPr/>
          <p:nvPr>
            <p:custDataLst>
              <p:tags r:id="rId98"/>
            </p:custDataLst>
          </p:nvPr>
        </p:nvSpPr>
        <p:spPr>
          <a:xfrm>
            <a:off x="2593340" y="1539240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策略管理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8" name="圆角矩形 27"/>
          <p:cNvSpPr/>
          <p:nvPr>
            <p:custDataLst>
              <p:tags r:id="rId99"/>
            </p:custDataLst>
          </p:nvPr>
        </p:nvSpPr>
        <p:spPr>
          <a:xfrm>
            <a:off x="4347210" y="1539240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标签计算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9" name="圆角矩形 28"/>
          <p:cNvSpPr/>
          <p:nvPr>
            <p:custDataLst>
              <p:tags r:id="rId100"/>
            </p:custDataLst>
          </p:nvPr>
        </p:nvSpPr>
        <p:spPr>
          <a:xfrm>
            <a:off x="5248910" y="1866900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数据源查询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0" name="圆角矩形 29"/>
          <p:cNvSpPr/>
          <p:nvPr>
            <p:custDataLst>
              <p:tags r:id="rId101"/>
            </p:custDataLst>
          </p:nvPr>
        </p:nvSpPr>
        <p:spPr>
          <a:xfrm>
            <a:off x="1708150" y="1539240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结果回盘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1" name="圆角矩形 30"/>
          <p:cNvSpPr/>
          <p:nvPr>
            <p:custDataLst>
              <p:tags r:id="rId102"/>
            </p:custDataLst>
          </p:nvPr>
        </p:nvSpPr>
        <p:spPr>
          <a:xfrm>
            <a:off x="822960" y="1872615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路由管理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2" name="圆角矩形 31"/>
          <p:cNvSpPr/>
          <p:nvPr>
            <p:custDataLst>
              <p:tags r:id="rId103"/>
            </p:custDataLst>
          </p:nvPr>
        </p:nvSpPr>
        <p:spPr>
          <a:xfrm>
            <a:off x="1708150" y="1872615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二次营销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3" name="圆角矩形 32"/>
          <p:cNvSpPr/>
          <p:nvPr>
            <p:custDataLst>
              <p:tags r:id="rId104"/>
            </p:custDataLst>
          </p:nvPr>
        </p:nvSpPr>
        <p:spPr>
          <a:xfrm>
            <a:off x="2593340" y="1872615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准入规则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4" name="圆角矩形 33"/>
          <p:cNvSpPr/>
          <p:nvPr>
            <p:custDataLst>
              <p:tags r:id="rId105"/>
            </p:custDataLst>
          </p:nvPr>
        </p:nvSpPr>
        <p:spPr>
          <a:xfrm>
            <a:off x="3478530" y="1872615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用户画像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5" name="圆角矩形 34"/>
          <p:cNvSpPr/>
          <p:nvPr>
            <p:custDataLst>
              <p:tags r:id="rId106"/>
            </p:custDataLst>
          </p:nvPr>
        </p:nvSpPr>
        <p:spPr>
          <a:xfrm>
            <a:off x="4363720" y="1872615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分层模型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6" name="圆角矩形 35"/>
          <p:cNvSpPr/>
          <p:nvPr>
            <p:custDataLst>
              <p:tags r:id="rId107"/>
            </p:custDataLst>
          </p:nvPr>
        </p:nvSpPr>
        <p:spPr>
          <a:xfrm>
            <a:off x="5248910" y="1539240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归因分析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7" name="圆角矩形 36"/>
          <p:cNvSpPr/>
          <p:nvPr>
            <p:custDataLst>
              <p:tags r:id="rId108"/>
            </p:custDataLst>
          </p:nvPr>
        </p:nvSpPr>
        <p:spPr>
          <a:xfrm>
            <a:off x="3478530" y="1539240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指标管理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8" name="圆角矩形 37"/>
          <p:cNvSpPr/>
          <p:nvPr>
            <p:custDataLst>
              <p:tags r:id="rId109"/>
            </p:custDataLst>
          </p:nvPr>
        </p:nvSpPr>
        <p:spPr>
          <a:xfrm>
            <a:off x="648335" y="2636520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机构管理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0" name="圆角矩形 39"/>
          <p:cNvSpPr/>
          <p:nvPr>
            <p:custDataLst>
              <p:tags r:id="rId110"/>
            </p:custDataLst>
          </p:nvPr>
        </p:nvSpPr>
        <p:spPr>
          <a:xfrm>
            <a:off x="1461135" y="2636520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接口管理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5" name="圆角矩形 44"/>
          <p:cNvSpPr/>
          <p:nvPr>
            <p:custDataLst>
              <p:tags r:id="rId111"/>
            </p:custDataLst>
          </p:nvPr>
        </p:nvSpPr>
        <p:spPr>
          <a:xfrm>
            <a:off x="1461135" y="2986405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密钥管理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6" name="圆角矩形 45"/>
          <p:cNvSpPr/>
          <p:nvPr>
            <p:custDataLst>
              <p:tags r:id="rId112"/>
            </p:custDataLst>
          </p:nvPr>
        </p:nvSpPr>
        <p:spPr>
          <a:xfrm>
            <a:off x="648335" y="3686175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加密解密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7" name="圆角矩形 46"/>
          <p:cNvSpPr/>
          <p:nvPr>
            <p:custDataLst>
              <p:tags r:id="rId113"/>
            </p:custDataLst>
          </p:nvPr>
        </p:nvSpPr>
        <p:spPr>
          <a:xfrm>
            <a:off x="648335" y="2986405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交易管理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8" name="圆角矩形 47"/>
          <p:cNvSpPr/>
          <p:nvPr>
            <p:custDataLst>
              <p:tags r:id="rId114"/>
            </p:custDataLst>
          </p:nvPr>
        </p:nvSpPr>
        <p:spPr>
          <a:xfrm>
            <a:off x="1461135" y="3686175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联合登录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9" name="圆角矩形 48"/>
          <p:cNvSpPr/>
          <p:nvPr>
            <p:custDataLst>
              <p:tags r:id="rId115"/>
            </p:custDataLst>
          </p:nvPr>
        </p:nvSpPr>
        <p:spPr>
          <a:xfrm>
            <a:off x="648335" y="4036060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数据同步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0" name="圆角矩形 49"/>
          <p:cNvSpPr/>
          <p:nvPr>
            <p:custDataLst>
              <p:tags r:id="rId116"/>
            </p:custDataLst>
          </p:nvPr>
        </p:nvSpPr>
        <p:spPr>
          <a:xfrm>
            <a:off x="1461135" y="4036060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结果回盘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1" name="圆角矩形 50"/>
          <p:cNvSpPr/>
          <p:nvPr>
            <p:custDataLst>
              <p:tags r:id="rId117"/>
            </p:custDataLst>
          </p:nvPr>
        </p:nvSpPr>
        <p:spPr>
          <a:xfrm>
            <a:off x="648335" y="4385945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报表管理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2" name="圆角矩形 51"/>
          <p:cNvSpPr/>
          <p:nvPr>
            <p:custDataLst>
              <p:tags r:id="rId118"/>
            </p:custDataLst>
          </p:nvPr>
        </p:nvSpPr>
        <p:spPr>
          <a:xfrm>
            <a:off x="1461135" y="4385945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费用结算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3" name="圆角矩形 52"/>
          <p:cNvSpPr/>
          <p:nvPr>
            <p:custDataLst>
              <p:tags r:id="rId119"/>
            </p:custDataLst>
          </p:nvPr>
        </p:nvSpPr>
        <p:spPr>
          <a:xfrm>
            <a:off x="1461135" y="3336290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机构路由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4" name="圆角矩形 53"/>
          <p:cNvSpPr/>
          <p:nvPr>
            <p:custDataLst>
              <p:tags r:id="rId120"/>
            </p:custDataLst>
          </p:nvPr>
        </p:nvSpPr>
        <p:spPr>
          <a:xfrm>
            <a:off x="648335" y="3336290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导流决策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6" name="圆角矩形 55"/>
          <p:cNvSpPr/>
          <p:nvPr>
            <p:custDataLst>
              <p:tags r:id="rId121"/>
            </p:custDataLst>
          </p:nvPr>
        </p:nvSpPr>
        <p:spPr>
          <a:xfrm>
            <a:off x="2541270" y="2636520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机构管理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5" name="圆角矩形 74"/>
          <p:cNvSpPr/>
          <p:nvPr>
            <p:custDataLst>
              <p:tags r:id="rId122"/>
            </p:custDataLst>
          </p:nvPr>
        </p:nvSpPr>
        <p:spPr>
          <a:xfrm>
            <a:off x="3366770" y="2640965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路由管理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6" name="圆角矩形 75"/>
          <p:cNvSpPr/>
          <p:nvPr>
            <p:custDataLst>
              <p:tags r:id="rId123"/>
            </p:custDataLst>
          </p:nvPr>
        </p:nvSpPr>
        <p:spPr>
          <a:xfrm>
            <a:off x="2541270" y="2986405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路由决策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7" name="圆角矩形 76"/>
          <p:cNvSpPr/>
          <p:nvPr>
            <p:custDataLst>
              <p:tags r:id="rId124"/>
            </p:custDataLst>
          </p:nvPr>
        </p:nvSpPr>
        <p:spPr>
          <a:xfrm>
            <a:off x="3366770" y="2989580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授信审批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8" name="圆角矩形 77"/>
          <p:cNvSpPr/>
          <p:nvPr>
            <p:custDataLst>
              <p:tags r:id="rId125"/>
            </p:custDataLst>
          </p:nvPr>
        </p:nvSpPr>
        <p:spPr>
          <a:xfrm>
            <a:off x="3366770" y="3338195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放款申请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9" name="圆角矩形 78"/>
          <p:cNvSpPr/>
          <p:nvPr>
            <p:custDataLst>
              <p:tags r:id="rId126"/>
            </p:custDataLst>
          </p:nvPr>
        </p:nvSpPr>
        <p:spPr>
          <a:xfrm>
            <a:off x="3366770" y="3686810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还款通知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0" name="圆角矩形 79"/>
          <p:cNvSpPr/>
          <p:nvPr>
            <p:custDataLst>
              <p:tags r:id="rId127"/>
            </p:custDataLst>
          </p:nvPr>
        </p:nvSpPr>
        <p:spPr>
          <a:xfrm>
            <a:off x="3366770" y="4035425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协议回传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1" name="圆角矩形 80"/>
          <p:cNvSpPr/>
          <p:nvPr>
            <p:custDataLst>
              <p:tags r:id="rId128"/>
            </p:custDataLst>
          </p:nvPr>
        </p:nvSpPr>
        <p:spPr>
          <a:xfrm>
            <a:off x="3366770" y="4384040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凭证打印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2" name="圆角矩形 81"/>
          <p:cNvSpPr/>
          <p:nvPr>
            <p:custDataLst>
              <p:tags r:id="rId129"/>
            </p:custDataLst>
          </p:nvPr>
        </p:nvSpPr>
        <p:spPr>
          <a:xfrm>
            <a:off x="2541270" y="4385945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报文转换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3" name="圆角矩形 82"/>
          <p:cNvSpPr/>
          <p:nvPr>
            <p:custDataLst>
              <p:tags r:id="rId130"/>
            </p:custDataLst>
          </p:nvPr>
        </p:nvSpPr>
        <p:spPr>
          <a:xfrm>
            <a:off x="2541270" y="4036060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协议签署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8" name="圆角矩形 87"/>
          <p:cNvSpPr/>
          <p:nvPr>
            <p:custDataLst>
              <p:tags r:id="rId131"/>
            </p:custDataLst>
          </p:nvPr>
        </p:nvSpPr>
        <p:spPr>
          <a:xfrm>
            <a:off x="2541270" y="3686175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放款通知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9" name="圆角矩形 88"/>
          <p:cNvSpPr/>
          <p:nvPr>
            <p:custDataLst>
              <p:tags r:id="rId132"/>
            </p:custDataLst>
          </p:nvPr>
        </p:nvSpPr>
        <p:spPr>
          <a:xfrm>
            <a:off x="2541270" y="3336290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用信审批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0" name="圆角矩形 89"/>
          <p:cNvSpPr/>
          <p:nvPr>
            <p:custDataLst>
              <p:tags r:id="rId133"/>
            </p:custDataLst>
          </p:nvPr>
        </p:nvSpPr>
        <p:spPr>
          <a:xfrm>
            <a:off x="4435475" y="2640965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机构管理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1" name="圆角矩形 90"/>
          <p:cNvSpPr/>
          <p:nvPr>
            <p:custDataLst>
              <p:tags r:id="rId134"/>
            </p:custDataLst>
          </p:nvPr>
        </p:nvSpPr>
        <p:spPr>
          <a:xfrm>
            <a:off x="5248910" y="2640965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路由管理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3" name="圆角矩形 92"/>
          <p:cNvSpPr/>
          <p:nvPr>
            <p:custDataLst>
              <p:tags r:id="rId135"/>
            </p:custDataLst>
          </p:nvPr>
        </p:nvSpPr>
        <p:spPr>
          <a:xfrm>
            <a:off x="4435475" y="3339465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授信审批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4" name="圆角矩形 93"/>
          <p:cNvSpPr/>
          <p:nvPr>
            <p:custDataLst>
              <p:tags r:id="rId136"/>
            </p:custDataLst>
          </p:nvPr>
        </p:nvSpPr>
        <p:spPr>
          <a:xfrm>
            <a:off x="5248910" y="3339465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用信审批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5" name="圆角矩形 94"/>
          <p:cNvSpPr/>
          <p:nvPr>
            <p:custDataLst>
              <p:tags r:id="rId137"/>
            </p:custDataLst>
          </p:nvPr>
        </p:nvSpPr>
        <p:spPr>
          <a:xfrm>
            <a:off x="5248910" y="2990215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撞库查询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6" name="圆角矩形 95"/>
          <p:cNvSpPr/>
          <p:nvPr>
            <p:custDataLst>
              <p:tags r:id="rId138"/>
            </p:custDataLst>
          </p:nvPr>
        </p:nvSpPr>
        <p:spPr>
          <a:xfrm>
            <a:off x="4435475" y="3688715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结果通知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8" name="圆角矩形 97"/>
          <p:cNvSpPr/>
          <p:nvPr>
            <p:custDataLst>
              <p:tags r:id="rId139"/>
            </p:custDataLst>
          </p:nvPr>
        </p:nvSpPr>
        <p:spPr>
          <a:xfrm>
            <a:off x="4435475" y="2990215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路由决策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9" name="圆角矩形 98"/>
          <p:cNvSpPr/>
          <p:nvPr>
            <p:custDataLst>
              <p:tags r:id="rId140"/>
            </p:custDataLst>
          </p:nvPr>
        </p:nvSpPr>
        <p:spPr>
          <a:xfrm>
            <a:off x="5248910" y="3688715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协议下载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5" name="圆角矩形 104"/>
          <p:cNvSpPr/>
          <p:nvPr>
            <p:custDataLst>
              <p:tags r:id="rId141"/>
            </p:custDataLst>
          </p:nvPr>
        </p:nvSpPr>
        <p:spPr>
          <a:xfrm>
            <a:off x="4435475" y="4037965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流程编排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6" name="圆角矩形 105"/>
          <p:cNvSpPr/>
          <p:nvPr>
            <p:custDataLst>
              <p:tags r:id="rId142"/>
            </p:custDataLst>
          </p:nvPr>
        </p:nvSpPr>
        <p:spPr>
          <a:xfrm>
            <a:off x="4435475" y="4387215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资产同步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7" name="圆角矩形 106"/>
          <p:cNvSpPr/>
          <p:nvPr>
            <p:custDataLst>
              <p:tags r:id="rId143"/>
            </p:custDataLst>
          </p:nvPr>
        </p:nvSpPr>
        <p:spPr>
          <a:xfrm>
            <a:off x="5248910" y="4387215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费用结算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8" name="圆角矩形 107"/>
          <p:cNvSpPr/>
          <p:nvPr>
            <p:custDataLst>
              <p:tags r:id="rId144"/>
            </p:custDataLst>
          </p:nvPr>
        </p:nvSpPr>
        <p:spPr>
          <a:xfrm>
            <a:off x="5248910" y="4037965"/>
            <a:ext cx="710565" cy="2749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报文转换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5" name="圆角矩形 84"/>
          <p:cNvSpPr/>
          <p:nvPr>
            <p:custDataLst>
              <p:tags r:id="rId145"/>
            </p:custDataLst>
          </p:nvPr>
        </p:nvSpPr>
        <p:spPr>
          <a:xfrm>
            <a:off x="9519285" y="-1193800"/>
            <a:ext cx="1764030" cy="1191260"/>
          </a:xfrm>
          <a:prstGeom prst="roundRect">
            <a:avLst>
              <a:gd name="adj" fmla="val 2948"/>
            </a:avLst>
          </a:prstGeom>
          <a:solidFill>
            <a:schemeClr val="bg1"/>
          </a:solidFill>
          <a:ln w="12700">
            <a:solidFill>
              <a:schemeClr val="accent1">
                <a:alpha val="61000"/>
              </a:schemeClr>
            </a:solidFill>
            <a:prstDash val="sysDash"/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p>
            <a:pPr lvl="0" algn="ctr">
              <a:lnSpc>
                <a:spcPct val="80000"/>
              </a:lnSpc>
              <a:buClrTx/>
              <a:buSzTx/>
              <a:buFontTx/>
            </a:pPr>
            <a:endParaRPr lang="zh-CN" altLang="en-US" sz="800" b="1">
              <a:solidFill>
                <a:schemeClr val="tx1">
                  <a:lumMod val="95000"/>
                  <a:lumOff val="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6" name="同侧圆角矩形 85"/>
          <p:cNvSpPr/>
          <p:nvPr/>
        </p:nvSpPr>
        <p:spPr>
          <a:xfrm>
            <a:off x="9519285" y="-1193800"/>
            <a:ext cx="1764000" cy="198120"/>
          </a:xfrm>
          <a:prstGeom prst="round2SameRect">
            <a:avLst>
              <a:gd name="adj1" fmla="val 28823"/>
              <a:gd name="adj2" fmla="val 0"/>
            </a:avLst>
          </a:prstGeom>
          <a:gradFill>
            <a:gsLst>
              <a:gs pos="0">
                <a:srgbClr val="2957DE"/>
              </a:gs>
              <a:gs pos="100000">
                <a:srgbClr val="598BF6"/>
              </a:gs>
            </a:gsLst>
            <a:lin ang="4500000" scaled="0"/>
          </a:gradFill>
          <a:ln w="6032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信贷资产管理系统</a:t>
            </a:r>
            <a:endParaRPr lang="zh-CN" altLang="en-US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7" name="圆角矩形 86"/>
          <p:cNvSpPr/>
          <p:nvPr>
            <p:custDataLst>
              <p:tags r:id="rId146"/>
            </p:custDataLst>
          </p:nvPr>
        </p:nvSpPr>
        <p:spPr>
          <a:xfrm>
            <a:off x="9609455" y="-898525"/>
            <a:ext cx="468000" cy="215900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借据管理</a:t>
            </a:r>
            <a:endParaRPr lang="zh-CN" altLang="en-US" sz="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2" name="圆角矩形 91"/>
          <p:cNvSpPr/>
          <p:nvPr>
            <p:custDataLst>
              <p:tags r:id="rId147"/>
            </p:custDataLst>
          </p:nvPr>
        </p:nvSpPr>
        <p:spPr>
          <a:xfrm>
            <a:off x="10163815" y="-898525"/>
            <a:ext cx="467995" cy="215900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计划管理</a:t>
            </a:r>
            <a:endParaRPr lang="zh-CN" altLang="en-US" sz="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7" name="圆角矩形 96"/>
          <p:cNvSpPr/>
          <p:nvPr>
            <p:custDataLst>
              <p:tags r:id="rId148"/>
            </p:custDataLst>
          </p:nvPr>
        </p:nvSpPr>
        <p:spPr>
          <a:xfrm>
            <a:off x="9609455" y="-602615"/>
            <a:ext cx="468000" cy="215900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减免管理</a:t>
            </a:r>
            <a:endParaRPr lang="zh-CN" altLang="en-US" sz="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0" name="圆角矩形 99"/>
          <p:cNvSpPr/>
          <p:nvPr>
            <p:custDataLst>
              <p:tags r:id="rId149"/>
            </p:custDataLst>
          </p:nvPr>
        </p:nvSpPr>
        <p:spPr>
          <a:xfrm>
            <a:off x="10163810" y="-602615"/>
            <a:ext cx="468000" cy="215900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计提管理</a:t>
            </a:r>
            <a:endParaRPr lang="zh-CN" altLang="en-US" sz="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1" name="圆角矩形 100"/>
          <p:cNvSpPr/>
          <p:nvPr>
            <p:custDataLst>
              <p:tags r:id="rId150"/>
            </p:custDataLst>
          </p:nvPr>
        </p:nvSpPr>
        <p:spPr>
          <a:xfrm>
            <a:off x="10718165" y="-602615"/>
            <a:ext cx="468000" cy="215900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冲销管理</a:t>
            </a:r>
            <a:endParaRPr lang="zh-CN" altLang="en-US" sz="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2" name="圆角矩形 101"/>
          <p:cNvSpPr/>
          <p:nvPr>
            <p:custDataLst>
              <p:tags r:id="rId151"/>
            </p:custDataLst>
          </p:nvPr>
        </p:nvSpPr>
        <p:spPr>
          <a:xfrm>
            <a:off x="9609455" y="-306705"/>
            <a:ext cx="468000" cy="215900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变更管理</a:t>
            </a:r>
            <a:endParaRPr lang="zh-CN" altLang="en-US" sz="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3" name="圆角矩形 102"/>
          <p:cNvSpPr/>
          <p:nvPr>
            <p:custDataLst>
              <p:tags r:id="rId152"/>
            </p:custDataLst>
          </p:nvPr>
        </p:nvSpPr>
        <p:spPr>
          <a:xfrm>
            <a:off x="10163810" y="-306705"/>
            <a:ext cx="468000" cy="215900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账务管理</a:t>
            </a:r>
            <a:endParaRPr lang="zh-CN" altLang="en-US" sz="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4" name="圆角矩形 103"/>
          <p:cNvSpPr/>
          <p:nvPr>
            <p:custDataLst>
              <p:tags r:id="rId153"/>
            </p:custDataLst>
          </p:nvPr>
        </p:nvSpPr>
        <p:spPr>
          <a:xfrm>
            <a:off x="10718165" y="-306705"/>
            <a:ext cx="468000" cy="215900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日终管理</a:t>
            </a:r>
            <a:endParaRPr lang="zh-CN" altLang="en-US" sz="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9" name="圆角矩形 108"/>
          <p:cNvSpPr/>
          <p:nvPr>
            <p:custDataLst>
              <p:tags r:id="rId154"/>
            </p:custDataLst>
          </p:nvPr>
        </p:nvSpPr>
        <p:spPr>
          <a:xfrm>
            <a:off x="10718170" y="-898525"/>
            <a:ext cx="467995" cy="215900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还款管理</a:t>
            </a:r>
            <a:endParaRPr lang="zh-CN" altLang="en-US" sz="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0" name="圆角矩形 109"/>
          <p:cNvSpPr/>
          <p:nvPr>
            <p:custDataLst>
              <p:tags r:id="rId155"/>
            </p:custDataLst>
          </p:nvPr>
        </p:nvSpPr>
        <p:spPr>
          <a:xfrm>
            <a:off x="7106285" y="-1193800"/>
            <a:ext cx="1764030" cy="1191260"/>
          </a:xfrm>
          <a:prstGeom prst="roundRect">
            <a:avLst>
              <a:gd name="adj" fmla="val 2948"/>
            </a:avLst>
          </a:prstGeom>
          <a:solidFill>
            <a:schemeClr val="bg1"/>
          </a:solidFill>
          <a:ln w="12700">
            <a:solidFill>
              <a:schemeClr val="accent1">
                <a:alpha val="61000"/>
              </a:schemeClr>
            </a:solidFill>
            <a:prstDash val="sysDash"/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p>
            <a:pPr lvl="0" algn="ctr">
              <a:lnSpc>
                <a:spcPct val="80000"/>
              </a:lnSpc>
              <a:buClrTx/>
              <a:buSzTx/>
              <a:buFontTx/>
            </a:pPr>
            <a:endParaRPr lang="zh-CN" altLang="en-US" sz="800" b="1">
              <a:solidFill>
                <a:schemeClr val="tx1">
                  <a:lumMod val="95000"/>
                  <a:lumOff val="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1" name="同侧圆角矩形 110"/>
          <p:cNvSpPr/>
          <p:nvPr/>
        </p:nvSpPr>
        <p:spPr>
          <a:xfrm>
            <a:off x="7106285" y="-1193800"/>
            <a:ext cx="1764000" cy="198120"/>
          </a:xfrm>
          <a:prstGeom prst="round2SameRect">
            <a:avLst>
              <a:gd name="adj1" fmla="val 28823"/>
              <a:gd name="adj2" fmla="val 0"/>
            </a:avLst>
          </a:prstGeom>
          <a:gradFill>
            <a:gsLst>
              <a:gs pos="0">
                <a:srgbClr val="2957DE"/>
              </a:gs>
              <a:gs pos="100000">
                <a:srgbClr val="598BF6"/>
              </a:gs>
            </a:gsLst>
            <a:lin ang="4500000" scaled="0"/>
          </a:gradFill>
          <a:ln w="6032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信贷客户管理系统</a:t>
            </a:r>
            <a:endParaRPr lang="zh-CN" altLang="en-US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2" name="圆角矩形 111"/>
          <p:cNvSpPr/>
          <p:nvPr>
            <p:custDataLst>
              <p:tags r:id="rId156"/>
            </p:custDataLst>
          </p:nvPr>
        </p:nvSpPr>
        <p:spPr>
          <a:xfrm>
            <a:off x="7196455" y="-898525"/>
            <a:ext cx="468000" cy="215900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个人客户</a:t>
            </a:r>
            <a:endParaRPr lang="zh-CN" altLang="en-US" sz="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3" name="圆角矩形 112"/>
          <p:cNvSpPr/>
          <p:nvPr>
            <p:custDataLst>
              <p:tags r:id="rId157"/>
            </p:custDataLst>
          </p:nvPr>
        </p:nvSpPr>
        <p:spPr>
          <a:xfrm>
            <a:off x="7750815" y="-898525"/>
            <a:ext cx="467995" cy="215900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企业客户</a:t>
            </a:r>
            <a:endParaRPr lang="zh-CN" altLang="en-US" sz="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4" name="圆角矩形 113"/>
          <p:cNvSpPr/>
          <p:nvPr>
            <p:custDataLst>
              <p:tags r:id="rId158"/>
            </p:custDataLst>
          </p:nvPr>
        </p:nvSpPr>
        <p:spPr>
          <a:xfrm>
            <a:off x="7196455" y="-602615"/>
            <a:ext cx="468000" cy="215900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5" name="圆角矩形 114"/>
          <p:cNvSpPr/>
          <p:nvPr>
            <p:custDataLst>
              <p:tags r:id="rId159"/>
            </p:custDataLst>
          </p:nvPr>
        </p:nvSpPr>
        <p:spPr>
          <a:xfrm>
            <a:off x="7750810" y="-602615"/>
            <a:ext cx="468000" cy="215900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6" name="圆角矩形 115"/>
          <p:cNvSpPr/>
          <p:nvPr>
            <p:custDataLst>
              <p:tags r:id="rId160"/>
            </p:custDataLst>
          </p:nvPr>
        </p:nvSpPr>
        <p:spPr>
          <a:xfrm>
            <a:off x="8305165" y="-602615"/>
            <a:ext cx="468000" cy="215900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7" name="圆角矩形 116"/>
          <p:cNvSpPr/>
          <p:nvPr>
            <p:custDataLst>
              <p:tags r:id="rId161"/>
            </p:custDataLst>
          </p:nvPr>
        </p:nvSpPr>
        <p:spPr>
          <a:xfrm>
            <a:off x="7196455" y="-306705"/>
            <a:ext cx="468000" cy="215900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8" name="圆角矩形 117"/>
          <p:cNvSpPr/>
          <p:nvPr>
            <p:custDataLst>
              <p:tags r:id="rId162"/>
            </p:custDataLst>
          </p:nvPr>
        </p:nvSpPr>
        <p:spPr>
          <a:xfrm>
            <a:off x="7750810" y="-306705"/>
            <a:ext cx="468000" cy="215900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9" name="圆角矩形 118"/>
          <p:cNvSpPr/>
          <p:nvPr>
            <p:custDataLst>
              <p:tags r:id="rId163"/>
            </p:custDataLst>
          </p:nvPr>
        </p:nvSpPr>
        <p:spPr>
          <a:xfrm>
            <a:off x="8305165" y="-306705"/>
            <a:ext cx="468000" cy="215900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20" name="圆角矩形 119"/>
          <p:cNvSpPr/>
          <p:nvPr>
            <p:custDataLst>
              <p:tags r:id="rId164"/>
            </p:custDataLst>
          </p:nvPr>
        </p:nvSpPr>
        <p:spPr>
          <a:xfrm>
            <a:off x="8305170" y="-898525"/>
            <a:ext cx="467995" cy="215900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组合 67"/>
          <p:cNvGrpSpPr/>
          <p:nvPr/>
        </p:nvGrpSpPr>
        <p:grpSpPr>
          <a:xfrm>
            <a:off x="226695" y="230505"/>
            <a:ext cx="5721350" cy="1391234"/>
            <a:chOff x="357" y="363"/>
            <a:chExt cx="9010" cy="2381"/>
          </a:xfrm>
        </p:grpSpPr>
        <p:sp>
          <p:nvSpPr>
            <p:cNvPr id="41" name="矩形 40"/>
            <p:cNvSpPr/>
            <p:nvPr/>
          </p:nvSpPr>
          <p:spPr>
            <a:xfrm>
              <a:off x="357" y="363"/>
              <a:ext cx="9010" cy="2381"/>
            </a:xfrm>
            <a:prstGeom prst="rect">
              <a:avLst/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2" name="文本框 16"/>
            <p:cNvSpPr txBox="1"/>
            <p:nvPr>
              <p:custDataLst>
                <p:tags r:id="rId1"/>
              </p:custDataLst>
            </p:nvPr>
          </p:nvSpPr>
          <p:spPr>
            <a:xfrm>
              <a:off x="385" y="363"/>
              <a:ext cx="482" cy="2381"/>
            </a:xfrm>
            <a:prstGeom prst="rect">
              <a:avLst/>
            </a:prstGeom>
            <a:noFill/>
            <a:effectLst/>
          </p:spPr>
          <p:txBody>
            <a:bodyPr vert="mongolianVert" wrap="square" rtlCol="0">
              <a:noAutofit/>
            </a:bodyPr>
            <a:lstStyle>
              <a:defPPr>
                <a:defRPr lang="zh-CN"/>
              </a:defPPr>
              <a:lvl1pPr>
                <a:defRPr sz="2400">
                  <a:latin typeface="汉仪菱心体简" panose="02010400000101010101" charset="-122"/>
                  <a:ea typeface="汉仪菱心体简" panose="02010400000101010101" charset="-122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buClrTx/>
                <a:buSzTx/>
                <a:buFontTx/>
              </a:pPr>
              <a:r>
                <a:rPr lang="zh-CN" sz="1000" b="1" dirty="0">
                  <a:solidFill>
                    <a:srgbClr val="2A59DF"/>
                  </a:solidFill>
                  <a:latin typeface="微软雅黑" panose="020B0503020204020204" charset="-122"/>
                  <a:ea typeface="微软雅黑" panose="020B0503020204020204" charset="-122"/>
                  <a:sym typeface="HarmonyOS Sans SC Bold" panose="00000800000000000000" pitchFamily="2" charset="-122"/>
                </a:rPr>
                <a:t>业务层</a:t>
              </a:r>
              <a:endParaRPr lang="zh-CN" sz="1000" b="1" dirty="0">
                <a:solidFill>
                  <a:srgbClr val="2A59DF"/>
                </a:solidFill>
                <a:latin typeface="微软雅黑" panose="020B0503020204020204" charset="-122"/>
                <a:ea typeface="微软雅黑" panose="020B0503020204020204" charset="-122"/>
                <a:sym typeface="HarmonyOS Sans SC Bold" panose="00000800000000000000" pitchFamily="2" charset="-122"/>
              </a:endParaRPr>
            </a:p>
          </p:txBody>
        </p:sp>
        <p:cxnSp>
          <p:nvCxnSpPr>
            <p:cNvPr id="43" name="直接连接符 256"/>
            <p:cNvCxnSpPr/>
            <p:nvPr>
              <p:custDataLst>
                <p:tags r:id="rId2"/>
              </p:custDataLst>
            </p:nvPr>
          </p:nvCxnSpPr>
          <p:spPr>
            <a:xfrm>
              <a:off x="385" y="363"/>
              <a:ext cx="0" cy="2381"/>
            </a:xfrm>
            <a:prstGeom prst="line">
              <a:avLst/>
            </a:prstGeom>
            <a:ln w="31750">
              <a:solidFill>
                <a:srgbClr val="92D050"/>
              </a:solidFill>
            </a:ln>
            <a:effectLst/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44" name="圆角矩形 43"/>
          <p:cNvSpPr/>
          <p:nvPr>
            <p:custDataLst>
              <p:tags r:id="rId3"/>
            </p:custDataLst>
          </p:nvPr>
        </p:nvSpPr>
        <p:spPr>
          <a:xfrm>
            <a:off x="756920" y="380365"/>
            <a:ext cx="3655060" cy="458470"/>
          </a:xfrm>
          <a:prstGeom prst="roundRect">
            <a:avLst>
              <a:gd name="adj" fmla="val 2948"/>
            </a:avLst>
          </a:prstGeom>
          <a:solidFill>
            <a:schemeClr val="bg1"/>
          </a:solidFill>
          <a:ln w="12700">
            <a:solidFill>
              <a:schemeClr val="accent1">
                <a:alpha val="61000"/>
              </a:schemeClr>
            </a:solidFill>
            <a:prstDash val="sysDash"/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p>
            <a:pPr lvl="0" algn="ctr">
              <a:lnSpc>
                <a:spcPct val="80000"/>
              </a:lnSpc>
              <a:buClrTx/>
              <a:buSzTx/>
              <a:buFontTx/>
            </a:pPr>
            <a:endParaRPr lang="zh-CN" altLang="en-US" sz="800" b="1">
              <a:solidFill>
                <a:schemeClr val="tx1">
                  <a:lumMod val="95000"/>
                  <a:lumOff val="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55" name="图片 54" descr="HTML5_Logo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3635" y="473393"/>
            <a:ext cx="292735" cy="292735"/>
          </a:xfrm>
          <a:prstGeom prst="rect">
            <a:avLst/>
          </a:prstGeom>
        </p:spPr>
      </p:pic>
      <p:pic>
        <p:nvPicPr>
          <p:cNvPr id="57" name="图片 56" descr="API请求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22791" t="16810" r="21711" b="13480"/>
          <a:stretch>
            <a:fillRect/>
          </a:stretch>
        </p:blipFill>
        <p:spPr>
          <a:xfrm>
            <a:off x="1760855" y="479108"/>
            <a:ext cx="351790" cy="281305"/>
          </a:xfrm>
          <a:prstGeom prst="rect">
            <a:avLst/>
          </a:prstGeom>
        </p:spPr>
      </p:pic>
      <p:pic>
        <p:nvPicPr>
          <p:cNvPr id="58" name="图片 57" descr="微信公众号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437130" y="436880"/>
            <a:ext cx="450850" cy="365760"/>
          </a:xfrm>
          <a:prstGeom prst="rect">
            <a:avLst/>
          </a:prstGeom>
        </p:spPr>
      </p:pic>
      <p:pic>
        <p:nvPicPr>
          <p:cNvPr id="59" name="图片 58" descr="小程序 (1)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212465" y="498793"/>
            <a:ext cx="241935" cy="241935"/>
          </a:xfrm>
          <a:prstGeom prst="rect">
            <a:avLst/>
          </a:prstGeom>
        </p:spPr>
      </p:pic>
      <p:pic>
        <p:nvPicPr>
          <p:cNvPr id="60" name="图片 59" descr="APP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778885" y="482600"/>
            <a:ext cx="274320" cy="274320"/>
          </a:xfrm>
          <a:prstGeom prst="rect">
            <a:avLst/>
          </a:prstGeom>
        </p:spPr>
      </p:pic>
      <p:sp>
        <p:nvSpPr>
          <p:cNvPr id="63" name="圆角矩形 62"/>
          <p:cNvSpPr/>
          <p:nvPr>
            <p:custDataLst>
              <p:tags r:id="rId14"/>
            </p:custDataLst>
          </p:nvPr>
        </p:nvSpPr>
        <p:spPr>
          <a:xfrm>
            <a:off x="756920" y="1012190"/>
            <a:ext cx="4902200" cy="458470"/>
          </a:xfrm>
          <a:prstGeom prst="roundRect">
            <a:avLst>
              <a:gd name="adj" fmla="val 2948"/>
            </a:avLst>
          </a:prstGeom>
          <a:solidFill>
            <a:schemeClr val="bg1"/>
          </a:solidFill>
          <a:ln w="12700">
            <a:solidFill>
              <a:schemeClr val="accent1">
                <a:alpha val="61000"/>
              </a:schemeClr>
            </a:solidFill>
            <a:prstDash val="sysDash"/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p>
            <a:pPr lvl="0" algn="ctr">
              <a:lnSpc>
                <a:spcPct val="80000"/>
              </a:lnSpc>
              <a:buClrTx/>
              <a:buSzTx/>
              <a:buFontTx/>
            </a:pPr>
            <a:endParaRPr lang="zh-CN" altLang="en-US" sz="800" b="1">
              <a:solidFill>
                <a:schemeClr val="tx1">
                  <a:lumMod val="95000"/>
                  <a:lumOff val="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5" name="同侧圆角矩形 64"/>
          <p:cNvSpPr/>
          <p:nvPr/>
        </p:nvSpPr>
        <p:spPr>
          <a:xfrm>
            <a:off x="1037590" y="1090295"/>
            <a:ext cx="814705" cy="302260"/>
          </a:xfrm>
          <a:prstGeom prst="round2SameRect">
            <a:avLst>
              <a:gd name="adj1" fmla="val 0"/>
              <a:gd name="adj2" fmla="val 0"/>
            </a:avLst>
          </a:prstGeom>
          <a:gradFill>
            <a:gsLst>
              <a:gs pos="0">
                <a:srgbClr val="2957DE"/>
              </a:gs>
              <a:gs pos="100000">
                <a:srgbClr val="598BF6"/>
              </a:gs>
            </a:gsLst>
            <a:lin ang="4500000" scaled="0"/>
          </a:gradFill>
          <a:ln w="6032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富民贷</a:t>
            </a:r>
            <a:r>
              <a:rPr lang="en-US" altLang="zh-CN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自营</a:t>
            </a:r>
            <a:endParaRPr lang="zh-CN" altLang="en-US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6" name="同侧圆角矩形 65"/>
          <p:cNvSpPr/>
          <p:nvPr/>
        </p:nvSpPr>
        <p:spPr>
          <a:xfrm>
            <a:off x="3327400" y="1090295"/>
            <a:ext cx="814705" cy="302260"/>
          </a:xfrm>
          <a:prstGeom prst="round2SameRect">
            <a:avLst>
              <a:gd name="adj1" fmla="val 0"/>
              <a:gd name="adj2" fmla="val 0"/>
            </a:avLst>
          </a:prstGeom>
          <a:gradFill>
            <a:gsLst>
              <a:gs pos="0">
                <a:srgbClr val="2957DE"/>
              </a:gs>
              <a:gs pos="100000">
                <a:srgbClr val="598BF6"/>
              </a:gs>
            </a:gsLst>
            <a:lin ang="4500000" scaled="0"/>
          </a:gradFill>
          <a:ln w="6032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富业贷</a:t>
            </a:r>
            <a:endParaRPr lang="zh-CN" altLang="en-US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7" name="同侧圆角矩形 66"/>
          <p:cNvSpPr/>
          <p:nvPr/>
        </p:nvSpPr>
        <p:spPr>
          <a:xfrm>
            <a:off x="4472305" y="1090295"/>
            <a:ext cx="814705" cy="302260"/>
          </a:xfrm>
          <a:prstGeom prst="round2SameRect">
            <a:avLst>
              <a:gd name="adj1" fmla="val 0"/>
              <a:gd name="adj2" fmla="val 0"/>
            </a:avLst>
          </a:prstGeom>
          <a:gradFill>
            <a:gsLst>
              <a:gs pos="0">
                <a:srgbClr val="2957DE"/>
              </a:gs>
              <a:gs pos="100000">
                <a:srgbClr val="598BF6"/>
              </a:gs>
            </a:gsLst>
            <a:lin ang="4500000" scaled="0"/>
          </a:gradFill>
          <a:ln w="6032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车金融</a:t>
            </a:r>
            <a:endParaRPr lang="zh-CN" altLang="en-US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6144260" y="230505"/>
            <a:ext cx="5502275" cy="139128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4" name="文本框 16"/>
          <p:cNvSpPr txBox="1"/>
          <p:nvPr>
            <p:custDataLst>
              <p:tags r:id="rId15"/>
            </p:custDataLst>
          </p:nvPr>
        </p:nvSpPr>
        <p:spPr>
          <a:xfrm>
            <a:off x="6161405" y="230505"/>
            <a:ext cx="306000" cy="1391285"/>
          </a:xfrm>
          <a:prstGeom prst="rect">
            <a:avLst/>
          </a:prstGeom>
          <a:noFill/>
          <a:effectLst/>
        </p:spPr>
        <p:txBody>
          <a:bodyPr vert="mongolianVert" wrap="square" rtlCol="0">
            <a:noAutofit/>
          </a:bodyPr>
          <a:lstStyle>
            <a:defPPr>
              <a:defRPr lang="zh-CN"/>
            </a:defPPr>
            <a:lvl1pPr>
              <a:defRPr sz="2400">
                <a:latin typeface="汉仪菱心体简" panose="02010400000101010101" charset="-122"/>
                <a:ea typeface="汉仪菱心体简" panose="02010400000101010101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zh-CN" sz="1000" b="1" dirty="0">
                <a:solidFill>
                  <a:srgbClr val="2A59DF"/>
                </a:solidFill>
                <a:latin typeface="微软雅黑" panose="020B0503020204020204" charset="-122"/>
                <a:ea typeface="微软雅黑" panose="020B0503020204020204" charset="-122"/>
                <a:sym typeface="HarmonyOS Sans SC Bold" panose="00000800000000000000" pitchFamily="2" charset="-122"/>
              </a:rPr>
              <a:t>资产层</a:t>
            </a:r>
            <a:endParaRPr lang="zh-CN" sz="1000" b="1" dirty="0">
              <a:solidFill>
                <a:srgbClr val="2A59DF"/>
              </a:solidFill>
              <a:latin typeface="微软雅黑" panose="020B0503020204020204" charset="-122"/>
              <a:ea typeface="微软雅黑" panose="020B0503020204020204" charset="-122"/>
              <a:sym typeface="HarmonyOS Sans SC Bold" panose="00000800000000000000" pitchFamily="2" charset="-122"/>
            </a:endParaRPr>
          </a:p>
        </p:txBody>
      </p:sp>
      <p:cxnSp>
        <p:nvCxnSpPr>
          <p:cNvPr id="84" name="直接连接符 256"/>
          <p:cNvCxnSpPr/>
          <p:nvPr>
            <p:custDataLst>
              <p:tags r:id="rId16"/>
            </p:custDataLst>
          </p:nvPr>
        </p:nvCxnSpPr>
        <p:spPr>
          <a:xfrm>
            <a:off x="6161405" y="230505"/>
            <a:ext cx="0" cy="1391285"/>
          </a:xfrm>
          <a:prstGeom prst="line">
            <a:avLst/>
          </a:prstGeom>
          <a:ln w="31750">
            <a:solidFill>
              <a:srgbClr val="92D050"/>
            </a:solidFill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21" name="组合 120"/>
          <p:cNvGrpSpPr/>
          <p:nvPr/>
        </p:nvGrpSpPr>
        <p:grpSpPr>
          <a:xfrm>
            <a:off x="226695" y="1824355"/>
            <a:ext cx="11419840" cy="3976370"/>
            <a:chOff x="357" y="363"/>
            <a:chExt cx="9010" cy="2381"/>
          </a:xfrm>
        </p:grpSpPr>
        <p:sp>
          <p:nvSpPr>
            <p:cNvPr id="122" name="矩形 121"/>
            <p:cNvSpPr/>
            <p:nvPr/>
          </p:nvSpPr>
          <p:spPr>
            <a:xfrm>
              <a:off x="357" y="363"/>
              <a:ext cx="9010" cy="2381"/>
            </a:xfrm>
            <a:prstGeom prst="rect">
              <a:avLst/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5" name="文本框 16"/>
            <p:cNvSpPr txBox="1"/>
            <p:nvPr>
              <p:custDataLst>
                <p:tags r:id="rId17"/>
              </p:custDataLst>
            </p:nvPr>
          </p:nvSpPr>
          <p:spPr>
            <a:xfrm>
              <a:off x="385" y="363"/>
              <a:ext cx="241" cy="2381"/>
            </a:xfrm>
            <a:prstGeom prst="rect">
              <a:avLst/>
            </a:prstGeom>
            <a:noFill/>
            <a:effectLst/>
          </p:spPr>
          <p:txBody>
            <a:bodyPr vert="mongolianVert" wrap="square" rtlCol="0">
              <a:noAutofit/>
            </a:bodyPr>
            <a:lstStyle>
              <a:defPPr>
                <a:defRPr lang="zh-CN"/>
              </a:defPPr>
              <a:lvl1pPr>
                <a:defRPr sz="2400">
                  <a:latin typeface="汉仪菱心体简" panose="02010400000101010101" charset="-122"/>
                  <a:ea typeface="汉仪菱心体简" panose="02010400000101010101" charset="-122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buClrTx/>
                <a:buSzTx/>
                <a:buFontTx/>
              </a:pPr>
              <a:r>
                <a:rPr lang="zh-CN" sz="1000" b="1" dirty="0">
                  <a:solidFill>
                    <a:srgbClr val="2A59DF"/>
                  </a:solidFill>
                  <a:latin typeface="微软雅黑" panose="020B0503020204020204" charset="-122"/>
                  <a:ea typeface="微软雅黑" panose="020B0503020204020204" charset="-122"/>
                  <a:sym typeface="HarmonyOS Sans SC Bold" panose="00000800000000000000" pitchFamily="2" charset="-122"/>
                </a:rPr>
                <a:t>信贷平台化业务技术能力体系2.0</a:t>
              </a:r>
              <a:endParaRPr lang="zh-CN" sz="1000" b="1" dirty="0">
                <a:solidFill>
                  <a:srgbClr val="2A59DF"/>
                </a:solidFill>
                <a:latin typeface="微软雅黑" panose="020B0503020204020204" charset="-122"/>
                <a:ea typeface="微软雅黑" panose="020B0503020204020204" charset="-122"/>
                <a:sym typeface="HarmonyOS Sans SC Bold" panose="00000800000000000000" pitchFamily="2" charset="-122"/>
              </a:endParaRPr>
            </a:p>
          </p:txBody>
        </p:sp>
        <p:cxnSp>
          <p:nvCxnSpPr>
            <p:cNvPr id="126" name="直接连接符 256"/>
            <p:cNvCxnSpPr/>
            <p:nvPr>
              <p:custDataLst>
                <p:tags r:id="rId18"/>
              </p:custDataLst>
            </p:nvPr>
          </p:nvCxnSpPr>
          <p:spPr>
            <a:xfrm>
              <a:off x="370" y="363"/>
              <a:ext cx="0" cy="2381"/>
            </a:xfrm>
            <a:prstGeom prst="line">
              <a:avLst/>
            </a:prstGeom>
            <a:ln w="31750">
              <a:solidFill>
                <a:srgbClr val="92D050"/>
              </a:solidFill>
            </a:ln>
            <a:effectLst/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28" name="矩形 127"/>
          <p:cNvSpPr/>
          <p:nvPr/>
        </p:nvSpPr>
        <p:spPr>
          <a:xfrm>
            <a:off x="226695" y="5968365"/>
            <a:ext cx="9745345" cy="68516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29" name="直接连接符 256"/>
          <p:cNvCxnSpPr/>
          <p:nvPr>
            <p:custDataLst>
              <p:tags r:id="rId19"/>
            </p:custDataLst>
          </p:nvPr>
        </p:nvCxnSpPr>
        <p:spPr>
          <a:xfrm flipH="1">
            <a:off x="238760" y="5968365"/>
            <a:ext cx="1270" cy="683895"/>
          </a:xfrm>
          <a:prstGeom prst="line">
            <a:avLst/>
          </a:prstGeom>
          <a:ln w="31750">
            <a:solidFill>
              <a:srgbClr val="92D050"/>
            </a:solidFill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0" name="文本框 16"/>
          <p:cNvSpPr txBox="1"/>
          <p:nvPr>
            <p:custDataLst>
              <p:tags r:id="rId20"/>
            </p:custDataLst>
          </p:nvPr>
        </p:nvSpPr>
        <p:spPr>
          <a:xfrm>
            <a:off x="240030" y="5968365"/>
            <a:ext cx="306070" cy="684530"/>
          </a:xfrm>
          <a:prstGeom prst="rect">
            <a:avLst/>
          </a:prstGeom>
          <a:noFill/>
          <a:effectLst/>
        </p:spPr>
        <p:txBody>
          <a:bodyPr vert="mongolianVert" wrap="square" lIns="0" tIns="0" rIns="0" bIns="0" rtlCol="0" anchor="ctr" anchorCtr="1">
            <a:noAutofit/>
          </a:bodyPr>
          <a:lstStyle>
            <a:defPPr>
              <a:defRPr lang="zh-CN"/>
            </a:defPPr>
            <a:lvl1pPr>
              <a:defRPr sz="2400">
                <a:latin typeface="汉仪菱心体简" panose="02010400000101010101" charset="-122"/>
                <a:ea typeface="汉仪菱心体简" panose="02010400000101010101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zh-CN" sz="1000" b="1" dirty="0">
                <a:solidFill>
                  <a:srgbClr val="2A59DF"/>
                </a:solidFill>
                <a:latin typeface="微软雅黑" panose="020B0503020204020204" charset="-122"/>
                <a:ea typeface="微软雅黑" panose="020B0503020204020204" charset="-122"/>
                <a:sym typeface="HarmonyOS Sans SC Bold" panose="00000800000000000000" pitchFamily="2" charset="-122"/>
              </a:rPr>
              <a:t>基础能力层</a:t>
            </a:r>
            <a:endParaRPr lang="en-US" altLang="zh-CN" sz="1000" b="1" dirty="0">
              <a:solidFill>
                <a:srgbClr val="2A59DF"/>
              </a:solidFill>
              <a:latin typeface="微软雅黑" panose="020B0503020204020204" charset="-122"/>
              <a:ea typeface="微软雅黑" panose="020B0503020204020204" charset="-122"/>
              <a:sym typeface="HarmonyOS Sans SC Bold" panose="00000800000000000000" pitchFamily="2" charset="-122"/>
            </a:endParaRPr>
          </a:p>
        </p:txBody>
      </p:sp>
      <p:sp>
        <p:nvSpPr>
          <p:cNvPr id="131" name="圆角矩形 130"/>
          <p:cNvSpPr/>
          <p:nvPr>
            <p:custDataLst>
              <p:tags r:id="rId21"/>
            </p:custDataLst>
          </p:nvPr>
        </p:nvSpPr>
        <p:spPr>
          <a:xfrm>
            <a:off x="1555750" y="6102350"/>
            <a:ext cx="842645" cy="432000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信贷影像</a:t>
            </a:r>
            <a:endParaRPr lang="zh-CN" altLang="en-US" sz="9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业务系统</a:t>
            </a:r>
            <a:endParaRPr lang="zh-CN" altLang="en-US" sz="9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33" name="圆角矩形 132"/>
          <p:cNvSpPr/>
          <p:nvPr>
            <p:custDataLst>
              <p:tags r:id="rId22"/>
            </p:custDataLst>
          </p:nvPr>
        </p:nvSpPr>
        <p:spPr>
          <a:xfrm>
            <a:off x="3421380" y="6102350"/>
            <a:ext cx="842645" cy="432000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信贷合同</a:t>
            </a:r>
            <a:endParaRPr lang="zh-CN" altLang="en-US" sz="9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管理系统</a:t>
            </a:r>
            <a:endParaRPr lang="en-US" altLang="zh-CN" sz="9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34" name="圆角矩形 133"/>
          <p:cNvSpPr/>
          <p:nvPr>
            <p:custDataLst>
              <p:tags r:id="rId23"/>
            </p:custDataLst>
          </p:nvPr>
        </p:nvSpPr>
        <p:spPr>
          <a:xfrm>
            <a:off x="4354195" y="6102350"/>
            <a:ext cx="842645" cy="432000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信贷消息</a:t>
            </a:r>
            <a:endParaRPr lang="zh-CN" altLang="en-US" sz="9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管理系统</a:t>
            </a:r>
            <a:endParaRPr lang="zh-CN" altLang="en-US" sz="9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35" name="圆角矩形 134"/>
          <p:cNvSpPr/>
          <p:nvPr>
            <p:custDataLst>
              <p:tags r:id="rId24"/>
            </p:custDataLst>
          </p:nvPr>
        </p:nvSpPr>
        <p:spPr>
          <a:xfrm>
            <a:off x="5287010" y="6102350"/>
            <a:ext cx="842645" cy="432000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信贷清分</a:t>
            </a:r>
            <a:endParaRPr lang="zh-CN" altLang="en-US" sz="9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结算系统</a:t>
            </a:r>
            <a:endParaRPr lang="zh-CN" altLang="en-US" sz="9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36" name="圆角矩形 135"/>
          <p:cNvSpPr/>
          <p:nvPr>
            <p:custDataLst>
              <p:tags r:id="rId25"/>
            </p:custDataLst>
          </p:nvPr>
        </p:nvSpPr>
        <p:spPr>
          <a:xfrm>
            <a:off x="6219825" y="6102350"/>
            <a:ext cx="842645" cy="432000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信贷分成</a:t>
            </a:r>
            <a:endParaRPr lang="zh-CN" altLang="en-US" sz="9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计算系统</a:t>
            </a:r>
            <a:endParaRPr lang="zh-CN" altLang="en-US" sz="9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37" name="圆角矩形 136"/>
          <p:cNvSpPr/>
          <p:nvPr>
            <p:custDataLst>
              <p:tags r:id="rId26"/>
            </p:custDataLst>
          </p:nvPr>
        </p:nvSpPr>
        <p:spPr>
          <a:xfrm>
            <a:off x="7152640" y="6102350"/>
            <a:ext cx="842645" cy="432000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信贷对账</a:t>
            </a:r>
            <a:endParaRPr lang="zh-CN" altLang="en-US" sz="9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文件系统</a:t>
            </a:r>
            <a:endParaRPr lang="zh-CN" altLang="en-US" sz="9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38" name="圆角矩形 137"/>
          <p:cNvSpPr/>
          <p:nvPr>
            <p:custDataLst>
              <p:tags r:id="rId27"/>
            </p:custDataLst>
          </p:nvPr>
        </p:nvSpPr>
        <p:spPr>
          <a:xfrm>
            <a:off x="622935" y="6102350"/>
            <a:ext cx="842645" cy="432000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信贷客户</a:t>
            </a:r>
            <a:endParaRPr lang="zh-CN" altLang="en-US" sz="9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管理系统</a:t>
            </a:r>
            <a:endParaRPr lang="zh-CN" altLang="en-US" sz="9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39" name="圆角矩形 138"/>
          <p:cNvSpPr/>
          <p:nvPr>
            <p:custDataLst>
              <p:tags r:id="rId28"/>
            </p:custDataLst>
          </p:nvPr>
        </p:nvSpPr>
        <p:spPr>
          <a:xfrm>
            <a:off x="9018270" y="6102350"/>
            <a:ext cx="842645" cy="432000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信贷运营</a:t>
            </a:r>
            <a:endParaRPr lang="zh-CN" altLang="en-US" sz="9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管理系统</a:t>
            </a:r>
            <a:endParaRPr lang="zh-CN" altLang="en-US" sz="9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40" name="圆角矩形 139"/>
          <p:cNvSpPr/>
          <p:nvPr>
            <p:custDataLst>
              <p:tags r:id="rId29"/>
            </p:custDataLst>
          </p:nvPr>
        </p:nvSpPr>
        <p:spPr>
          <a:xfrm>
            <a:off x="8085455" y="6102350"/>
            <a:ext cx="842645" cy="432000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信贷账务</a:t>
            </a:r>
            <a:endParaRPr lang="zh-CN" altLang="en-US" sz="9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核算系统</a:t>
            </a:r>
            <a:endParaRPr lang="zh-CN" altLang="en-US" sz="9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41" name="圆角矩形 140"/>
          <p:cNvSpPr/>
          <p:nvPr>
            <p:custDataLst>
              <p:tags r:id="rId30"/>
            </p:custDataLst>
          </p:nvPr>
        </p:nvSpPr>
        <p:spPr>
          <a:xfrm>
            <a:off x="2488565" y="6102350"/>
            <a:ext cx="842645" cy="432000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信贷资金</a:t>
            </a:r>
            <a:endParaRPr lang="zh-CN" altLang="en-US" sz="9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管理系统</a:t>
            </a:r>
            <a:endParaRPr lang="zh-CN" altLang="en-US" sz="9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186" name="组合 185"/>
          <p:cNvGrpSpPr/>
          <p:nvPr/>
        </p:nvGrpSpPr>
        <p:grpSpPr>
          <a:xfrm>
            <a:off x="642620" y="1959610"/>
            <a:ext cx="5269865" cy="2932302"/>
            <a:chOff x="1067" y="2980"/>
            <a:chExt cx="8299" cy="4048"/>
          </a:xfrm>
        </p:grpSpPr>
        <p:sp>
          <p:nvSpPr>
            <p:cNvPr id="147" name="圆角矩形 146"/>
            <p:cNvSpPr/>
            <p:nvPr>
              <p:custDataLst>
                <p:tags r:id="rId31"/>
              </p:custDataLst>
            </p:nvPr>
          </p:nvSpPr>
          <p:spPr>
            <a:xfrm>
              <a:off x="1068" y="2980"/>
              <a:ext cx="8298" cy="4048"/>
            </a:xfrm>
            <a:prstGeom prst="roundRect">
              <a:avLst>
                <a:gd name="adj" fmla="val 2948"/>
              </a:avLst>
            </a:prstGeom>
            <a:solidFill>
              <a:schemeClr val="bg1"/>
            </a:solidFill>
            <a:ln w="12700">
              <a:solidFill>
                <a:schemeClr val="accent1">
                  <a:alpha val="61000"/>
                </a:schemeClr>
              </a:solidFill>
              <a:prstDash val="sysDash"/>
            </a:ln>
          </p:spPr>
          <p:style>
            <a:lnRef idx="0">
              <a:srgbClr val="FFFFFF"/>
            </a:lnRef>
            <a:fillRef idx="3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p>
              <a:pPr lvl="0" algn="ctr">
                <a:lnSpc>
                  <a:spcPct val="80000"/>
                </a:lnSpc>
                <a:buClrTx/>
                <a:buSzTx/>
                <a:buFontTx/>
              </a:pPr>
              <a:endParaRPr lang="zh-CN" altLang="en-US" sz="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83" name="文本框 16"/>
            <p:cNvSpPr txBox="1"/>
            <p:nvPr>
              <p:custDataLst>
                <p:tags r:id="rId32"/>
              </p:custDataLst>
            </p:nvPr>
          </p:nvSpPr>
          <p:spPr>
            <a:xfrm>
              <a:off x="1067" y="2980"/>
              <a:ext cx="8299" cy="415"/>
            </a:xfrm>
            <a:prstGeom prst="rect">
              <a:avLst/>
            </a:prstGeom>
            <a:noFill/>
            <a:effectLst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>
                <a:defRPr sz="2400">
                  <a:latin typeface="汉仪菱心体简" panose="02010400000101010101" charset="-122"/>
                  <a:ea typeface="汉仪菱心体简" panose="02010400000101010101" charset="-122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buClrTx/>
                <a:buSzTx/>
                <a:buFontTx/>
              </a:pPr>
              <a:r>
                <a:rPr lang="zh-CN" sz="1000" b="1" dirty="0">
                  <a:solidFill>
                    <a:srgbClr val="2A59DF"/>
                  </a:solidFill>
                  <a:latin typeface="微软雅黑" panose="020B0503020204020204" charset="-122"/>
                  <a:ea typeface="微软雅黑" panose="020B0503020204020204" charset="-122"/>
                  <a:sym typeface="HarmonyOS Sans SC Bold" panose="00000800000000000000" pitchFamily="2" charset="-122"/>
                </a:rPr>
                <a:t>贷前平台化业务技术体系</a:t>
              </a:r>
              <a:endParaRPr lang="zh-CN" sz="1000" b="1" dirty="0">
                <a:solidFill>
                  <a:srgbClr val="2A59DF"/>
                </a:solidFill>
                <a:latin typeface="微软雅黑" panose="020B0503020204020204" charset="-122"/>
                <a:ea typeface="微软雅黑" panose="020B0503020204020204" charset="-122"/>
                <a:sym typeface="HarmonyOS Sans SC Bold" panose="00000800000000000000" pitchFamily="2" charset="-122"/>
              </a:endParaRPr>
            </a:p>
          </p:txBody>
        </p:sp>
      </p:grpSp>
      <p:grpSp>
        <p:nvGrpSpPr>
          <p:cNvPr id="191" name="组合 190"/>
          <p:cNvGrpSpPr/>
          <p:nvPr/>
        </p:nvGrpSpPr>
        <p:grpSpPr>
          <a:xfrm rot="0">
            <a:off x="815340" y="2935605"/>
            <a:ext cx="1553884" cy="1882140"/>
            <a:chOff x="3462" y="5073"/>
            <a:chExt cx="2307" cy="2964"/>
          </a:xfrm>
        </p:grpSpPr>
        <p:sp>
          <p:nvSpPr>
            <p:cNvPr id="192" name="圆角矩形 191"/>
            <p:cNvSpPr/>
            <p:nvPr>
              <p:custDataLst>
                <p:tags r:id="rId33"/>
              </p:custDataLst>
            </p:nvPr>
          </p:nvSpPr>
          <p:spPr>
            <a:xfrm>
              <a:off x="3466" y="5083"/>
              <a:ext cx="2303" cy="2954"/>
            </a:xfrm>
            <a:prstGeom prst="roundRect">
              <a:avLst>
                <a:gd name="adj" fmla="val 5430"/>
              </a:avLst>
            </a:prstGeom>
            <a:solidFill>
              <a:schemeClr val="accent1">
                <a:alpha val="10000"/>
              </a:schemeClr>
            </a:solidFill>
            <a:ln w="12700">
              <a:solidFill>
                <a:schemeClr val="accent1">
                  <a:alpha val="61000"/>
                </a:schemeClr>
              </a:solidFill>
              <a:prstDash val="sysDash"/>
            </a:ln>
          </p:spPr>
          <p:style>
            <a:lnRef idx="0">
              <a:srgbClr val="FFFFFF"/>
            </a:lnRef>
            <a:fillRef idx="3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p>
              <a:pPr lvl="0" algn="ctr">
                <a:lnSpc>
                  <a:spcPct val="80000"/>
                </a:lnSpc>
                <a:buClrTx/>
                <a:buSzTx/>
                <a:buFontTx/>
              </a:pPr>
              <a:endParaRPr lang="zh-CN" altLang="en-US" sz="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95" name="同侧圆角矩形 194"/>
            <p:cNvSpPr/>
            <p:nvPr/>
          </p:nvSpPr>
          <p:spPr>
            <a:xfrm>
              <a:off x="3462" y="5073"/>
              <a:ext cx="2305" cy="312"/>
            </a:xfrm>
            <a:prstGeom prst="round2SameRect">
              <a:avLst>
                <a:gd name="adj1" fmla="val 28823"/>
                <a:gd name="adj2" fmla="val 0"/>
              </a:avLst>
            </a:prstGeom>
            <a:gradFill>
              <a:gsLst>
                <a:gs pos="0">
                  <a:srgbClr val="2957DE"/>
                </a:gs>
                <a:gs pos="100000">
                  <a:srgbClr val="598BF6"/>
                </a:gs>
              </a:gsLst>
              <a:lin ang="4500000" scaled="0"/>
            </a:gradFill>
            <a:ln w="60325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资金机构链接平台</a:t>
              </a:r>
              <a:endPara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196" name="组合 195"/>
          <p:cNvGrpSpPr/>
          <p:nvPr/>
        </p:nvGrpSpPr>
        <p:grpSpPr>
          <a:xfrm rot="0">
            <a:off x="2501265" y="2935605"/>
            <a:ext cx="1553884" cy="1882140"/>
            <a:chOff x="6350" y="5073"/>
            <a:chExt cx="2307" cy="2964"/>
          </a:xfrm>
        </p:grpSpPr>
        <p:sp>
          <p:nvSpPr>
            <p:cNvPr id="197" name="圆角矩形 196"/>
            <p:cNvSpPr/>
            <p:nvPr>
              <p:custDataLst>
                <p:tags r:id="rId34"/>
              </p:custDataLst>
            </p:nvPr>
          </p:nvSpPr>
          <p:spPr>
            <a:xfrm>
              <a:off x="6354" y="5083"/>
              <a:ext cx="2303" cy="2954"/>
            </a:xfrm>
            <a:prstGeom prst="roundRect">
              <a:avLst>
                <a:gd name="adj" fmla="val 5430"/>
              </a:avLst>
            </a:prstGeom>
            <a:solidFill>
              <a:schemeClr val="accent1">
                <a:alpha val="10000"/>
              </a:schemeClr>
            </a:solidFill>
            <a:ln w="12700">
              <a:solidFill>
                <a:schemeClr val="accent1">
                  <a:alpha val="61000"/>
                </a:schemeClr>
              </a:solidFill>
              <a:prstDash val="sysDash"/>
            </a:ln>
          </p:spPr>
          <p:style>
            <a:lnRef idx="0">
              <a:srgbClr val="FFFFFF"/>
            </a:lnRef>
            <a:fillRef idx="3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p>
              <a:pPr lvl="0" algn="ctr">
                <a:lnSpc>
                  <a:spcPct val="80000"/>
                </a:lnSpc>
                <a:buClrTx/>
                <a:buSzTx/>
                <a:buFontTx/>
              </a:pPr>
              <a:endParaRPr lang="zh-CN" altLang="en-US" sz="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99" name="同侧圆角矩形 198"/>
            <p:cNvSpPr/>
            <p:nvPr/>
          </p:nvSpPr>
          <p:spPr>
            <a:xfrm>
              <a:off x="6350" y="5073"/>
              <a:ext cx="2305" cy="312"/>
            </a:xfrm>
            <a:prstGeom prst="round2SameRect">
              <a:avLst>
                <a:gd name="adj1" fmla="val 28823"/>
                <a:gd name="adj2" fmla="val 0"/>
              </a:avLst>
            </a:prstGeom>
            <a:solidFill>
              <a:srgbClr val="92D050"/>
            </a:solidFill>
            <a:ln w="60325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担保增信撮合平台</a:t>
              </a:r>
              <a:endPara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402" name="组合 401"/>
          <p:cNvGrpSpPr/>
          <p:nvPr/>
        </p:nvGrpSpPr>
        <p:grpSpPr>
          <a:xfrm>
            <a:off x="4188460" y="2929255"/>
            <a:ext cx="1553845" cy="1888490"/>
            <a:chOff x="1283" y="4993"/>
            <a:chExt cx="2447" cy="2974"/>
          </a:xfrm>
        </p:grpSpPr>
        <p:grpSp>
          <p:nvGrpSpPr>
            <p:cNvPr id="401" name="组合 400"/>
            <p:cNvGrpSpPr/>
            <p:nvPr/>
          </p:nvGrpSpPr>
          <p:grpSpPr>
            <a:xfrm>
              <a:off x="1283" y="4993"/>
              <a:ext cx="2447" cy="2974"/>
              <a:chOff x="1283" y="4993"/>
              <a:chExt cx="2447" cy="2974"/>
            </a:xfrm>
          </p:grpSpPr>
          <p:sp>
            <p:nvSpPr>
              <p:cNvPr id="189" name="圆角矩形 188"/>
              <p:cNvSpPr/>
              <p:nvPr>
                <p:custDataLst>
                  <p:tags r:id="rId35"/>
                </p:custDataLst>
              </p:nvPr>
            </p:nvSpPr>
            <p:spPr>
              <a:xfrm>
                <a:off x="1287" y="5003"/>
                <a:ext cx="2443" cy="2964"/>
              </a:xfrm>
              <a:prstGeom prst="roundRect">
                <a:avLst>
                  <a:gd name="adj" fmla="val 5430"/>
                </a:avLst>
              </a:prstGeom>
              <a:solidFill>
                <a:schemeClr val="accent1">
                  <a:alpha val="10000"/>
                </a:schemeClr>
              </a:solidFill>
              <a:ln w="12700">
                <a:solidFill>
                  <a:schemeClr val="accent1">
                    <a:alpha val="61000"/>
                  </a:schemeClr>
                </a:solidFill>
                <a:prstDash val="sysDash"/>
              </a:ln>
            </p:spPr>
            <p:style>
              <a:lnRef idx="0">
                <a:srgbClr val="FFFFFF"/>
              </a:lnRef>
              <a:fillRef idx="3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lIns="91440" tIns="45720" rIns="91440" bIns="45720" numCol="1" spcCol="0" rtlCol="0" fromWordArt="0" anchor="t" anchorCtr="0" forceAA="0" compatLnSpc="1">
                <a:noAutofit/>
              </a:bodyPr>
              <a:p>
                <a:pPr lvl="0" algn="ctr">
                  <a:lnSpc>
                    <a:spcPct val="80000"/>
                  </a:lnSpc>
                  <a:buClrTx/>
                  <a:buSzTx/>
                  <a:buFontTx/>
                </a:pPr>
                <a:endParaRPr lang="zh-CN" altLang="en-US" sz="800" b="1"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sp>
            <p:nvSpPr>
              <p:cNvPr id="190" name="同侧圆角矩形 189"/>
              <p:cNvSpPr/>
              <p:nvPr/>
            </p:nvSpPr>
            <p:spPr>
              <a:xfrm>
                <a:off x="1283" y="4993"/>
                <a:ext cx="2445" cy="312"/>
              </a:xfrm>
              <a:prstGeom prst="round2SameRect">
                <a:avLst>
                  <a:gd name="adj1" fmla="val 28823"/>
                  <a:gd name="adj2" fmla="val 0"/>
                </a:avLst>
              </a:prstGeom>
              <a:gradFill>
                <a:gsLst>
                  <a:gs pos="0">
                    <a:srgbClr val="2957DE"/>
                  </a:gs>
                  <a:gs pos="100000">
                    <a:srgbClr val="598BF6"/>
                  </a:gs>
                </a:gsLst>
                <a:lin ang="4500000" scaled="0"/>
              </a:gradFill>
              <a:ln w="60325"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zh-CN" altLang="en-US" sz="8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流量导出撮合平台</a:t>
                </a:r>
                <a:endParaRPr lang="zh-CN" altLang="en-US" sz="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</p:grpSp>
        <p:sp>
          <p:nvSpPr>
            <p:cNvPr id="201" name="圆角矩形 200"/>
            <p:cNvSpPr/>
            <p:nvPr>
              <p:custDataLst>
                <p:tags r:id="rId36"/>
              </p:custDataLst>
            </p:nvPr>
          </p:nvSpPr>
          <p:spPr>
            <a:xfrm>
              <a:off x="1422" y="5442"/>
              <a:ext cx="1000" cy="405"/>
            </a:xfrm>
            <a:prstGeom prst="roundRect">
              <a:avLst>
                <a:gd name="adj" fmla="val 9803"/>
              </a:avLst>
            </a:prstGeom>
            <a:solidFill>
              <a:schemeClr val="bg1"/>
            </a:solidFill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none" tIns="0" bIns="0" numCol="1" spcCol="0" rtlCol="0" fromWordArt="0" anchor="ctr" anchorCtr="0" forceAA="0" compatLnSpc="1">
              <a:noAutofit/>
            </a:bodyPr>
            <a:p>
              <a:pPr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600" b="1">
                  <a:solidFill>
                    <a:srgbClr val="1E54E3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机构管理</a:t>
              </a:r>
              <a:endPara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06" name="圆角矩形 205"/>
            <p:cNvSpPr/>
            <p:nvPr>
              <p:custDataLst>
                <p:tags r:id="rId37"/>
              </p:custDataLst>
            </p:nvPr>
          </p:nvSpPr>
          <p:spPr>
            <a:xfrm>
              <a:off x="2566" y="5442"/>
              <a:ext cx="1000" cy="405"/>
            </a:xfrm>
            <a:prstGeom prst="roundRect">
              <a:avLst>
                <a:gd name="adj" fmla="val 9803"/>
              </a:avLst>
            </a:prstGeom>
            <a:solidFill>
              <a:schemeClr val="bg1"/>
            </a:solidFill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none" tIns="0" bIns="0" numCol="1" spcCol="0" rtlCol="0" fromWordArt="0" anchor="ctr" anchorCtr="0" forceAA="0" compatLnSpc="1">
              <a:noAutofit/>
            </a:bodyPr>
            <a:p>
              <a:pPr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600" b="1">
                  <a:solidFill>
                    <a:srgbClr val="1E54E3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接口管理</a:t>
              </a:r>
              <a:endPara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10" name="圆角矩形 209"/>
            <p:cNvSpPr/>
            <p:nvPr>
              <p:custDataLst>
                <p:tags r:id="rId38"/>
              </p:custDataLst>
            </p:nvPr>
          </p:nvSpPr>
          <p:spPr>
            <a:xfrm>
              <a:off x="2566" y="5957"/>
              <a:ext cx="1000" cy="405"/>
            </a:xfrm>
            <a:prstGeom prst="roundRect">
              <a:avLst>
                <a:gd name="adj" fmla="val 9803"/>
              </a:avLst>
            </a:prstGeom>
            <a:solidFill>
              <a:schemeClr val="bg1"/>
            </a:solidFill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none" tIns="0" bIns="0" numCol="1" spcCol="0" rtlCol="0" fromWordArt="0" anchor="ctr" anchorCtr="0" forceAA="0" compatLnSpc="1">
              <a:noAutofit/>
            </a:bodyPr>
            <a:p>
              <a:pPr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600" b="1">
                  <a:solidFill>
                    <a:srgbClr val="1E54E3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规则管理</a:t>
              </a:r>
              <a:endPara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11" name="圆角矩形 210"/>
            <p:cNvSpPr/>
            <p:nvPr>
              <p:custDataLst>
                <p:tags r:id="rId39"/>
              </p:custDataLst>
            </p:nvPr>
          </p:nvSpPr>
          <p:spPr>
            <a:xfrm>
              <a:off x="1422" y="6462"/>
              <a:ext cx="1000" cy="405"/>
            </a:xfrm>
            <a:prstGeom prst="roundRect">
              <a:avLst>
                <a:gd name="adj" fmla="val 9803"/>
              </a:avLst>
            </a:prstGeom>
            <a:solidFill>
              <a:schemeClr val="bg1"/>
            </a:solidFill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none" tIns="0" bIns="0" numCol="1" spcCol="0" rtlCol="0" fromWordArt="0" anchor="ctr" anchorCtr="0" forceAA="0" compatLnSpc="1">
              <a:noAutofit/>
            </a:bodyPr>
            <a:p>
              <a:pPr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600" b="1">
                  <a:solidFill>
                    <a:srgbClr val="1E54E3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密钥管理</a:t>
              </a:r>
              <a:endPara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12" name="圆角矩形 211"/>
            <p:cNvSpPr/>
            <p:nvPr>
              <p:custDataLst>
                <p:tags r:id="rId40"/>
              </p:custDataLst>
            </p:nvPr>
          </p:nvSpPr>
          <p:spPr>
            <a:xfrm>
              <a:off x="1422" y="5957"/>
              <a:ext cx="1000" cy="405"/>
            </a:xfrm>
            <a:prstGeom prst="roundRect">
              <a:avLst>
                <a:gd name="adj" fmla="val 9803"/>
              </a:avLst>
            </a:prstGeom>
            <a:solidFill>
              <a:schemeClr val="bg1"/>
            </a:solidFill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none" tIns="0" bIns="0" numCol="1" spcCol="0" rtlCol="0" fromWordArt="0" anchor="ctr" anchorCtr="0" forceAA="0" compatLnSpc="1">
              <a:noAutofit/>
            </a:bodyPr>
            <a:p>
              <a:pPr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600" b="1">
                  <a:solidFill>
                    <a:srgbClr val="1E54E3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交易管理</a:t>
              </a:r>
              <a:endPara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13" name="圆角矩形 212"/>
            <p:cNvSpPr/>
            <p:nvPr>
              <p:custDataLst>
                <p:tags r:id="rId41"/>
              </p:custDataLst>
            </p:nvPr>
          </p:nvSpPr>
          <p:spPr>
            <a:xfrm>
              <a:off x="2566" y="6987"/>
              <a:ext cx="1000" cy="405"/>
            </a:xfrm>
            <a:prstGeom prst="roundRect">
              <a:avLst>
                <a:gd name="adj" fmla="val 9803"/>
              </a:avLst>
            </a:prstGeom>
            <a:solidFill>
              <a:schemeClr val="bg1"/>
            </a:solidFill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none" tIns="0" bIns="0" numCol="1" spcCol="0" rtlCol="0" fromWordArt="0" anchor="ctr" anchorCtr="0" forceAA="0" compatLnSpc="1">
              <a:noAutofit/>
            </a:bodyPr>
            <a:p>
              <a:pPr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600" b="1">
                  <a:solidFill>
                    <a:srgbClr val="1E54E3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联合登录</a:t>
              </a:r>
              <a:endPara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18" name="圆角矩形 217"/>
            <p:cNvSpPr/>
            <p:nvPr>
              <p:custDataLst>
                <p:tags r:id="rId42"/>
              </p:custDataLst>
            </p:nvPr>
          </p:nvSpPr>
          <p:spPr>
            <a:xfrm>
              <a:off x="2566" y="6472"/>
              <a:ext cx="1000" cy="405"/>
            </a:xfrm>
            <a:prstGeom prst="roundRect">
              <a:avLst>
                <a:gd name="adj" fmla="val 9803"/>
              </a:avLst>
            </a:prstGeom>
            <a:solidFill>
              <a:schemeClr val="bg1"/>
            </a:solidFill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none" tIns="0" bIns="0" numCol="1" spcCol="0" rtlCol="0" fromWordArt="0" anchor="ctr" anchorCtr="0" forceAA="0" compatLnSpc="1">
              <a:noAutofit/>
            </a:bodyPr>
            <a:p>
              <a:pPr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600" b="1">
                  <a:solidFill>
                    <a:srgbClr val="1E54E3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加密解密</a:t>
              </a:r>
              <a:endPara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19" name="圆角矩形 218"/>
            <p:cNvSpPr/>
            <p:nvPr>
              <p:custDataLst>
                <p:tags r:id="rId43"/>
              </p:custDataLst>
            </p:nvPr>
          </p:nvSpPr>
          <p:spPr>
            <a:xfrm>
              <a:off x="1422" y="6977"/>
              <a:ext cx="1000" cy="405"/>
            </a:xfrm>
            <a:prstGeom prst="roundRect">
              <a:avLst>
                <a:gd name="adj" fmla="val 9803"/>
              </a:avLst>
            </a:prstGeom>
            <a:solidFill>
              <a:schemeClr val="bg1"/>
            </a:solidFill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none" tIns="0" bIns="0" numCol="1" spcCol="0" rtlCol="0" fromWordArt="0" anchor="ctr" anchorCtr="0" forceAA="0" compatLnSpc="1">
              <a:noAutofit/>
            </a:bodyPr>
            <a:p>
              <a:pPr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600" b="1">
                  <a:solidFill>
                    <a:srgbClr val="1E54E3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机构路由</a:t>
              </a:r>
              <a:endPara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" name="圆角矩形 1"/>
            <p:cNvSpPr/>
            <p:nvPr>
              <p:custDataLst>
                <p:tags r:id="rId44"/>
              </p:custDataLst>
            </p:nvPr>
          </p:nvSpPr>
          <p:spPr>
            <a:xfrm>
              <a:off x="1422" y="7486"/>
              <a:ext cx="1000" cy="405"/>
            </a:xfrm>
            <a:prstGeom prst="roundRect">
              <a:avLst>
                <a:gd name="adj" fmla="val 9803"/>
              </a:avLst>
            </a:prstGeom>
            <a:solidFill>
              <a:schemeClr val="bg1"/>
            </a:solidFill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none" tIns="0" bIns="0" numCol="1" spcCol="0" rtlCol="0" fromWordArt="0" anchor="ctr" anchorCtr="0" forceAA="0" compatLnSpc="1">
              <a:noAutofit/>
            </a:bodyPr>
            <a:p>
              <a:pPr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600" b="1">
                  <a:solidFill>
                    <a:srgbClr val="1E54E3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结果回盘</a:t>
              </a:r>
              <a:endPara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" name="圆角矩形 2"/>
            <p:cNvSpPr/>
            <p:nvPr>
              <p:custDataLst>
                <p:tags r:id="rId45"/>
              </p:custDataLst>
            </p:nvPr>
          </p:nvSpPr>
          <p:spPr>
            <a:xfrm>
              <a:off x="2563" y="7485"/>
              <a:ext cx="1000" cy="405"/>
            </a:xfrm>
            <a:prstGeom prst="roundRect">
              <a:avLst>
                <a:gd name="adj" fmla="val 9803"/>
              </a:avLst>
            </a:prstGeom>
            <a:solidFill>
              <a:schemeClr val="bg1"/>
            </a:solidFill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none" tIns="0" bIns="0" numCol="1" spcCol="0" rtlCol="0" fromWordArt="0" anchor="ctr" anchorCtr="0" forceAA="0" compatLnSpc="1">
              <a:noAutofit/>
            </a:bodyPr>
            <a:p>
              <a:pPr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600" b="1">
                  <a:solidFill>
                    <a:srgbClr val="1E54E3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数据同步</a:t>
              </a:r>
              <a:endPara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220" name="圆角矩形 219"/>
          <p:cNvSpPr/>
          <p:nvPr>
            <p:custDataLst>
              <p:tags r:id="rId46"/>
            </p:custDataLst>
          </p:nvPr>
        </p:nvSpPr>
        <p:spPr>
          <a:xfrm>
            <a:off x="908050" y="3227070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机构管理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21" name="圆角矩形 220"/>
          <p:cNvSpPr/>
          <p:nvPr>
            <p:custDataLst>
              <p:tags r:id="rId47"/>
            </p:custDataLst>
          </p:nvPr>
        </p:nvSpPr>
        <p:spPr>
          <a:xfrm>
            <a:off x="1645285" y="323151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路由管理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22" name="圆角矩形 221"/>
          <p:cNvSpPr/>
          <p:nvPr>
            <p:custDataLst>
              <p:tags r:id="rId48"/>
            </p:custDataLst>
          </p:nvPr>
        </p:nvSpPr>
        <p:spPr>
          <a:xfrm>
            <a:off x="908050" y="355409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路由决策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77" name="圆角矩形 276"/>
          <p:cNvSpPr/>
          <p:nvPr>
            <p:custDataLst>
              <p:tags r:id="rId49"/>
            </p:custDataLst>
          </p:nvPr>
        </p:nvSpPr>
        <p:spPr>
          <a:xfrm>
            <a:off x="1645285" y="3557270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授信审批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83" name="圆角矩形 282"/>
          <p:cNvSpPr/>
          <p:nvPr>
            <p:custDataLst>
              <p:tags r:id="rId50"/>
            </p:custDataLst>
          </p:nvPr>
        </p:nvSpPr>
        <p:spPr>
          <a:xfrm>
            <a:off x="1645285" y="388302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放款申请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84" name="圆角矩形 283"/>
          <p:cNvSpPr/>
          <p:nvPr>
            <p:custDataLst>
              <p:tags r:id="rId51"/>
            </p:custDataLst>
          </p:nvPr>
        </p:nvSpPr>
        <p:spPr>
          <a:xfrm>
            <a:off x="1645285" y="4208780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还款通知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95" name="圆角矩形 294"/>
          <p:cNvSpPr/>
          <p:nvPr>
            <p:custDataLst>
              <p:tags r:id="rId52"/>
            </p:custDataLst>
          </p:nvPr>
        </p:nvSpPr>
        <p:spPr>
          <a:xfrm>
            <a:off x="908050" y="420814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放款通知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96" name="圆角矩形 295"/>
          <p:cNvSpPr/>
          <p:nvPr>
            <p:custDataLst>
              <p:tags r:id="rId53"/>
            </p:custDataLst>
          </p:nvPr>
        </p:nvSpPr>
        <p:spPr>
          <a:xfrm>
            <a:off x="908050" y="3881120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用信审批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97" name="圆角矩形 296"/>
          <p:cNvSpPr/>
          <p:nvPr>
            <p:custDataLst>
              <p:tags r:id="rId54"/>
            </p:custDataLst>
          </p:nvPr>
        </p:nvSpPr>
        <p:spPr>
          <a:xfrm>
            <a:off x="2600325" y="323151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机构管理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99" name="圆角矩形 298"/>
          <p:cNvSpPr/>
          <p:nvPr>
            <p:custDataLst>
              <p:tags r:id="rId55"/>
            </p:custDataLst>
          </p:nvPr>
        </p:nvSpPr>
        <p:spPr>
          <a:xfrm>
            <a:off x="3326765" y="323151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路由管理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00" name="圆角矩形 299"/>
          <p:cNvSpPr/>
          <p:nvPr>
            <p:custDataLst>
              <p:tags r:id="rId56"/>
            </p:custDataLst>
          </p:nvPr>
        </p:nvSpPr>
        <p:spPr>
          <a:xfrm>
            <a:off x="2600325" y="388429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授信审批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01" name="圆角矩形 300"/>
          <p:cNvSpPr/>
          <p:nvPr>
            <p:custDataLst>
              <p:tags r:id="rId57"/>
            </p:custDataLst>
          </p:nvPr>
        </p:nvSpPr>
        <p:spPr>
          <a:xfrm>
            <a:off x="3326765" y="388429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用信审批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02" name="圆角矩形 301"/>
          <p:cNvSpPr/>
          <p:nvPr>
            <p:custDataLst>
              <p:tags r:id="rId58"/>
            </p:custDataLst>
          </p:nvPr>
        </p:nvSpPr>
        <p:spPr>
          <a:xfrm>
            <a:off x="3326765" y="355790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撞库查询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03" name="圆角矩形 302"/>
          <p:cNvSpPr/>
          <p:nvPr>
            <p:custDataLst>
              <p:tags r:id="rId59"/>
            </p:custDataLst>
          </p:nvPr>
        </p:nvSpPr>
        <p:spPr>
          <a:xfrm>
            <a:off x="2600325" y="421068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流程编排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04" name="圆角矩形 303"/>
          <p:cNvSpPr/>
          <p:nvPr>
            <p:custDataLst>
              <p:tags r:id="rId60"/>
            </p:custDataLst>
          </p:nvPr>
        </p:nvSpPr>
        <p:spPr>
          <a:xfrm>
            <a:off x="2600325" y="355790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路由决策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05" name="圆角矩形 304"/>
          <p:cNvSpPr/>
          <p:nvPr>
            <p:custDataLst>
              <p:tags r:id="rId61"/>
            </p:custDataLst>
          </p:nvPr>
        </p:nvSpPr>
        <p:spPr>
          <a:xfrm>
            <a:off x="3326765" y="421068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报文转换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320" name="组合 319"/>
          <p:cNvGrpSpPr/>
          <p:nvPr/>
        </p:nvGrpSpPr>
        <p:grpSpPr>
          <a:xfrm>
            <a:off x="645160" y="4975860"/>
            <a:ext cx="10787364" cy="687070"/>
            <a:chOff x="1016" y="7156"/>
            <a:chExt cx="17437" cy="1082"/>
          </a:xfrm>
        </p:grpSpPr>
        <p:sp>
          <p:nvSpPr>
            <p:cNvPr id="313" name="圆角矩形 312"/>
            <p:cNvSpPr/>
            <p:nvPr>
              <p:custDataLst>
                <p:tags r:id="rId62"/>
              </p:custDataLst>
            </p:nvPr>
          </p:nvSpPr>
          <p:spPr>
            <a:xfrm>
              <a:off x="1016" y="7156"/>
              <a:ext cx="17437" cy="1082"/>
            </a:xfrm>
            <a:prstGeom prst="roundRect">
              <a:avLst>
                <a:gd name="adj" fmla="val 2948"/>
              </a:avLst>
            </a:prstGeom>
            <a:solidFill>
              <a:schemeClr val="bg1"/>
            </a:solidFill>
            <a:ln w="12700">
              <a:solidFill>
                <a:schemeClr val="accent1">
                  <a:alpha val="61000"/>
                </a:schemeClr>
              </a:solidFill>
              <a:prstDash val="sysDash"/>
            </a:ln>
          </p:spPr>
          <p:style>
            <a:lnRef idx="0">
              <a:srgbClr val="FFFFFF"/>
            </a:lnRef>
            <a:fillRef idx="3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p>
              <a:pPr lvl="0" algn="ctr">
                <a:lnSpc>
                  <a:spcPct val="80000"/>
                </a:lnSpc>
                <a:buClrTx/>
                <a:buSzTx/>
                <a:buFontTx/>
              </a:pPr>
              <a:endParaRPr lang="zh-CN" altLang="en-US" sz="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14" name="文本框 16"/>
            <p:cNvSpPr txBox="1"/>
            <p:nvPr>
              <p:custDataLst>
                <p:tags r:id="rId63"/>
              </p:custDataLst>
            </p:nvPr>
          </p:nvSpPr>
          <p:spPr>
            <a:xfrm>
              <a:off x="1016" y="7157"/>
              <a:ext cx="407" cy="1080"/>
            </a:xfrm>
            <a:prstGeom prst="rect">
              <a:avLst/>
            </a:prstGeom>
            <a:noFill/>
            <a:effectLst/>
          </p:spPr>
          <p:txBody>
            <a:bodyPr vert="eaVert" wrap="square" lIns="0" tIns="0" rIns="0" bIns="0" rtlCol="0" anchor="ctr" anchorCtr="0">
              <a:noAutofit/>
            </a:bodyPr>
            <a:lstStyle>
              <a:defPPr>
                <a:defRPr lang="zh-CN"/>
              </a:defPPr>
              <a:lvl1pPr>
                <a:defRPr sz="2400">
                  <a:latin typeface="汉仪菱心体简" panose="02010400000101010101" charset="-122"/>
                  <a:ea typeface="汉仪菱心体简" panose="02010400000101010101" charset="-122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buClrTx/>
                <a:buSzTx/>
                <a:buFontTx/>
              </a:pPr>
              <a:r>
                <a:rPr lang="zh-CN" sz="1000" b="1" dirty="0">
                  <a:solidFill>
                    <a:srgbClr val="2A59DF"/>
                  </a:solidFill>
                  <a:latin typeface="微软雅黑" panose="020B0503020204020204" charset="-122"/>
                  <a:ea typeface="微软雅黑" panose="020B0503020204020204" charset="-122"/>
                  <a:sym typeface="HarmonyOS Sans SC Bold" panose="00000800000000000000" pitchFamily="2" charset="-122"/>
                </a:rPr>
                <a:t>公共能力</a:t>
              </a:r>
              <a:endParaRPr lang="zh-CN" sz="1000" b="1" dirty="0">
                <a:solidFill>
                  <a:srgbClr val="2A59DF"/>
                </a:solidFill>
                <a:latin typeface="微软雅黑" panose="020B0503020204020204" charset="-122"/>
                <a:ea typeface="微软雅黑" panose="020B0503020204020204" charset="-122"/>
                <a:sym typeface="HarmonyOS Sans SC Bold" panose="00000800000000000000" pitchFamily="2" charset="-122"/>
              </a:endParaRPr>
            </a:p>
          </p:txBody>
        </p:sp>
      </p:grpSp>
      <p:grpSp>
        <p:nvGrpSpPr>
          <p:cNvPr id="322" name="组合 321"/>
          <p:cNvGrpSpPr/>
          <p:nvPr/>
        </p:nvGrpSpPr>
        <p:grpSpPr>
          <a:xfrm>
            <a:off x="6162040" y="1959610"/>
            <a:ext cx="5269865" cy="2931577"/>
            <a:chOff x="1067" y="2980"/>
            <a:chExt cx="8299" cy="4047"/>
          </a:xfrm>
        </p:grpSpPr>
        <p:sp>
          <p:nvSpPr>
            <p:cNvPr id="325" name="圆角矩形 324"/>
            <p:cNvSpPr/>
            <p:nvPr>
              <p:custDataLst>
                <p:tags r:id="rId64"/>
              </p:custDataLst>
            </p:nvPr>
          </p:nvSpPr>
          <p:spPr>
            <a:xfrm>
              <a:off x="1068" y="2980"/>
              <a:ext cx="8298" cy="4047"/>
            </a:xfrm>
            <a:prstGeom prst="roundRect">
              <a:avLst>
                <a:gd name="adj" fmla="val 2948"/>
              </a:avLst>
            </a:prstGeom>
            <a:solidFill>
              <a:schemeClr val="bg1"/>
            </a:solidFill>
            <a:ln w="12700">
              <a:solidFill>
                <a:schemeClr val="accent1">
                  <a:alpha val="61000"/>
                </a:schemeClr>
              </a:solidFill>
              <a:prstDash val="sysDash"/>
            </a:ln>
          </p:spPr>
          <p:style>
            <a:lnRef idx="0">
              <a:srgbClr val="FFFFFF"/>
            </a:lnRef>
            <a:fillRef idx="3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p>
              <a:pPr lvl="0" algn="ctr">
                <a:lnSpc>
                  <a:spcPct val="80000"/>
                </a:lnSpc>
                <a:buClrTx/>
                <a:buSzTx/>
                <a:buFontTx/>
              </a:pPr>
              <a:endParaRPr lang="zh-CN" altLang="en-US" sz="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26" name="文本框 16"/>
            <p:cNvSpPr txBox="1"/>
            <p:nvPr>
              <p:custDataLst>
                <p:tags r:id="rId65"/>
              </p:custDataLst>
            </p:nvPr>
          </p:nvSpPr>
          <p:spPr>
            <a:xfrm>
              <a:off x="1067" y="2980"/>
              <a:ext cx="8299" cy="415"/>
            </a:xfrm>
            <a:prstGeom prst="rect">
              <a:avLst/>
            </a:prstGeom>
            <a:noFill/>
            <a:effectLst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>
                <a:defRPr sz="2400">
                  <a:latin typeface="汉仪菱心体简" panose="02010400000101010101" charset="-122"/>
                  <a:ea typeface="汉仪菱心体简" panose="02010400000101010101" charset="-122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buClrTx/>
                <a:buSzTx/>
                <a:buFontTx/>
              </a:pPr>
              <a:r>
                <a:rPr lang="zh-CN" sz="1000" b="1" dirty="0">
                  <a:solidFill>
                    <a:srgbClr val="2A59DF"/>
                  </a:solidFill>
                  <a:latin typeface="微软雅黑" panose="020B0503020204020204" charset="-122"/>
                  <a:ea typeface="微软雅黑" panose="020B0503020204020204" charset="-122"/>
                  <a:sym typeface="HarmonyOS Sans SC Bold" panose="00000800000000000000" pitchFamily="2" charset="-122"/>
                </a:rPr>
                <a:t>贷中平台化业务技术体系</a:t>
              </a:r>
              <a:endParaRPr lang="zh-CN" sz="1000" b="1" dirty="0">
                <a:solidFill>
                  <a:srgbClr val="2A59DF"/>
                </a:solidFill>
                <a:latin typeface="微软雅黑" panose="020B0503020204020204" charset="-122"/>
                <a:ea typeface="微软雅黑" panose="020B0503020204020204" charset="-122"/>
                <a:sym typeface="HarmonyOS Sans SC Bold" panose="00000800000000000000" pitchFamily="2" charset="-122"/>
              </a:endParaRPr>
            </a:p>
          </p:txBody>
        </p:sp>
      </p:grpSp>
      <p:sp>
        <p:nvSpPr>
          <p:cNvPr id="149" name="圆角矩形 148"/>
          <p:cNvSpPr/>
          <p:nvPr>
            <p:custDataLst>
              <p:tags r:id="rId66"/>
            </p:custDataLst>
          </p:nvPr>
        </p:nvSpPr>
        <p:spPr>
          <a:xfrm>
            <a:off x="814705" y="2223135"/>
            <a:ext cx="3240405" cy="629285"/>
          </a:xfrm>
          <a:prstGeom prst="roundRect">
            <a:avLst>
              <a:gd name="adj" fmla="val 5430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61000"/>
              </a:schemeClr>
            </a:solidFill>
            <a:prstDash val="sysDash"/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p>
            <a:pPr lvl="0" algn="ctr">
              <a:lnSpc>
                <a:spcPct val="80000"/>
              </a:lnSpc>
              <a:buClrTx/>
              <a:buSzTx/>
              <a:buFontTx/>
            </a:pPr>
            <a:endParaRPr lang="zh-CN" altLang="en-US" sz="800" b="1">
              <a:solidFill>
                <a:schemeClr val="tx1">
                  <a:lumMod val="95000"/>
                  <a:lumOff val="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348" name="组合 347"/>
          <p:cNvGrpSpPr/>
          <p:nvPr/>
        </p:nvGrpSpPr>
        <p:grpSpPr>
          <a:xfrm rot="0">
            <a:off x="872490" y="2517140"/>
            <a:ext cx="3128645" cy="237490"/>
            <a:chOff x="1683" y="3502"/>
            <a:chExt cx="7213" cy="374"/>
          </a:xfrm>
        </p:grpSpPr>
        <p:sp>
          <p:nvSpPr>
            <p:cNvPr id="151" name="圆角矩形 150"/>
            <p:cNvSpPr/>
            <p:nvPr>
              <p:custDataLst>
                <p:tags r:id="rId67"/>
              </p:custDataLst>
            </p:nvPr>
          </p:nvSpPr>
          <p:spPr>
            <a:xfrm>
              <a:off x="1683" y="3502"/>
              <a:ext cx="998" cy="374"/>
            </a:xfrm>
            <a:prstGeom prst="roundRect">
              <a:avLst>
                <a:gd name="adj" fmla="val 9803"/>
              </a:avLst>
            </a:prstGeom>
            <a:solidFill>
              <a:schemeClr val="bg1"/>
            </a:solidFill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none" tIns="0" bIns="0" numCol="1" spcCol="0" rtlCol="0" fromWordArt="0" anchor="ctr" anchorCtr="0" forceAA="0" compatLnSpc="1">
              <a:noAutofit/>
            </a:bodyPr>
            <a:p>
              <a:pPr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600" b="1">
                  <a:solidFill>
                    <a:srgbClr val="1E54E3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流量路由</a:t>
              </a:r>
              <a:endPara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52" name="圆角矩形 151"/>
            <p:cNvSpPr/>
            <p:nvPr>
              <p:custDataLst>
                <p:tags r:id="rId68"/>
              </p:custDataLst>
            </p:nvPr>
          </p:nvSpPr>
          <p:spPr>
            <a:xfrm>
              <a:off x="4169" y="3502"/>
              <a:ext cx="998" cy="374"/>
            </a:xfrm>
            <a:prstGeom prst="roundRect">
              <a:avLst>
                <a:gd name="adj" fmla="val 9803"/>
              </a:avLst>
            </a:prstGeom>
            <a:solidFill>
              <a:schemeClr val="bg1"/>
            </a:solidFill>
            <a:ln w="25400">
              <a:solidFill>
                <a:srgbClr val="FFC000"/>
              </a:solidFill>
            </a:ln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none" tIns="0" bIns="0" numCol="1" spcCol="0" rtlCol="0" fromWordArt="0" anchor="ctr" anchorCtr="0" forceAA="0" compatLnSpc="1">
              <a:noAutofit/>
            </a:bodyPr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600" b="1">
                  <a:solidFill>
                    <a:srgbClr val="1E54E3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策略管理</a:t>
              </a:r>
              <a:endPara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53" name="圆角矩形 152"/>
            <p:cNvSpPr/>
            <p:nvPr>
              <p:custDataLst>
                <p:tags r:id="rId69"/>
              </p:custDataLst>
            </p:nvPr>
          </p:nvSpPr>
          <p:spPr>
            <a:xfrm>
              <a:off x="6632" y="3502"/>
              <a:ext cx="998" cy="374"/>
            </a:xfrm>
            <a:prstGeom prst="roundRect">
              <a:avLst>
                <a:gd name="adj" fmla="val 9803"/>
              </a:avLst>
            </a:prstGeom>
            <a:solidFill>
              <a:schemeClr val="bg1"/>
            </a:solidFill>
            <a:ln w="25400">
              <a:solidFill>
                <a:srgbClr val="92D050"/>
              </a:solidFill>
            </a:ln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none" tIns="0" bIns="0" numCol="1" spcCol="0" rtlCol="0" fromWordArt="0" anchor="ctr" anchorCtr="0" forceAA="0" compatLnSpc="1">
              <a:noAutofit/>
            </a:bodyPr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600" b="1">
                  <a:solidFill>
                    <a:srgbClr val="1E54E3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资产评估</a:t>
              </a:r>
              <a:endPara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55" name="圆角矩形 154"/>
            <p:cNvSpPr/>
            <p:nvPr>
              <p:custDataLst>
                <p:tags r:id="rId70"/>
              </p:custDataLst>
            </p:nvPr>
          </p:nvSpPr>
          <p:spPr>
            <a:xfrm>
              <a:off x="2926" y="3502"/>
              <a:ext cx="998" cy="374"/>
            </a:xfrm>
            <a:prstGeom prst="roundRect">
              <a:avLst>
                <a:gd name="adj" fmla="val 9803"/>
              </a:avLst>
            </a:prstGeom>
            <a:solidFill>
              <a:schemeClr val="bg1"/>
            </a:solidFill>
            <a:ln w="25400">
              <a:solidFill>
                <a:srgbClr val="92D050"/>
              </a:solidFill>
            </a:ln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none" tIns="0" bIns="0" numCol="1" spcCol="0" rtlCol="0" fromWordArt="0" anchor="ctr" anchorCtr="0" forceAA="0" compatLnSpc="1">
              <a:noAutofit/>
            </a:bodyPr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600" b="1">
                  <a:solidFill>
                    <a:srgbClr val="1E54E3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资产路由</a:t>
              </a:r>
              <a:endPara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62" name="圆角矩形 161"/>
            <p:cNvSpPr/>
            <p:nvPr>
              <p:custDataLst>
                <p:tags r:id="rId71"/>
              </p:custDataLst>
            </p:nvPr>
          </p:nvSpPr>
          <p:spPr>
            <a:xfrm>
              <a:off x="7898" y="3502"/>
              <a:ext cx="998" cy="374"/>
            </a:xfrm>
            <a:prstGeom prst="roundRect">
              <a:avLst>
                <a:gd name="adj" fmla="val 9803"/>
              </a:avLst>
            </a:prstGeom>
            <a:solidFill>
              <a:schemeClr val="bg1"/>
            </a:solidFill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none" tIns="0" bIns="0" numCol="1" spcCol="0" rtlCol="0" fromWordArt="0" anchor="ctr" anchorCtr="0" forceAA="0" compatLnSpc="1">
              <a:noAutofit/>
            </a:bodyPr>
            <a:p>
              <a:pPr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600" b="1">
                  <a:solidFill>
                    <a:srgbClr val="1E54E3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数据获取</a:t>
              </a:r>
              <a:endPara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63" name="圆角矩形 162"/>
            <p:cNvSpPr/>
            <p:nvPr>
              <p:custDataLst>
                <p:tags r:id="rId72"/>
              </p:custDataLst>
            </p:nvPr>
          </p:nvSpPr>
          <p:spPr>
            <a:xfrm>
              <a:off x="5412" y="3502"/>
              <a:ext cx="998" cy="374"/>
            </a:xfrm>
            <a:prstGeom prst="roundRect">
              <a:avLst>
                <a:gd name="adj" fmla="val 9803"/>
              </a:avLst>
            </a:prstGeom>
            <a:solidFill>
              <a:schemeClr val="bg1"/>
            </a:solidFill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none" tIns="0" bIns="0" numCol="1" spcCol="0" rtlCol="0" fromWordArt="0" anchor="ctr" anchorCtr="0" forceAA="0" compatLnSpc="1">
              <a:noAutofit/>
            </a:bodyPr>
            <a:p>
              <a:pPr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600" b="1">
                  <a:solidFill>
                    <a:srgbClr val="1E54E3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指标管理</a:t>
              </a:r>
              <a:endPara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349" name="同侧圆角矩形 348"/>
          <p:cNvSpPr/>
          <p:nvPr/>
        </p:nvSpPr>
        <p:spPr>
          <a:xfrm>
            <a:off x="816610" y="2223135"/>
            <a:ext cx="3238500" cy="198120"/>
          </a:xfrm>
          <a:prstGeom prst="round2SameRect">
            <a:avLst>
              <a:gd name="adj1" fmla="val 28823"/>
              <a:gd name="adj2" fmla="val 0"/>
            </a:avLst>
          </a:prstGeom>
          <a:solidFill>
            <a:srgbClr val="FFC000"/>
          </a:solidFill>
          <a:ln w="6032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资产</a:t>
            </a: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流量路由决策系统</a:t>
            </a:r>
            <a:endParaRPr lang="zh-CN" altLang="en-US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50" name="圆角矩形 349"/>
          <p:cNvSpPr/>
          <p:nvPr>
            <p:custDataLst>
              <p:tags r:id="rId73"/>
            </p:custDataLst>
          </p:nvPr>
        </p:nvSpPr>
        <p:spPr>
          <a:xfrm>
            <a:off x="6332855" y="2223135"/>
            <a:ext cx="4926330" cy="629285"/>
          </a:xfrm>
          <a:prstGeom prst="roundRect">
            <a:avLst>
              <a:gd name="adj" fmla="val 5430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61000"/>
              </a:schemeClr>
            </a:solidFill>
            <a:prstDash val="sysDash"/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p>
            <a:pPr lvl="0" algn="ctr">
              <a:lnSpc>
                <a:spcPct val="80000"/>
              </a:lnSpc>
              <a:buClrTx/>
              <a:buSzTx/>
              <a:buFontTx/>
            </a:pPr>
            <a:endParaRPr lang="zh-CN" altLang="en-US" sz="800" b="1">
              <a:solidFill>
                <a:schemeClr val="tx1">
                  <a:lumMod val="95000"/>
                  <a:lumOff val="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52" name="圆角矩形 351"/>
          <p:cNvSpPr/>
          <p:nvPr>
            <p:custDataLst>
              <p:tags r:id="rId74"/>
            </p:custDataLst>
          </p:nvPr>
        </p:nvSpPr>
        <p:spPr>
          <a:xfrm>
            <a:off x="6420485" y="2517140"/>
            <a:ext cx="657860" cy="237490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资产数据同步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53" name="圆角矩形 352"/>
          <p:cNvSpPr/>
          <p:nvPr>
            <p:custDataLst>
              <p:tags r:id="rId75"/>
            </p:custDataLst>
          </p:nvPr>
        </p:nvSpPr>
        <p:spPr>
          <a:xfrm>
            <a:off x="8060055" y="2517140"/>
            <a:ext cx="657860" cy="237490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风险数据同步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55" name="圆角矩形 354"/>
          <p:cNvSpPr/>
          <p:nvPr>
            <p:custDataLst>
              <p:tags r:id="rId76"/>
            </p:custDataLst>
          </p:nvPr>
        </p:nvSpPr>
        <p:spPr>
          <a:xfrm>
            <a:off x="9684385" y="2517140"/>
            <a:ext cx="657860" cy="237490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圈选管理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57" name="圆角矩形 356"/>
          <p:cNvSpPr/>
          <p:nvPr>
            <p:custDataLst>
              <p:tags r:id="rId77"/>
            </p:custDataLst>
          </p:nvPr>
        </p:nvSpPr>
        <p:spPr>
          <a:xfrm>
            <a:off x="7240270" y="2517140"/>
            <a:ext cx="657860" cy="237490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客户数据同步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63" name="圆角矩形 362"/>
          <p:cNvSpPr/>
          <p:nvPr>
            <p:custDataLst>
              <p:tags r:id="rId78"/>
            </p:custDataLst>
          </p:nvPr>
        </p:nvSpPr>
        <p:spPr>
          <a:xfrm>
            <a:off x="10519410" y="2517140"/>
            <a:ext cx="657860" cy="237490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资产导出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64" name="圆角矩形 363"/>
          <p:cNvSpPr/>
          <p:nvPr>
            <p:custDataLst>
              <p:tags r:id="rId79"/>
            </p:custDataLst>
          </p:nvPr>
        </p:nvSpPr>
        <p:spPr>
          <a:xfrm>
            <a:off x="8879840" y="2517140"/>
            <a:ext cx="657860" cy="237490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指标管理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65" name="同侧圆角矩形 364"/>
          <p:cNvSpPr/>
          <p:nvPr/>
        </p:nvSpPr>
        <p:spPr>
          <a:xfrm>
            <a:off x="6335395" y="2223135"/>
            <a:ext cx="4923155" cy="198000"/>
          </a:xfrm>
          <a:prstGeom prst="round2SameRect">
            <a:avLst>
              <a:gd name="adj1" fmla="val 28823"/>
              <a:gd name="adj2" fmla="val 0"/>
            </a:avLst>
          </a:prstGeom>
          <a:solidFill>
            <a:srgbClr val="92D050"/>
          </a:solidFill>
          <a:ln w="6032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资产圈选管理系统</a:t>
            </a:r>
            <a:endParaRPr lang="zh-CN" altLang="en-US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366" name="组合 365"/>
          <p:cNvGrpSpPr/>
          <p:nvPr/>
        </p:nvGrpSpPr>
        <p:grpSpPr>
          <a:xfrm rot="0">
            <a:off x="6334760" y="2922905"/>
            <a:ext cx="1553884" cy="1894840"/>
            <a:chOff x="966" y="5073"/>
            <a:chExt cx="2307" cy="2984"/>
          </a:xfrm>
        </p:grpSpPr>
        <p:sp>
          <p:nvSpPr>
            <p:cNvPr id="367" name="圆角矩形 366"/>
            <p:cNvSpPr/>
            <p:nvPr>
              <p:custDataLst>
                <p:tags r:id="rId80"/>
              </p:custDataLst>
            </p:nvPr>
          </p:nvSpPr>
          <p:spPr>
            <a:xfrm>
              <a:off x="970" y="5083"/>
              <a:ext cx="2303" cy="2974"/>
            </a:xfrm>
            <a:prstGeom prst="roundRect">
              <a:avLst>
                <a:gd name="adj" fmla="val 5430"/>
              </a:avLst>
            </a:prstGeom>
            <a:solidFill>
              <a:schemeClr val="accent1">
                <a:alpha val="10000"/>
              </a:schemeClr>
            </a:solidFill>
            <a:ln w="12700">
              <a:solidFill>
                <a:schemeClr val="accent1">
                  <a:alpha val="61000"/>
                </a:schemeClr>
              </a:solidFill>
              <a:prstDash val="sysDash"/>
            </a:ln>
          </p:spPr>
          <p:style>
            <a:lnRef idx="0">
              <a:srgbClr val="FFFFFF"/>
            </a:lnRef>
            <a:fillRef idx="3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p>
              <a:pPr lvl="0" algn="ctr">
                <a:lnSpc>
                  <a:spcPct val="80000"/>
                </a:lnSpc>
                <a:buClrTx/>
                <a:buSzTx/>
                <a:buFontTx/>
              </a:pPr>
              <a:endParaRPr lang="zh-CN" altLang="en-US" sz="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68" name="同侧圆角矩形 367"/>
            <p:cNvSpPr/>
            <p:nvPr/>
          </p:nvSpPr>
          <p:spPr>
            <a:xfrm>
              <a:off x="966" y="5073"/>
              <a:ext cx="2305" cy="312"/>
            </a:xfrm>
            <a:prstGeom prst="round2SameRect">
              <a:avLst>
                <a:gd name="adj1" fmla="val 28823"/>
                <a:gd name="adj2" fmla="val 0"/>
              </a:avLst>
            </a:prstGeom>
            <a:solidFill>
              <a:srgbClr val="92D050"/>
            </a:solidFill>
            <a:ln w="60325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资产债权转让管理平台</a:t>
              </a:r>
              <a:endPara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369" name="组合 368"/>
          <p:cNvGrpSpPr/>
          <p:nvPr/>
        </p:nvGrpSpPr>
        <p:grpSpPr>
          <a:xfrm rot="0">
            <a:off x="8021320" y="2915920"/>
            <a:ext cx="1553884" cy="1901825"/>
            <a:chOff x="3462" y="5072"/>
            <a:chExt cx="2307" cy="2995"/>
          </a:xfrm>
        </p:grpSpPr>
        <p:sp>
          <p:nvSpPr>
            <p:cNvPr id="370" name="圆角矩形 369"/>
            <p:cNvSpPr/>
            <p:nvPr>
              <p:custDataLst>
                <p:tags r:id="rId81"/>
              </p:custDataLst>
            </p:nvPr>
          </p:nvSpPr>
          <p:spPr>
            <a:xfrm>
              <a:off x="3466" y="5083"/>
              <a:ext cx="2303" cy="2984"/>
            </a:xfrm>
            <a:prstGeom prst="roundRect">
              <a:avLst>
                <a:gd name="adj" fmla="val 5430"/>
              </a:avLst>
            </a:prstGeom>
            <a:solidFill>
              <a:schemeClr val="accent1">
                <a:alpha val="10000"/>
              </a:schemeClr>
            </a:solidFill>
            <a:ln w="12700">
              <a:solidFill>
                <a:schemeClr val="accent1">
                  <a:alpha val="61000"/>
                </a:schemeClr>
              </a:solidFill>
              <a:prstDash val="sysDash"/>
            </a:ln>
          </p:spPr>
          <p:style>
            <a:lnRef idx="0">
              <a:srgbClr val="FFFFFF"/>
            </a:lnRef>
            <a:fillRef idx="3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p>
              <a:pPr lvl="0" algn="ctr">
                <a:lnSpc>
                  <a:spcPct val="80000"/>
                </a:lnSpc>
                <a:buClrTx/>
                <a:buSzTx/>
                <a:buFontTx/>
              </a:pPr>
              <a:endParaRPr lang="zh-CN" altLang="en-US" sz="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71" name="同侧圆角矩形 370"/>
            <p:cNvSpPr/>
            <p:nvPr/>
          </p:nvSpPr>
          <p:spPr>
            <a:xfrm>
              <a:off x="3462" y="5072"/>
              <a:ext cx="2305" cy="312"/>
            </a:xfrm>
            <a:prstGeom prst="round2SameRect">
              <a:avLst>
                <a:gd name="adj1" fmla="val 28823"/>
                <a:gd name="adj2" fmla="val 0"/>
              </a:avLst>
            </a:prstGeom>
            <a:solidFill>
              <a:srgbClr val="92D050"/>
            </a:solidFill>
            <a:ln w="60325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资产证券化管理平台（ABS）</a:t>
              </a:r>
              <a:endPara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372" name="组合 371"/>
          <p:cNvGrpSpPr/>
          <p:nvPr/>
        </p:nvGrpSpPr>
        <p:grpSpPr>
          <a:xfrm rot="0">
            <a:off x="9707245" y="2915920"/>
            <a:ext cx="1553884" cy="1901190"/>
            <a:chOff x="6350" y="5072"/>
            <a:chExt cx="2307" cy="2994"/>
          </a:xfrm>
        </p:grpSpPr>
        <p:sp>
          <p:nvSpPr>
            <p:cNvPr id="373" name="圆角矩形 372"/>
            <p:cNvSpPr/>
            <p:nvPr>
              <p:custDataLst>
                <p:tags r:id="rId82"/>
              </p:custDataLst>
            </p:nvPr>
          </p:nvSpPr>
          <p:spPr>
            <a:xfrm>
              <a:off x="6354" y="5083"/>
              <a:ext cx="2303" cy="2983"/>
            </a:xfrm>
            <a:prstGeom prst="roundRect">
              <a:avLst>
                <a:gd name="adj" fmla="val 5430"/>
              </a:avLst>
            </a:prstGeom>
            <a:solidFill>
              <a:schemeClr val="accent1">
                <a:alpha val="10000"/>
              </a:schemeClr>
            </a:solidFill>
            <a:ln w="12700">
              <a:solidFill>
                <a:schemeClr val="accent1">
                  <a:alpha val="61000"/>
                </a:schemeClr>
              </a:solidFill>
              <a:prstDash val="sysDash"/>
            </a:ln>
          </p:spPr>
          <p:style>
            <a:lnRef idx="0">
              <a:srgbClr val="FFFFFF"/>
            </a:lnRef>
            <a:fillRef idx="3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p>
              <a:pPr lvl="0" algn="ctr">
                <a:lnSpc>
                  <a:spcPct val="80000"/>
                </a:lnSpc>
                <a:buClrTx/>
                <a:buSzTx/>
                <a:buFontTx/>
              </a:pPr>
              <a:endParaRPr lang="zh-CN" altLang="en-US" sz="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74" name="同侧圆角矩形 373"/>
            <p:cNvSpPr/>
            <p:nvPr/>
          </p:nvSpPr>
          <p:spPr>
            <a:xfrm>
              <a:off x="6350" y="5072"/>
              <a:ext cx="2305" cy="312"/>
            </a:xfrm>
            <a:prstGeom prst="round2SameRect">
              <a:avLst>
                <a:gd name="adj1" fmla="val 28823"/>
                <a:gd name="adj2" fmla="val 0"/>
              </a:avLst>
            </a:prstGeom>
            <a:solidFill>
              <a:srgbClr val="92D050"/>
            </a:solidFill>
            <a:ln w="60325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数字资产交易管理平台</a:t>
              </a:r>
              <a:endPara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376" name="圆角矩形 375"/>
          <p:cNvSpPr/>
          <p:nvPr>
            <p:custDataLst>
              <p:tags r:id="rId83"/>
            </p:custDataLst>
          </p:nvPr>
        </p:nvSpPr>
        <p:spPr>
          <a:xfrm>
            <a:off x="6423025" y="3208020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受让方管理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77" name="圆角矩形 376"/>
          <p:cNvSpPr/>
          <p:nvPr>
            <p:custDataLst>
              <p:tags r:id="rId84"/>
            </p:custDataLst>
          </p:nvPr>
        </p:nvSpPr>
        <p:spPr>
          <a:xfrm>
            <a:off x="7149465" y="3208020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资产池管理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78" name="圆角矩形 377"/>
          <p:cNvSpPr/>
          <p:nvPr>
            <p:custDataLst>
              <p:tags r:id="rId85"/>
            </p:custDataLst>
          </p:nvPr>
        </p:nvSpPr>
        <p:spPr>
          <a:xfrm>
            <a:off x="7149465" y="353504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资产包发布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79" name="圆角矩形 378"/>
          <p:cNvSpPr/>
          <p:nvPr>
            <p:custDataLst>
              <p:tags r:id="rId86"/>
            </p:custDataLst>
          </p:nvPr>
        </p:nvSpPr>
        <p:spPr>
          <a:xfrm>
            <a:off x="6423025" y="418909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回款清算管理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80" name="圆角矩形 379"/>
          <p:cNvSpPr/>
          <p:nvPr>
            <p:custDataLst>
              <p:tags r:id="rId87"/>
            </p:custDataLst>
          </p:nvPr>
        </p:nvSpPr>
        <p:spPr>
          <a:xfrm>
            <a:off x="6423025" y="353504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资产包管理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81" name="圆角矩形 380"/>
          <p:cNvSpPr/>
          <p:nvPr>
            <p:custDataLst>
              <p:tags r:id="rId88"/>
            </p:custDataLst>
          </p:nvPr>
        </p:nvSpPr>
        <p:spPr>
          <a:xfrm>
            <a:off x="7149465" y="418909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合同影像管理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82" name="圆角矩形 381"/>
          <p:cNvSpPr/>
          <p:nvPr>
            <p:custDataLst>
              <p:tags r:id="rId89"/>
            </p:custDataLst>
          </p:nvPr>
        </p:nvSpPr>
        <p:spPr>
          <a:xfrm>
            <a:off x="7149465" y="3862070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资产包转让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83" name="圆角矩形 382"/>
          <p:cNvSpPr/>
          <p:nvPr>
            <p:custDataLst>
              <p:tags r:id="rId90"/>
            </p:custDataLst>
          </p:nvPr>
        </p:nvSpPr>
        <p:spPr>
          <a:xfrm>
            <a:off x="6423025" y="3862070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资产包审批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84" name="圆角矩形 383"/>
          <p:cNvSpPr/>
          <p:nvPr>
            <p:custDataLst>
              <p:tags r:id="rId91"/>
            </p:custDataLst>
          </p:nvPr>
        </p:nvSpPr>
        <p:spPr>
          <a:xfrm>
            <a:off x="8114030" y="3208020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投资人管理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85" name="圆角矩形 384"/>
          <p:cNvSpPr/>
          <p:nvPr>
            <p:custDataLst>
              <p:tags r:id="rId92"/>
            </p:custDataLst>
          </p:nvPr>
        </p:nvSpPr>
        <p:spPr>
          <a:xfrm>
            <a:off x="8851265" y="321246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资产池管理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86" name="圆角矩形 385"/>
          <p:cNvSpPr/>
          <p:nvPr>
            <p:custDataLst>
              <p:tags r:id="rId93"/>
            </p:custDataLst>
          </p:nvPr>
        </p:nvSpPr>
        <p:spPr>
          <a:xfrm>
            <a:off x="8114030" y="353504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资产包管理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87" name="圆角矩形 386"/>
          <p:cNvSpPr/>
          <p:nvPr>
            <p:custDataLst>
              <p:tags r:id="rId94"/>
            </p:custDataLst>
          </p:nvPr>
        </p:nvSpPr>
        <p:spPr>
          <a:xfrm>
            <a:off x="8851265" y="3538220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产品设计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88" name="圆角矩形 387"/>
          <p:cNvSpPr/>
          <p:nvPr>
            <p:custDataLst>
              <p:tags r:id="rId95"/>
            </p:custDataLst>
          </p:nvPr>
        </p:nvSpPr>
        <p:spPr>
          <a:xfrm>
            <a:off x="8851265" y="386397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资产包转让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89" name="圆角矩形 388"/>
          <p:cNvSpPr/>
          <p:nvPr>
            <p:custDataLst>
              <p:tags r:id="rId96"/>
            </p:custDataLst>
          </p:nvPr>
        </p:nvSpPr>
        <p:spPr>
          <a:xfrm>
            <a:off x="8851265" y="4189730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产品</a:t>
            </a: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风险管理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90" name="圆角矩形 389"/>
          <p:cNvSpPr/>
          <p:nvPr>
            <p:custDataLst>
              <p:tags r:id="rId97"/>
            </p:custDataLst>
          </p:nvPr>
        </p:nvSpPr>
        <p:spPr>
          <a:xfrm>
            <a:off x="8114030" y="418909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产品</a:t>
            </a: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存续管理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91" name="圆角矩形 390"/>
          <p:cNvSpPr/>
          <p:nvPr>
            <p:custDataLst>
              <p:tags r:id="rId98"/>
            </p:custDataLst>
          </p:nvPr>
        </p:nvSpPr>
        <p:spPr>
          <a:xfrm>
            <a:off x="8114030" y="3862070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产品发行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92" name="圆角矩形 391"/>
          <p:cNvSpPr/>
          <p:nvPr>
            <p:custDataLst>
              <p:tags r:id="rId99"/>
            </p:custDataLst>
          </p:nvPr>
        </p:nvSpPr>
        <p:spPr>
          <a:xfrm>
            <a:off x="9806305" y="321246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用户管理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93" name="圆角矩形 392"/>
          <p:cNvSpPr/>
          <p:nvPr>
            <p:custDataLst>
              <p:tags r:id="rId100"/>
            </p:custDataLst>
          </p:nvPr>
        </p:nvSpPr>
        <p:spPr>
          <a:xfrm>
            <a:off x="10532745" y="321246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数字资产管理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94" name="圆角矩形 393"/>
          <p:cNvSpPr/>
          <p:nvPr>
            <p:custDataLst>
              <p:tags r:id="rId101"/>
            </p:custDataLst>
          </p:nvPr>
        </p:nvSpPr>
        <p:spPr>
          <a:xfrm>
            <a:off x="9806305" y="386524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数字资产确权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95" name="圆角矩形 394"/>
          <p:cNvSpPr/>
          <p:nvPr>
            <p:custDataLst>
              <p:tags r:id="rId102"/>
            </p:custDataLst>
          </p:nvPr>
        </p:nvSpPr>
        <p:spPr>
          <a:xfrm>
            <a:off x="10532745" y="386524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数字资产交割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96" name="圆角矩形 395"/>
          <p:cNvSpPr/>
          <p:nvPr>
            <p:custDataLst>
              <p:tags r:id="rId103"/>
            </p:custDataLst>
          </p:nvPr>
        </p:nvSpPr>
        <p:spPr>
          <a:xfrm>
            <a:off x="10532745" y="353885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数字资产交易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97" name="圆角矩形 396"/>
          <p:cNvSpPr/>
          <p:nvPr>
            <p:custDataLst>
              <p:tags r:id="rId104"/>
            </p:custDataLst>
          </p:nvPr>
        </p:nvSpPr>
        <p:spPr>
          <a:xfrm>
            <a:off x="9806305" y="419163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数字资产转让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98" name="圆角矩形 397"/>
          <p:cNvSpPr/>
          <p:nvPr>
            <p:custDataLst>
              <p:tags r:id="rId105"/>
            </p:custDataLst>
          </p:nvPr>
        </p:nvSpPr>
        <p:spPr>
          <a:xfrm>
            <a:off x="9806305" y="353885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数字资产上架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99" name="圆角矩形 398"/>
          <p:cNvSpPr/>
          <p:nvPr>
            <p:custDataLst>
              <p:tags r:id="rId106"/>
            </p:custDataLst>
          </p:nvPr>
        </p:nvSpPr>
        <p:spPr>
          <a:xfrm>
            <a:off x="10532745" y="419163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收益分配管理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12" name="圆角矩形 411"/>
          <p:cNvSpPr/>
          <p:nvPr>
            <p:custDataLst>
              <p:tags r:id="rId107"/>
            </p:custDataLst>
          </p:nvPr>
        </p:nvSpPr>
        <p:spPr>
          <a:xfrm>
            <a:off x="4546600" y="382905"/>
            <a:ext cx="1112520" cy="458470"/>
          </a:xfrm>
          <a:prstGeom prst="roundRect">
            <a:avLst>
              <a:gd name="adj" fmla="val 2948"/>
            </a:avLst>
          </a:prstGeom>
          <a:solidFill>
            <a:schemeClr val="bg1"/>
          </a:solidFill>
          <a:ln w="12700">
            <a:solidFill>
              <a:schemeClr val="accent1">
                <a:alpha val="61000"/>
              </a:schemeClr>
            </a:solidFill>
            <a:prstDash val="sysDash"/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p>
            <a:pPr lvl="0" algn="ctr">
              <a:lnSpc>
                <a:spcPct val="80000"/>
              </a:lnSpc>
              <a:buClrTx/>
              <a:buSzTx/>
              <a:buFontTx/>
            </a:pPr>
            <a:endParaRPr lang="zh-CN" altLang="en-US" sz="800" b="1">
              <a:solidFill>
                <a:schemeClr val="tx1">
                  <a:lumMod val="95000"/>
                  <a:lumOff val="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13" name="同侧圆角矩形 412"/>
          <p:cNvSpPr/>
          <p:nvPr/>
        </p:nvSpPr>
        <p:spPr>
          <a:xfrm>
            <a:off x="4695190" y="463550"/>
            <a:ext cx="814705" cy="302260"/>
          </a:xfrm>
          <a:prstGeom prst="round2SameRect">
            <a:avLst>
              <a:gd name="adj1" fmla="val 0"/>
              <a:gd name="adj2" fmla="val 0"/>
            </a:avLst>
          </a:prstGeom>
          <a:gradFill>
            <a:gsLst>
              <a:gs pos="0">
                <a:srgbClr val="2957DE"/>
              </a:gs>
              <a:gs pos="100000">
                <a:srgbClr val="598BF6"/>
              </a:gs>
            </a:gsLst>
            <a:lin ang="4500000" scaled="0"/>
          </a:gradFill>
          <a:ln w="6032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投流系统</a:t>
            </a:r>
            <a:endParaRPr lang="zh-CN" altLang="en-US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14" name="右箭头 413"/>
          <p:cNvSpPr/>
          <p:nvPr>
            <p:custDataLst>
              <p:tags r:id="rId108"/>
            </p:custDataLst>
          </p:nvPr>
        </p:nvSpPr>
        <p:spPr>
          <a:xfrm rot="5400000">
            <a:off x="3093720" y="1579880"/>
            <a:ext cx="200660" cy="288290"/>
          </a:xfrm>
          <a:prstGeom prst="rightArrow">
            <a:avLst/>
          </a:prstGeom>
          <a:solidFill>
            <a:srgbClr val="F5B482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t" anchorCtr="0" forceAA="0" compatLnSpc="1">
            <a:noAutofit/>
          </a:bodyPr>
          <a:p>
            <a:pPr lvl="0" algn="ctr">
              <a:lnSpc>
                <a:spcPct val="150000"/>
              </a:lnSpc>
              <a:buClrTx/>
              <a:buSzTx/>
              <a:buFontTx/>
            </a:pPr>
            <a:endParaRPr lang="zh-CN" altLang="en-US" sz="1400" b="1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FAFAFA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15" name="右箭头 414"/>
          <p:cNvSpPr/>
          <p:nvPr>
            <p:custDataLst>
              <p:tags r:id="rId109"/>
            </p:custDataLst>
          </p:nvPr>
        </p:nvSpPr>
        <p:spPr>
          <a:xfrm rot="5400000">
            <a:off x="8695690" y="1579880"/>
            <a:ext cx="200660" cy="288290"/>
          </a:xfrm>
          <a:prstGeom prst="rightArrow">
            <a:avLst/>
          </a:prstGeom>
          <a:solidFill>
            <a:srgbClr val="F5B482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t" anchorCtr="0" forceAA="0" compatLnSpc="1">
            <a:noAutofit/>
          </a:bodyPr>
          <a:p>
            <a:pPr lvl="0" algn="ctr">
              <a:lnSpc>
                <a:spcPct val="150000"/>
              </a:lnSpc>
              <a:buClrTx/>
              <a:buSzTx/>
              <a:buFontTx/>
            </a:pPr>
            <a:endParaRPr lang="zh-CN" altLang="en-US" sz="1400" b="1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FAFAFA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" name="圆角矩形 3"/>
          <p:cNvSpPr/>
          <p:nvPr>
            <p:custDataLst>
              <p:tags r:id="rId110"/>
            </p:custDataLst>
          </p:nvPr>
        </p:nvSpPr>
        <p:spPr>
          <a:xfrm>
            <a:off x="6423025" y="4512554"/>
            <a:ext cx="635000" cy="2570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贷后凭证管理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" name="圆角矩形 4"/>
          <p:cNvSpPr/>
          <p:nvPr>
            <p:custDataLst>
              <p:tags r:id="rId111"/>
            </p:custDataLst>
          </p:nvPr>
        </p:nvSpPr>
        <p:spPr>
          <a:xfrm>
            <a:off x="7149465" y="4512554"/>
            <a:ext cx="635000" cy="2570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数据报表管理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" name="圆角矩形 5"/>
          <p:cNvSpPr/>
          <p:nvPr>
            <p:custDataLst>
              <p:tags r:id="rId112"/>
            </p:custDataLst>
          </p:nvPr>
        </p:nvSpPr>
        <p:spPr>
          <a:xfrm>
            <a:off x="8851265" y="4512513"/>
            <a:ext cx="635000" cy="2570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数据报表管理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" name="圆角矩形 6"/>
          <p:cNvSpPr/>
          <p:nvPr>
            <p:custDataLst>
              <p:tags r:id="rId113"/>
            </p:custDataLst>
          </p:nvPr>
        </p:nvSpPr>
        <p:spPr>
          <a:xfrm>
            <a:off x="8114030" y="4511919"/>
            <a:ext cx="635000" cy="2570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产品退出管理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" name="圆角矩形 7"/>
          <p:cNvSpPr/>
          <p:nvPr>
            <p:custDataLst>
              <p:tags r:id="rId114"/>
            </p:custDataLst>
          </p:nvPr>
        </p:nvSpPr>
        <p:spPr>
          <a:xfrm>
            <a:off x="10532745" y="4512513"/>
            <a:ext cx="635000" cy="2570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数据报表管理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圆角矩形 8"/>
          <p:cNvSpPr/>
          <p:nvPr>
            <p:custDataLst>
              <p:tags r:id="rId115"/>
            </p:custDataLst>
          </p:nvPr>
        </p:nvSpPr>
        <p:spPr>
          <a:xfrm>
            <a:off x="9795510" y="4511919"/>
            <a:ext cx="635000" cy="25705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资产存续管理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88" name="组合 87"/>
          <p:cNvGrpSpPr/>
          <p:nvPr/>
        </p:nvGrpSpPr>
        <p:grpSpPr>
          <a:xfrm>
            <a:off x="8273415" y="330200"/>
            <a:ext cx="1460500" cy="1191260"/>
            <a:chOff x="13274" y="520"/>
            <a:chExt cx="2300" cy="1876"/>
          </a:xfrm>
        </p:grpSpPr>
        <p:sp>
          <p:nvSpPr>
            <p:cNvPr id="35" name="圆角矩形 34"/>
            <p:cNvSpPr/>
            <p:nvPr>
              <p:custDataLst>
                <p:tags r:id="rId116"/>
              </p:custDataLst>
            </p:nvPr>
          </p:nvSpPr>
          <p:spPr>
            <a:xfrm>
              <a:off x="13274" y="520"/>
              <a:ext cx="2301" cy="1876"/>
            </a:xfrm>
            <a:prstGeom prst="roundRect">
              <a:avLst>
                <a:gd name="adj" fmla="val 2948"/>
              </a:avLst>
            </a:prstGeom>
            <a:solidFill>
              <a:schemeClr val="bg1"/>
            </a:solidFill>
            <a:ln w="12700">
              <a:solidFill>
                <a:schemeClr val="accent1">
                  <a:alpha val="61000"/>
                </a:schemeClr>
              </a:solidFill>
              <a:prstDash val="sysDash"/>
            </a:ln>
          </p:spPr>
          <p:style>
            <a:lnRef idx="0">
              <a:srgbClr val="FFFFFF"/>
            </a:lnRef>
            <a:fillRef idx="3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p>
              <a:pPr lvl="0" algn="ctr">
                <a:lnSpc>
                  <a:spcPct val="80000"/>
                </a:lnSpc>
                <a:buClrTx/>
                <a:buSzTx/>
                <a:buFontTx/>
              </a:pPr>
              <a:endParaRPr lang="zh-CN" altLang="en-US" sz="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6" name="同侧圆角矩形 35"/>
            <p:cNvSpPr/>
            <p:nvPr/>
          </p:nvSpPr>
          <p:spPr>
            <a:xfrm>
              <a:off x="13274" y="520"/>
              <a:ext cx="2301" cy="312"/>
            </a:xfrm>
            <a:prstGeom prst="round2SameRect">
              <a:avLst>
                <a:gd name="adj1" fmla="val 28823"/>
                <a:gd name="adj2" fmla="val 0"/>
              </a:avLst>
            </a:prstGeom>
            <a:gradFill>
              <a:gsLst>
                <a:gs pos="0">
                  <a:srgbClr val="2957DE"/>
                </a:gs>
                <a:gs pos="100000">
                  <a:srgbClr val="598BF6"/>
                </a:gs>
              </a:gsLst>
              <a:lin ang="4500000" scaled="0"/>
            </a:gradFill>
            <a:ln w="60325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信贷资产管理系统</a:t>
              </a:r>
              <a:endPara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7" name="圆角矩形 36"/>
            <p:cNvSpPr/>
            <p:nvPr>
              <p:custDataLst>
                <p:tags r:id="rId117"/>
              </p:custDataLst>
            </p:nvPr>
          </p:nvSpPr>
          <p:spPr>
            <a:xfrm>
              <a:off x="13444" y="985"/>
              <a:ext cx="880" cy="340"/>
            </a:xfrm>
            <a:prstGeom prst="roundRect">
              <a:avLst/>
            </a:prstGeom>
            <a:solidFill>
              <a:schemeClr val="accent1">
                <a:alpha val="15000"/>
              </a:schemeClr>
            </a:solidFill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0" rIns="0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放款信息</a:t>
              </a:r>
              <a:endPara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8" name="圆角矩形 37"/>
            <p:cNvSpPr/>
            <p:nvPr>
              <p:custDataLst>
                <p:tags r:id="rId118"/>
              </p:custDataLst>
            </p:nvPr>
          </p:nvSpPr>
          <p:spPr>
            <a:xfrm>
              <a:off x="14486" y="985"/>
              <a:ext cx="880" cy="340"/>
            </a:xfrm>
            <a:prstGeom prst="roundRect">
              <a:avLst/>
            </a:prstGeom>
            <a:solidFill>
              <a:schemeClr val="accent1">
                <a:alpha val="15000"/>
              </a:schemeClr>
            </a:solidFill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0" rIns="0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借据信息</a:t>
              </a:r>
              <a:endPara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9" name="圆角矩形 38"/>
            <p:cNvSpPr/>
            <p:nvPr>
              <p:custDataLst>
                <p:tags r:id="rId119"/>
              </p:custDataLst>
            </p:nvPr>
          </p:nvSpPr>
          <p:spPr>
            <a:xfrm>
              <a:off x="13444" y="1451"/>
              <a:ext cx="880" cy="340"/>
            </a:xfrm>
            <a:prstGeom prst="roundRect">
              <a:avLst/>
            </a:prstGeom>
            <a:solidFill>
              <a:schemeClr val="accent1">
                <a:alpha val="15000"/>
              </a:schemeClr>
            </a:solidFill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0" rIns="0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计划信息</a:t>
              </a:r>
              <a:endPara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40" name="圆角矩形 39"/>
            <p:cNvSpPr/>
            <p:nvPr>
              <p:custDataLst>
                <p:tags r:id="rId120"/>
              </p:custDataLst>
            </p:nvPr>
          </p:nvSpPr>
          <p:spPr>
            <a:xfrm>
              <a:off x="14486" y="1451"/>
              <a:ext cx="880" cy="340"/>
            </a:xfrm>
            <a:prstGeom prst="roundRect">
              <a:avLst/>
            </a:prstGeom>
            <a:solidFill>
              <a:schemeClr val="accent1">
                <a:alpha val="15000"/>
              </a:schemeClr>
            </a:solidFill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0" rIns="0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还款信息</a:t>
              </a:r>
              <a:endPara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46" name="圆角矩形 45"/>
            <p:cNvSpPr/>
            <p:nvPr>
              <p:custDataLst>
                <p:tags r:id="rId121"/>
              </p:custDataLst>
            </p:nvPr>
          </p:nvSpPr>
          <p:spPr>
            <a:xfrm>
              <a:off x="13444" y="1917"/>
              <a:ext cx="880" cy="340"/>
            </a:xfrm>
            <a:prstGeom prst="roundRect">
              <a:avLst/>
            </a:prstGeom>
            <a:solidFill>
              <a:schemeClr val="accent1">
                <a:alpha val="15000"/>
              </a:schemeClr>
            </a:solidFill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0" rIns="0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减免信息</a:t>
              </a:r>
              <a:endPara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47" name="圆角矩形 46"/>
            <p:cNvSpPr/>
            <p:nvPr>
              <p:custDataLst>
                <p:tags r:id="rId122"/>
              </p:custDataLst>
            </p:nvPr>
          </p:nvSpPr>
          <p:spPr>
            <a:xfrm>
              <a:off x="14486" y="1917"/>
              <a:ext cx="880" cy="340"/>
            </a:xfrm>
            <a:prstGeom prst="roundRect">
              <a:avLst/>
            </a:prstGeom>
            <a:solidFill>
              <a:schemeClr val="accent1">
                <a:alpha val="15000"/>
              </a:schemeClr>
            </a:solidFill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0" rIns="0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计提信息</a:t>
              </a:r>
              <a:endPara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89" name="组合 88"/>
          <p:cNvGrpSpPr/>
          <p:nvPr/>
        </p:nvGrpSpPr>
        <p:grpSpPr>
          <a:xfrm>
            <a:off x="6575425" y="330200"/>
            <a:ext cx="1460500" cy="1191260"/>
            <a:chOff x="10355" y="520"/>
            <a:chExt cx="2300" cy="1876"/>
          </a:xfrm>
        </p:grpSpPr>
        <p:sp>
          <p:nvSpPr>
            <p:cNvPr id="50" name="圆角矩形 49"/>
            <p:cNvSpPr/>
            <p:nvPr>
              <p:custDataLst>
                <p:tags r:id="rId123"/>
              </p:custDataLst>
            </p:nvPr>
          </p:nvSpPr>
          <p:spPr>
            <a:xfrm>
              <a:off x="10355" y="520"/>
              <a:ext cx="2301" cy="1876"/>
            </a:xfrm>
            <a:prstGeom prst="roundRect">
              <a:avLst>
                <a:gd name="adj" fmla="val 2948"/>
              </a:avLst>
            </a:prstGeom>
            <a:solidFill>
              <a:schemeClr val="bg1"/>
            </a:solidFill>
            <a:ln w="12700">
              <a:solidFill>
                <a:schemeClr val="accent1">
                  <a:alpha val="61000"/>
                </a:schemeClr>
              </a:solidFill>
              <a:prstDash val="sysDash"/>
            </a:ln>
          </p:spPr>
          <p:style>
            <a:lnRef idx="0">
              <a:srgbClr val="FFFFFF"/>
            </a:lnRef>
            <a:fillRef idx="3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p>
              <a:pPr lvl="0" algn="ctr">
                <a:lnSpc>
                  <a:spcPct val="80000"/>
                </a:lnSpc>
                <a:buClrTx/>
                <a:buSzTx/>
                <a:buFontTx/>
              </a:pPr>
              <a:endParaRPr lang="zh-CN" altLang="en-US" sz="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51" name="同侧圆角矩形 50"/>
            <p:cNvSpPr/>
            <p:nvPr/>
          </p:nvSpPr>
          <p:spPr>
            <a:xfrm>
              <a:off x="10355" y="520"/>
              <a:ext cx="2301" cy="312"/>
            </a:xfrm>
            <a:prstGeom prst="round2SameRect">
              <a:avLst>
                <a:gd name="adj1" fmla="val 28823"/>
                <a:gd name="adj2" fmla="val 0"/>
              </a:avLst>
            </a:prstGeom>
            <a:gradFill>
              <a:gsLst>
                <a:gs pos="0">
                  <a:srgbClr val="2957DE"/>
                </a:gs>
                <a:gs pos="100000">
                  <a:srgbClr val="598BF6"/>
                </a:gs>
              </a:gsLst>
              <a:lin ang="4500000" scaled="0"/>
            </a:gradFill>
            <a:ln w="60325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信贷客户管理系统</a:t>
              </a:r>
              <a:endPara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52" name="圆角矩形 51"/>
            <p:cNvSpPr/>
            <p:nvPr>
              <p:custDataLst>
                <p:tags r:id="rId124"/>
              </p:custDataLst>
            </p:nvPr>
          </p:nvSpPr>
          <p:spPr>
            <a:xfrm>
              <a:off x="10525" y="985"/>
              <a:ext cx="880" cy="340"/>
            </a:xfrm>
            <a:prstGeom prst="roundRect">
              <a:avLst/>
            </a:prstGeom>
            <a:solidFill>
              <a:schemeClr val="accent1">
                <a:alpha val="15000"/>
              </a:schemeClr>
            </a:solidFill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0" rIns="0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个人客户</a:t>
              </a:r>
              <a:endPara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53" name="圆角矩形 52"/>
            <p:cNvSpPr/>
            <p:nvPr>
              <p:custDataLst>
                <p:tags r:id="rId125"/>
              </p:custDataLst>
            </p:nvPr>
          </p:nvSpPr>
          <p:spPr>
            <a:xfrm>
              <a:off x="11567" y="985"/>
              <a:ext cx="880" cy="340"/>
            </a:xfrm>
            <a:prstGeom prst="roundRect">
              <a:avLst/>
            </a:prstGeom>
            <a:solidFill>
              <a:schemeClr val="accent1">
                <a:alpha val="15000"/>
              </a:schemeClr>
            </a:solidFill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0" rIns="0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企业客户</a:t>
              </a:r>
              <a:endPara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54" name="圆角矩形 53"/>
            <p:cNvSpPr/>
            <p:nvPr>
              <p:custDataLst>
                <p:tags r:id="rId126"/>
              </p:custDataLst>
            </p:nvPr>
          </p:nvSpPr>
          <p:spPr>
            <a:xfrm>
              <a:off x="10525" y="1451"/>
              <a:ext cx="880" cy="340"/>
            </a:xfrm>
            <a:prstGeom prst="roundRect">
              <a:avLst/>
            </a:prstGeom>
            <a:solidFill>
              <a:schemeClr val="accent1">
                <a:alpha val="15000"/>
              </a:schemeClr>
            </a:solidFill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0" rIns="0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户籍信息</a:t>
              </a:r>
              <a:endPara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56" name="圆角矩形 55"/>
            <p:cNvSpPr/>
            <p:nvPr>
              <p:custDataLst>
                <p:tags r:id="rId127"/>
              </p:custDataLst>
            </p:nvPr>
          </p:nvSpPr>
          <p:spPr>
            <a:xfrm>
              <a:off x="11567" y="1451"/>
              <a:ext cx="880" cy="340"/>
            </a:xfrm>
            <a:prstGeom prst="roundRect">
              <a:avLst/>
            </a:prstGeom>
            <a:solidFill>
              <a:schemeClr val="accent1">
                <a:alpha val="15000"/>
              </a:schemeClr>
            </a:solidFill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0" rIns="0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居住信息</a:t>
              </a:r>
              <a:endPara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62" name="圆角矩形 61"/>
            <p:cNvSpPr/>
            <p:nvPr>
              <p:custDataLst>
                <p:tags r:id="rId128"/>
              </p:custDataLst>
            </p:nvPr>
          </p:nvSpPr>
          <p:spPr>
            <a:xfrm>
              <a:off x="10525" y="1917"/>
              <a:ext cx="880" cy="340"/>
            </a:xfrm>
            <a:prstGeom prst="roundRect">
              <a:avLst/>
            </a:prstGeom>
            <a:solidFill>
              <a:schemeClr val="accent1">
                <a:alpha val="15000"/>
              </a:schemeClr>
            </a:solidFill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0" rIns="0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单位信息</a:t>
              </a:r>
              <a:endPara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64" name="圆角矩形 63"/>
            <p:cNvSpPr/>
            <p:nvPr>
              <p:custDataLst>
                <p:tags r:id="rId129"/>
              </p:custDataLst>
            </p:nvPr>
          </p:nvSpPr>
          <p:spPr>
            <a:xfrm>
              <a:off x="11567" y="1917"/>
              <a:ext cx="880" cy="340"/>
            </a:xfrm>
            <a:prstGeom prst="roundRect">
              <a:avLst/>
            </a:prstGeom>
            <a:solidFill>
              <a:schemeClr val="accent1">
                <a:alpha val="15000"/>
              </a:schemeClr>
            </a:solidFill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0" rIns="0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收入信息</a:t>
              </a:r>
              <a:endPara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90" name="组合 89"/>
          <p:cNvGrpSpPr/>
          <p:nvPr/>
        </p:nvGrpSpPr>
        <p:grpSpPr>
          <a:xfrm>
            <a:off x="9971405" y="330200"/>
            <a:ext cx="1460500" cy="1191260"/>
            <a:chOff x="16182" y="520"/>
            <a:chExt cx="2300" cy="1876"/>
          </a:xfrm>
        </p:grpSpPr>
        <p:sp>
          <p:nvSpPr>
            <p:cNvPr id="71" name="圆角矩形 70"/>
            <p:cNvSpPr/>
            <p:nvPr>
              <p:custDataLst>
                <p:tags r:id="rId130"/>
              </p:custDataLst>
            </p:nvPr>
          </p:nvSpPr>
          <p:spPr>
            <a:xfrm>
              <a:off x="16182" y="520"/>
              <a:ext cx="2301" cy="1876"/>
            </a:xfrm>
            <a:prstGeom prst="roundRect">
              <a:avLst>
                <a:gd name="adj" fmla="val 2948"/>
              </a:avLst>
            </a:prstGeom>
            <a:solidFill>
              <a:schemeClr val="bg1"/>
            </a:solidFill>
            <a:ln w="12700">
              <a:solidFill>
                <a:schemeClr val="accent1">
                  <a:alpha val="61000"/>
                </a:schemeClr>
              </a:solidFill>
              <a:prstDash val="sysDash"/>
            </a:ln>
          </p:spPr>
          <p:style>
            <a:lnRef idx="0">
              <a:srgbClr val="FFFFFF"/>
            </a:lnRef>
            <a:fillRef idx="3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p>
              <a:pPr lvl="0" algn="ctr">
                <a:lnSpc>
                  <a:spcPct val="80000"/>
                </a:lnSpc>
                <a:buClrTx/>
                <a:buSzTx/>
                <a:buFontTx/>
              </a:pPr>
              <a:endParaRPr lang="zh-CN" altLang="en-US" sz="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75" name="同侧圆角矩形 74"/>
            <p:cNvSpPr/>
            <p:nvPr/>
          </p:nvSpPr>
          <p:spPr>
            <a:xfrm>
              <a:off x="16182" y="520"/>
              <a:ext cx="2301" cy="312"/>
            </a:xfrm>
            <a:prstGeom prst="round2SameRect">
              <a:avLst>
                <a:gd name="adj1" fmla="val 28823"/>
                <a:gd name="adj2" fmla="val 0"/>
              </a:avLst>
            </a:prstGeom>
            <a:gradFill>
              <a:gsLst>
                <a:gs pos="0">
                  <a:srgbClr val="2957DE"/>
                </a:gs>
                <a:gs pos="100000">
                  <a:srgbClr val="598BF6"/>
                </a:gs>
              </a:gsLst>
              <a:lin ang="4500000" scaled="0"/>
            </a:gradFill>
            <a:ln w="60325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风控管理系统</a:t>
              </a:r>
              <a:endPara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76" name="圆角矩形 75"/>
            <p:cNvSpPr/>
            <p:nvPr>
              <p:custDataLst>
                <p:tags r:id="rId131"/>
              </p:custDataLst>
            </p:nvPr>
          </p:nvSpPr>
          <p:spPr>
            <a:xfrm>
              <a:off x="16352" y="985"/>
              <a:ext cx="880" cy="340"/>
            </a:xfrm>
            <a:prstGeom prst="roundRect">
              <a:avLst/>
            </a:prstGeom>
            <a:solidFill>
              <a:schemeClr val="accent1">
                <a:alpha val="15000"/>
              </a:schemeClr>
            </a:solidFill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0" rIns="0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授信信息</a:t>
              </a:r>
              <a:endPara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77" name="圆角矩形 76"/>
            <p:cNvSpPr/>
            <p:nvPr>
              <p:custDataLst>
                <p:tags r:id="rId132"/>
              </p:custDataLst>
            </p:nvPr>
          </p:nvSpPr>
          <p:spPr>
            <a:xfrm>
              <a:off x="17394" y="985"/>
              <a:ext cx="880" cy="340"/>
            </a:xfrm>
            <a:prstGeom prst="roundRect">
              <a:avLst/>
            </a:prstGeom>
            <a:solidFill>
              <a:schemeClr val="accent1">
                <a:alpha val="15000"/>
              </a:schemeClr>
            </a:solidFill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0" rIns="0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额度信息</a:t>
              </a:r>
              <a:endPara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78" name="圆角矩形 77"/>
            <p:cNvSpPr/>
            <p:nvPr>
              <p:custDataLst>
                <p:tags r:id="rId133"/>
              </p:custDataLst>
            </p:nvPr>
          </p:nvSpPr>
          <p:spPr>
            <a:xfrm>
              <a:off x="16352" y="1451"/>
              <a:ext cx="880" cy="340"/>
            </a:xfrm>
            <a:prstGeom prst="roundRect">
              <a:avLst/>
            </a:prstGeom>
            <a:solidFill>
              <a:schemeClr val="accent1">
                <a:alpha val="15000"/>
              </a:schemeClr>
            </a:solidFill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0" rIns="0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融担信息</a:t>
              </a:r>
              <a:endPara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79" name="圆角矩形 78"/>
            <p:cNvSpPr/>
            <p:nvPr>
              <p:custDataLst>
                <p:tags r:id="rId134"/>
              </p:custDataLst>
            </p:nvPr>
          </p:nvSpPr>
          <p:spPr>
            <a:xfrm>
              <a:off x="17394" y="1451"/>
              <a:ext cx="880" cy="340"/>
            </a:xfrm>
            <a:prstGeom prst="roundRect">
              <a:avLst/>
            </a:prstGeom>
            <a:solidFill>
              <a:schemeClr val="accent1">
                <a:alpha val="15000"/>
              </a:schemeClr>
            </a:solidFill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0" rIns="0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投向行业</a:t>
              </a:r>
              <a:endPara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80" name="圆角矩形 79"/>
            <p:cNvSpPr/>
            <p:nvPr>
              <p:custDataLst>
                <p:tags r:id="rId135"/>
              </p:custDataLst>
            </p:nvPr>
          </p:nvSpPr>
          <p:spPr>
            <a:xfrm>
              <a:off x="16352" y="1917"/>
              <a:ext cx="880" cy="340"/>
            </a:xfrm>
            <a:prstGeom prst="roundRect">
              <a:avLst/>
            </a:prstGeom>
            <a:solidFill>
              <a:schemeClr val="accent1">
                <a:alpha val="15000"/>
              </a:schemeClr>
            </a:solidFill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0" rIns="0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信用等级</a:t>
              </a:r>
              <a:endPara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81" name="圆角矩形 80"/>
            <p:cNvSpPr/>
            <p:nvPr>
              <p:custDataLst>
                <p:tags r:id="rId136"/>
              </p:custDataLst>
            </p:nvPr>
          </p:nvSpPr>
          <p:spPr>
            <a:xfrm>
              <a:off x="17394" y="1917"/>
              <a:ext cx="880" cy="340"/>
            </a:xfrm>
            <a:prstGeom prst="roundRect">
              <a:avLst/>
            </a:prstGeom>
            <a:solidFill>
              <a:schemeClr val="accent1">
                <a:alpha val="15000"/>
              </a:schemeClr>
            </a:solidFill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0" rIns="0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风险指标</a:t>
              </a:r>
              <a:endPara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94" name="组合 93"/>
          <p:cNvGrpSpPr/>
          <p:nvPr/>
        </p:nvGrpSpPr>
        <p:grpSpPr>
          <a:xfrm rot="0">
            <a:off x="2245360" y="5052060"/>
            <a:ext cx="2340610" cy="546100"/>
            <a:chOff x="1558" y="7951"/>
            <a:chExt cx="2447" cy="860"/>
          </a:xfrm>
        </p:grpSpPr>
        <p:sp>
          <p:nvSpPr>
            <p:cNvPr id="91" name="圆角矩形 90"/>
            <p:cNvSpPr/>
            <p:nvPr>
              <p:custDataLst>
                <p:tags r:id="rId137"/>
              </p:custDataLst>
            </p:nvPr>
          </p:nvSpPr>
          <p:spPr>
            <a:xfrm>
              <a:off x="1562" y="7961"/>
              <a:ext cx="2443" cy="850"/>
            </a:xfrm>
            <a:prstGeom prst="roundRect">
              <a:avLst>
                <a:gd name="adj" fmla="val 5430"/>
              </a:avLst>
            </a:prstGeom>
            <a:solidFill>
              <a:schemeClr val="accent1">
                <a:alpha val="10000"/>
              </a:schemeClr>
            </a:solidFill>
            <a:ln w="12700">
              <a:solidFill>
                <a:schemeClr val="accent1">
                  <a:alpha val="61000"/>
                </a:schemeClr>
              </a:solidFill>
              <a:prstDash val="sysDash"/>
            </a:ln>
          </p:spPr>
          <p:style>
            <a:lnRef idx="0">
              <a:srgbClr val="FFFFFF"/>
            </a:lnRef>
            <a:fillRef idx="3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p>
              <a:pPr lvl="0" algn="ctr">
                <a:lnSpc>
                  <a:spcPct val="80000"/>
                </a:lnSpc>
                <a:buClrTx/>
                <a:buSzTx/>
                <a:buFontTx/>
              </a:pPr>
              <a:endParaRPr lang="zh-CN" altLang="en-US" sz="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93" name="同侧圆角矩形 92"/>
            <p:cNvSpPr/>
            <p:nvPr/>
          </p:nvSpPr>
          <p:spPr>
            <a:xfrm>
              <a:off x="1558" y="7951"/>
              <a:ext cx="2445" cy="312"/>
            </a:xfrm>
            <a:prstGeom prst="round2SameRect">
              <a:avLst>
                <a:gd name="adj1" fmla="val 28823"/>
                <a:gd name="adj2" fmla="val 0"/>
              </a:avLst>
            </a:prstGeom>
            <a:gradFill>
              <a:gsLst>
                <a:gs pos="0">
                  <a:srgbClr val="2957DE"/>
                </a:gs>
                <a:gs pos="100000">
                  <a:srgbClr val="598BF6"/>
                </a:gs>
              </a:gsLst>
              <a:lin ang="4500000" scaled="0"/>
            </a:gradFill>
            <a:ln w="60325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资产</a:t>
              </a:r>
              <a:r>
                <a:rPr lang="zh-CN" altLang="en-US" sz="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/</a:t>
              </a:r>
              <a:r>
                <a:rPr lang="zh-CN" altLang="en-US" sz="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流量运营管理平台</a:t>
              </a:r>
              <a:endPara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95" name="圆角矩形 94"/>
          <p:cNvSpPr/>
          <p:nvPr>
            <p:custDataLst>
              <p:tags r:id="rId138"/>
            </p:custDataLst>
          </p:nvPr>
        </p:nvSpPr>
        <p:spPr>
          <a:xfrm>
            <a:off x="2305050" y="5299075"/>
            <a:ext cx="499745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ln w="25400">
            <a:solidFill>
              <a:srgbClr val="92D050"/>
            </a:solidFill>
          </a:ln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流量路由管理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6" name="圆角矩形 95"/>
          <p:cNvSpPr/>
          <p:nvPr>
            <p:custDataLst>
              <p:tags r:id="rId139"/>
            </p:custDataLst>
          </p:nvPr>
        </p:nvSpPr>
        <p:spPr>
          <a:xfrm>
            <a:off x="2879090" y="5299075"/>
            <a:ext cx="499745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ln w="25400">
            <a:solidFill>
              <a:srgbClr val="92D050"/>
            </a:solidFill>
          </a:ln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流量导出管理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8" name="圆角矩形 97"/>
          <p:cNvSpPr/>
          <p:nvPr>
            <p:custDataLst>
              <p:tags r:id="rId140"/>
            </p:custDataLst>
          </p:nvPr>
        </p:nvSpPr>
        <p:spPr>
          <a:xfrm>
            <a:off x="3454400" y="5299075"/>
            <a:ext cx="499745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ln w="25400">
            <a:solidFill>
              <a:srgbClr val="FFC000"/>
            </a:solidFill>
          </a:ln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资金链接管理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9" name="圆角矩形 98"/>
          <p:cNvSpPr/>
          <p:nvPr>
            <p:custDataLst>
              <p:tags r:id="rId141"/>
            </p:custDataLst>
          </p:nvPr>
        </p:nvSpPr>
        <p:spPr>
          <a:xfrm>
            <a:off x="4029075" y="5299075"/>
            <a:ext cx="499745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ln w="25400">
            <a:solidFill>
              <a:srgbClr val="92D050"/>
            </a:solidFill>
          </a:ln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担保撮合管理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646295" y="5052060"/>
            <a:ext cx="2339975" cy="546100"/>
            <a:chOff x="5593" y="7961"/>
            <a:chExt cx="3912" cy="860"/>
          </a:xfrm>
        </p:grpSpPr>
        <p:grpSp>
          <p:nvGrpSpPr>
            <p:cNvPr id="105" name="组合 104"/>
            <p:cNvGrpSpPr/>
            <p:nvPr/>
          </p:nvGrpSpPr>
          <p:grpSpPr>
            <a:xfrm rot="0">
              <a:off x="5593" y="7961"/>
              <a:ext cx="3913" cy="860"/>
              <a:chOff x="1558" y="7951"/>
              <a:chExt cx="2447" cy="860"/>
            </a:xfrm>
          </p:grpSpPr>
          <p:sp>
            <p:nvSpPr>
              <p:cNvPr id="106" name="圆角矩形 105"/>
              <p:cNvSpPr/>
              <p:nvPr>
                <p:custDataLst>
                  <p:tags r:id="rId142"/>
                </p:custDataLst>
              </p:nvPr>
            </p:nvSpPr>
            <p:spPr>
              <a:xfrm>
                <a:off x="1562" y="7961"/>
                <a:ext cx="2443" cy="850"/>
              </a:xfrm>
              <a:prstGeom prst="roundRect">
                <a:avLst>
                  <a:gd name="adj" fmla="val 5430"/>
                </a:avLst>
              </a:prstGeom>
              <a:solidFill>
                <a:schemeClr val="accent1">
                  <a:alpha val="10000"/>
                </a:schemeClr>
              </a:solidFill>
              <a:ln w="12700">
                <a:solidFill>
                  <a:schemeClr val="accent1">
                    <a:alpha val="61000"/>
                  </a:schemeClr>
                </a:solidFill>
                <a:prstDash val="sysDash"/>
              </a:ln>
            </p:spPr>
            <p:style>
              <a:lnRef idx="0">
                <a:srgbClr val="FFFFFF"/>
              </a:lnRef>
              <a:fillRef idx="3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lIns="91440" tIns="45720" rIns="91440" bIns="45720" numCol="1" spcCol="0" rtlCol="0" fromWordArt="0" anchor="t" anchorCtr="0" forceAA="0" compatLnSpc="1">
                <a:noAutofit/>
              </a:bodyPr>
              <a:p>
                <a:pPr lvl="0" algn="ctr">
                  <a:lnSpc>
                    <a:spcPct val="80000"/>
                  </a:lnSpc>
                  <a:buClrTx/>
                  <a:buSzTx/>
                  <a:buFontTx/>
                </a:pPr>
                <a:endParaRPr lang="zh-CN" altLang="en-US" sz="800" b="1"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sp>
            <p:nvSpPr>
              <p:cNvPr id="107" name="同侧圆角矩形 106"/>
              <p:cNvSpPr/>
              <p:nvPr/>
            </p:nvSpPr>
            <p:spPr>
              <a:xfrm>
                <a:off x="1558" y="7951"/>
                <a:ext cx="2445" cy="312"/>
              </a:xfrm>
              <a:prstGeom prst="round2SameRect">
                <a:avLst>
                  <a:gd name="adj1" fmla="val 28823"/>
                  <a:gd name="adj2" fmla="val 0"/>
                </a:avLst>
              </a:prstGeom>
              <a:gradFill>
                <a:gsLst>
                  <a:gs pos="0">
                    <a:srgbClr val="2957DE"/>
                  </a:gs>
                  <a:gs pos="100000">
                    <a:srgbClr val="598BF6"/>
                  </a:gs>
                </a:gsLst>
                <a:lin ang="4500000" scaled="0"/>
              </a:gradFill>
              <a:ln w="60325"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zh-CN" altLang="en-US" sz="8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机构自助联调平台</a:t>
                </a:r>
                <a:endParaRPr lang="zh-CN" altLang="en-US" sz="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</p:grpSp>
        <p:sp>
          <p:nvSpPr>
            <p:cNvPr id="108" name="圆角矩形 107"/>
            <p:cNvSpPr/>
            <p:nvPr>
              <p:custDataLst>
                <p:tags r:id="rId143"/>
              </p:custDataLst>
            </p:nvPr>
          </p:nvSpPr>
          <p:spPr>
            <a:xfrm>
              <a:off x="5693" y="8350"/>
              <a:ext cx="836" cy="405"/>
            </a:xfrm>
            <a:prstGeom prst="roundRect">
              <a:avLst>
                <a:gd name="adj" fmla="val 9803"/>
              </a:avLst>
            </a:prstGeom>
            <a:solidFill>
              <a:schemeClr val="bg1"/>
            </a:solidFill>
            <a:ln w="25400">
              <a:solidFill>
                <a:srgbClr val="92D050"/>
              </a:solidFill>
            </a:ln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none" tIns="0" bIns="0" numCol="1" spcCol="0" rtlCol="0" fromWordArt="0" anchor="ctr" anchorCtr="0" forceAA="0" compatLnSpc="1">
              <a:noAutofit/>
            </a:bodyPr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600" b="1">
                  <a:solidFill>
                    <a:srgbClr val="1E54E3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流量机构联调</a:t>
              </a:r>
              <a:endPara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23" name="圆角矩形 122"/>
            <p:cNvSpPr/>
            <p:nvPr>
              <p:custDataLst>
                <p:tags r:id="rId144"/>
              </p:custDataLst>
            </p:nvPr>
          </p:nvSpPr>
          <p:spPr>
            <a:xfrm>
              <a:off x="6653" y="8350"/>
              <a:ext cx="836" cy="405"/>
            </a:xfrm>
            <a:prstGeom prst="roundRect">
              <a:avLst>
                <a:gd name="adj" fmla="val 9803"/>
              </a:avLst>
            </a:prstGeom>
            <a:solidFill>
              <a:schemeClr val="bg1"/>
            </a:solidFill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none" tIns="0" bIns="0" numCol="1" spcCol="0" rtlCol="0" fromWordArt="0" anchor="ctr" anchorCtr="0" forceAA="0" compatLnSpc="1">
              <a:noAutofit/>
            </a:bodyPr>
            <a:p>
              <a:pPr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600" b="1">
                  <a:solidFill>
                    <a:srgbClr val="1E54E3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资金机构联调</a:t>
              </a:r>
              <a:endPara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24" name="圆角矩形 123"/>
            <p:cNvSpPr/>
            <p:nvPr>
              <p:custDataLst>
                <p:tags r:id="rId145"/>
              </p:custDataLst>
            </p:nvPr>
          </p:nvSpPr>
          <p:spPr>
            <a:xfrm>
              <a:off x="7613" y="8350"/>
              <a:ext cx="836" cy="405"/>
            </a:xfrm>
            <a:prstGeom prst="roundRect">
              <a:avLst>
                <a:gd name="adj" fmla="val 9803"/>
              </a:avLst>
            </a:prstGeom>
            <a:solidFill>
              <a:schemeClr val="bg1"/>
            </a:solidFill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none" tIns="0" bIns="0" numCol="1" spcCol="0" rtlCol="0" fromWordArt="0" anchor="ctr" anchorCtr="0" forceAA="0" compatLnSpc="1">
              <a:noAutofit/>
            </a:bodyPr>
            <a:p>
              <a:pPr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600" b="1">
                  <a:solidFill>
                    <a:srgbClr val="1E54E3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融担机构联调</a:t>
              </a:r>
              <a:endPara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27" name="圆角矩形 126"/>
            <p:cNvSpPr/>
            <p:nvPr>
              <p:custDataLst>
                <p:tags r:id="rId146"/>
              </p:custDataLst>
            </p:nvPr>
          </p:nvSpPr>
          <p:spPr>
            <a:xfrm>
              <a:off x="8575" y="8350"/>
              <a:ext cx="836" cy="405"/>
            </a:xfrm>
            <a:prstGeom prst="roundRect">
              <a:avLst>
                <a:gd name="adj" fmla="val 9803"/>
              </a:avLst>
            </a:prstGeom>
            <a:solidFill>
              <a:schemeClr val="bg1"/>
            </a:solidFill>
            <a:ln w="25400">
              <a:solidFill>
                <a:srgbClr val="92D050"/>
              </a:solidFill>
            </a:ln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none" tIns="0" bIns="0" numCol="1" spcCol="0" rtlCol="0" fromWordArt="0" anchor="ctr" anchorCtr="0" forceAA="0" compatLnSpc="1">
              <a:noAutofit/>
            </a:bodyPr>
            <a:p>
              <a:pPr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600" b="1">
                  <a:solidFill>
                    <a:srgbClr val="1E54E3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平台文档管理</a:t>
              </a:r>
              <a:endPara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7047230" y="5052060"/>
            <a:ext cx="1830070" cy="546100"/>
            <a:chOff x="9705" y="7951"/>
            <a:chExt cx="3912" cy="860"/>
          </a:xfrm>
        </p:grpSpPr>
        <p:grpSp>
          <p:nvGrpSpPr>
            <p:cNvPr id="143" name="组合 142"/>
            <p:cNvGrpSpPr/>
            <p:nvPr/>
          </p:nvGrpSpPr>
          <p:grpSpPr>
            <a:xfrm rot="0">
              <a:off x="9705" y="7951"/>
              <a:ext cx="3913" cy="860"/>
              <a:chOff x="1558" y="7951"/>
              <a:chExt cx="2447" cy="860"/>
            </a:xfrm>
          </p:grpSpPr>
          <p:sp>
            <p:nvSpPr>
              <p:cNvPr id="144" name="圆角矩形 143"/>
              <p:cNvSpPr/>
              <p:nvPr>
                <p:custDataLst>
                  <p:tags r:id="rId147"/>
                </p:custDataLst>
              </p:nvPr>
            </p:nvSpPr>
            <p:spPr>
              <a:xfrm>
                <a:off x="1562" y="7961"/>
                <a:ext cx="2443" cy="850"/>
              </a:xfrm>
              <a:prstGeom prst="roundRect">
                <a:avLst>
                  <a:gd name="adj" fmla="val 5430"/>
                </a:avLst>
              </a:prstGeom>
              <a:solidFill>
                <a:schemeClr val="accent1">
                  <a:alpha val="10000"/>
                </a:schemeClr>
              </a:solidFill>
              <a:ln w="12700">
                <a:solidFill>
                  <a:schemeClr val="accent1">
                    <a:alpha val="61000"/>
                  </a:schemeClr>
                </a:solidFill>
                <a:prstDash val="sysDash"/>
              </a:ln>
            </p:spPr>
            <p:style>
              <a:lnRef idx="0">
                <a:srgbClr val="FFFFFF"/>
              </a:lnRef>
              <a:fillRef idx="3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lIns="91440" tIns="45720" rIns="91440" bIns="45720" numCol="1" spcCol="0" rtlCol="0" fromWordArt="0" anchor="t" anchorCtr="0" forceAA="0" compatLnSpc="1">
                <a:noAutofit/>
              </a:bodyPr>
              <a:p>
                <a:pPr lvl="0" algn="ctr">
                  <a:lnSpc>
                    <a:spcPct val="80000"/>
                  </a:lnSpc>
                  <a:buClrTx/>
                  <a:buSzTx/>
                  <a:buFontTx/>
                </a:pPr>
                <a:endParaRPr lang="zh-CN" altLang="en-US" sz="800" b="1"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sp>
            <p:nvSpPr>
              <p:cNvPr id="145" name="同侧圆角矩形 144"/>
              <p:cNvSpPr/>
              <p:nvPr/>
            </p:nvSpPr>
            <p:spPr>
              <a:xfrm>
                <a:off x="1558" y="7951"/>
                <a:ext cx="2445" cy="312"/>
              </a:xfrm>
              <a:prstGeom prst="round2SameRect">
                <a:avLst>
                  <a:gd name="adj1" fmla="val 28823"/>
                  <a:gd name="adj2" fmla="val 0"/>
                </a:avLst>
              </a:prstGeom>
              <a:solidFill>
                <a:srgbClr val="92D050"/>
              </a:solidFill>
              <a:ln w="60325"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zh-CN" altLang="en-US" sz="8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机构自助运营平台</a:t>
                </a:r>
                <a:endParaRPr lang="zh-CN" altLang="en-US" sz="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</p:grpSp>
        <p:sp>
          <p:nvSpPr>
            <p:cNvPr id="146" name="圆角矩形 145"/>
            <p:cNvSpPr/>
            <p:nvPr>
              <p:custDataLst>
                <p:tags r:id="rId148"/>
              </p:custDataLst>
            </p:nvPr>
          </p:nvSpPr>
          <p:spPr>
            <a:xfrm>
              <a:off x="9810" y="8340"/>
              <a:ext cx="836" cy="405"/>
            </a:xfrm>
            <a:prstGeom prst="roundRect">
              <a:avLst>
                <a:gd name="adj" fmla="val 9803"/>
              </a:avLst>
            </a:prstGeom>
            <a:solidFill>
              <a:schemeClr val="bg1"/>
            </a:solidFill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none" tIns="0" bIns="0" numCol="1" spcCol="0" rtlCol="0" fromWordArt="0" anchor="ctr" anchorCtr="0" forceAA="0" compatLnSpc="1">
              <a:noAutofit/>
            </a:bodyPr>
            <a:p>
              <a:pPr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600" b="1">
                  <a:solidFill>
                    <a:srgbClr val="1E54E3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头寸查询</a:t>
              </a:r>
              <a:endPara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48" name="圆角矩形 147"/>
            <p:cNvSpPr/>
            <p:nvPr>
              <p:custDataLst>
                <p:tags r:id="rId149"/>
              </p:custDataLst>
            </p:nvPr>
          </p:nvSpPr>
          <p:spPr>
            <a:xfrm>
              <a:off x="10770" y="8340"/>
              <a:ext cx="836" cy="405"/>
            </a:xfrm>
            <a:prstGeom prst="roundRect">
              <a:avLst>
                <a:gd name="adj" fmla="val 9803"/>
              </a:avLst>
            </a:prstGeom>
            <a:solidFill>
              <a:schemeClr val="bg1"/>
            </a:solidFill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none" tIns="0" bIns="0" numCol="1" spcCol="0" rtlCol="0" fromWordArt="0" anchor="ctr" anchorCtr="0" forceAA="0" compatLnSpc="1">
              <a:noAutofit/>
            </a:bodyPr>
            <a:p>
              <a:pPr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600" b="1">
                  <a:solidFill>
                    <a:srgbClr val="1E54E3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资产大屏</a:t>
              </a:r>
              <a:endPara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50" name="圆角矩形 149"/>
            <p:cNvSpPr/>
            <p:nvPr>
              <p:custDataLst>
                <p:tags r:id="rId150"/>
              </p:custDataLst>
            </p:nvPr>
          </p:nvSpPr>
          <p:spPr>
            <a:xfrm>
              <a:off x="11731" y="8340"/>
              <a:ext cx="836" cy="405"/>
            </a:xfrm>
            <a:prstGeom prst="roundRect">
              <a:avLst>
                <a:gd name="adj" fmla="val 9803"/>
              </a:avLst>
            </a:prstGeom>
            <a:solidFill>
              <a:schemeClr val="bg1"/>
            </a:solidFill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none" tIns="0" bIns="0" numCol="1" spcCol="0" rtlCol="0" fromWordArt="0" anchor="ctr" anchorCtr="0" forceAA="0" compatLnSpc="1">
              <a:noAutofit/>
            </a:bodyPr>
            <a:p>
              <a:pPr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600" b="1">
                  <a:solidFill>
                    <a:srgbClr val="1E54E3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运营工具</a:t>
              </a:r>
              <a:endPara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56" name="圆角矩形 155"/>
            <p:cNvSpPr/>
            <p:nvPr>
              <p:custDataLst>
                <p:tags r:id="rId151"/>
              </p:custDataLst>
            </p:nvPr>
          </p:nvSpPr>
          <p:spPr>
            <a:xfrm>
              <a:off x="12692" y="8340"/>
              <a:ext cx="836" cy="405"/>
            </a:xfrm>
            <a:prstGeom prst="roundRect">
              <a:avLst>
                <a:gd name="adj" fmla="val 9803"/>
              </a:avLst>
            </a:prstGeom>
            <a:solidFill>
              <a:schemeClr val="bg1"/>
            </a:solidFill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none" tIns="0" bIns="0" numCol="1" spcCol="0" rtlCol="0" fromWordArt="0" anchor="ctr" anchorCtr="0" forceAA="0" compatLnSpc="1">
              <a:noAutofit/>
            </a:bodyPr>
            <a:p>
              <a:pPr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600" b="1">
                  <a:solidFill>
                    <a:srgbClr val="1E54E3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工单申请</a:t>
              </a:r>
              <a:endPara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8938260" y="5052060"/>
            <a:ext cx="2339975" cy="546100"/>
            <a:chOff x="13819" y="7956"/>
            <a:chExt cx="3912" cy="860"/>
          </a:xfrm>
        </p:grpSpPr>
        <p:grpSp>
          <p:nvGrpSpPr>
            <p:cNvPr id="165" name="组合 164"/>
            <p:cNvGrpSpPr/>
            <p:nvPr/>
          </p:nvGrpSpPr>
          <p:grpSpPr>
            <a:xfrm rot="0">
              <a:off x="13819" y="7956"/>
              <a:ext cx="3913" cy="860"/>
              <a:chOff x="1558" y="7951"/>
              <a:chExt cx="2447" cy="860"/>
            </a:xfrm>
          </p:grpSpPr>
          <p:sp>
            <p:nvSpPr>
              <p:cNvPr id="166" name="圆角矩形 165"/>
              <p:cNvSpPr/>
              <p:nvPr>
                <p:custDataLst>
                  <p:tags r:id="rId152"/>
                </p:custDataLst>
              </p:nvPr>
            </p:nvSpPr>
            <p:spPr>
              <a:xfrm>
                <a:off x="1562" y="7961"/>
                <a:ext cx="2443" cy="850"/>
              </a:xfrm>
              <a:prstGeom prst="roundRect">
                <a:avLst>
                  <a:gd name="adj" fmla="val 5430"/>
                </a:avLst>
              </a:prstGeom>
              <a:solidFill>
                <a:schemeClr val="accent1">
                  <a:alpha val="10000"/>
                </a:schemeClr>
              </a:solidFill>
              <a:ln w="12700">
                <a:solidFill>
                  <a:schemeClr val="accent1">
                    <a:alpha val="61000"/>
                  </a:schemeClr>
                </a:solidFill>
                <a:prstDash val="sysDash"/>
              </a:ln>
            </p:spPr>
            <p:style>
              <a:lnRef idx="0">
                <a:srgbClr val="FFFFFF"/>
              </a:lnRef>
              <a:fillRef idx="3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lIns="91440" tIns="45720" rIns="91440" bIns="45720" numCol="1" spcCol="0" rtlCol="0" fromWordArt="0" anchor="t" anchorCtr="0" forceAA="0" compatLnSpc="1">
                <a:noAutofit/>
              </a:bodyPr>
              <a:p>
                <a:pPr lvl="0" algn="ctr">
                  <a:lnSpc>
                    <a:spcPct val="80000"/>
                  </a:lnSpc>
                  <a:buClrTx/>
                  <a:buSzTx/>
                  <a:buFontTx/>
                </a:pPr>
                <a:endParaRPr lang="zh-CN" altLang="en-US" sz="800" b="1"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sp>
            <p:nvSpPr>
              <p:cNvPr id="167" name="同侧圆角矩形 166"/>
              <p:cNvSpPr/>
              <p:nvPr/>
            </p:nvSpPr>
            <p:spPr>
              <a:xfrm>
                <a:off x="1558" y="7951"/>
                <a:ext cx="2445" cy="312"/>
              </a:xfrm>
              <a:prstGeom prst="round2SameRect">
                <a:avLst>
                  <a:gd name="adj1" fmla="val 28823"/>
                  <a:gd name="adj2" fmla="val 0"/>
                </a:avLst>
              </a:prstGeom>
              <a:solidFill>
                <a:srgbClr val="92D050"/>
              </a:solidFill>
              <a:ln w="60325"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zh-CN" altLang="en-US" sz="8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资产运营管理平台</a:t>
                </a:r>
                <a:endParaRPr lang="zh-CN" altLang="en-US" sz="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</p:grpSp>
        <p:sp>
          <p:nvSpPr>
            <p:cNvPr id="168" name="圆角矩形 167"/>
            <p:cNvSpPr/>
            <p:nvPr>
              <p:custDataLst>
                <p:tags r:id="rId153"/>
              </p:custDataLst>
            </p:nvPr>
          </p:nvSpPr>
          <p:spPr>
            <a:xfrm>
              <a:off x="13924" y="8345"/>
              <a:ext cx="836" cy="405"/>
            </a:xfrm>
            <a:prstGeom prst="roundRect">
              <a:avLst>
                <a:gd name="adj" fmla="val 9803"/>
              </a:avLst>
            </a:prstGeom>
            <a:solidFill>
              <a:schemeClr val="bg1"/>
            </a:solidFill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none" tIns="0" bIns="0" numCol="1" spcCol="0" rtlCol="0" fromWordArt="0" anchor="ctr" anchorCtr="0" forceAA="0" compatLnSpc="1">
              <a:noAutofit/>
            </a:bodyPr>
            <a:p>
              <a:pPr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600" b="1">
                  <a:solidFill>
                    <a:srgbClr val="1E54E3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资产圈选管理</a:t>
              </a:r>
              <a:endPara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69" name="圆角矩形 168"/>
            <p:cNvSpPr/>
            <p:nvPr>
              <p:custDataLst>
                <p:tags r:id="rId154"/>
              </p:custDataLst>
            </p:nvPr>
          </p:nvSpPr>
          <p:spPr>
            <a:xfrm>
              <a:off x="14884" y="8345"/>
              <a:ext cx="836" cy="405"/>
            </a:xfrm>
            <a:prstGeom prst="roundRect">
              <a:avLst>
                <a:gd name="adj" fmla="val 9803"/>
              </a:avLst>
            </a:prstGeom>
            <a:solidFill>
              <a:schemeClr val="bg1"/>
            </a:solidFill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none" tIns="0" bIns="0" numCol="1" spcCol="0" rtlCol="0" fromWordArt="0" anchor="ctr" anchorCtr="0" forceAA="0" compatLnSpc="1">
              <a:noAutofit/>
            </a:bodyPr>
            <a:p>
              <a:pPr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600" b="1">
                  <a:solidFill>
                    <a:srgbClr val="1E54E3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资产转让管理</a:t>
              </a:r>
              <a:endPara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70" name="圆角矩形 169"/>
            <p:cNvSpPr/>
            <p:nvPr>
              <p:custDataLst>
                <p:tags r:id="rId155"/>
              </p:custDataLst>
            </p:nvPr>
          </p:nvSpPr>
          <p:spPr>
            <a:xfrm>
              <a:off x="15844" y="8345"/>
              <a:ext cx="836" cy="405"/>
            </a:xfrm>
            <a:prstGeom prst="roundRect">
              <a:avLst>
                <a:gd name="adj" fmla="val 9803"/>
              </a:avLst>
            </a:prstGeom>
            <a:solidFill>
              <a:schemeClr val="bg1"/>
            </a:solidFill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none" tIns="0" bIns="0" numCol="1" spcCol="0" rtlCol="0" fromWordArt="0" anchor="ctr" anchorCtr="0" forceAA="0" compatLnSpc="1">
              <a:noAutofit/>
            </a:bodyPr>
            <a:p>
              <a:pPr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600" b="1">
                  <a:solidFill>
                    <a:srgbClr val="1E54E3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资产证券化管理</a:t>
              </a:r>
              <a:endPara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71" name="圆角矩形 170"/>
            <p:cNvSpPr/>
            <p:nvPr>
              <p:custDataLst>
                <p:tags r:id="rId156"/>
              </p:custDataLst>
            </p:nvPr>
          </p:nvSpPr>
          <p:spPr>
            <a:xfrm>
              <a:off x="16806" y="8345"/>
              <a:ext cx="836" cy="405"/>
            </a:xfrm>
            <a:prstGeom prst="roundRect">
              <a:avLst>
                <a:gd name="adj" fmla="val 9803"/>
              </a:avLst>
            </a:prstGeom>
            <a:solidFill>
              <a:schemeClr val="bg1"/>
            </a:solidFill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none" tIns="0" bIns="0" numCol="1" spcCol="0" rtlCol="0" fromWordArt="0" anchor="ctr" anchorCtr="0" forceAA="0" compatLnSpc="1">
              <a:noAutofit/>
            </a:bodyPr>
            <a:p>
              <a:pPr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600" b="1">
                  <a:solidFill>
                    <a:srgbClr val="1E54E3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数字资产管理</a:t>
              </a:r>
              <a:endPara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10" name="圆角矩形 9"/>
          <p:cNvSpPr/>
          <p:nvPr>
            <p:custDataLst>
              <p:tags r:id="rId157"/>
            </p:custDataLst>
          </p:nvPr>
        </p:nvSpPr>
        <p:spPr>
          <a:xfrm>
            <a:off x="2600325" y="4512310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结果通知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" name="圆角矩形 10"/>
          <p:cNvSpPr/>
          <p:nvPr>
            <p:custDataLst>
              <p:tags r:id="rId158"/>
            </p:custDataLst>
          </p:nvPr>
        </p:nvSpPr>
        <p:spPr>
          <a:xfrm>
            <a:off x="3326765" y="4512310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协议下载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4" name="圆角矩形 13"/>
          <p:cNvSpPr/>
          <p:nvPr>
            <p:custDataLst>
              <p:tags r:id="rId159"/>
            </p:custDataLst>
          </p:nvPr>
        </p:nvSpPr>
        <p:spPr>
          <a:xfrm>
            <a:off x="1645285" y="451167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协议同步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5" name="圆角矩形 14"/>
          <p:cNvSpPr/>
          <p:nvPr>
            <p:custDataLst>
              <p:tags r:id="rId160"/>
            </p:custDataLst>
          </p:nvPr>
        </p:nvSpPr>
        <p:spPr>
          <a:xfrm>
            <a:off x="908050" y="4511040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报文转换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988060" y="5052060"/>
            <a:ext cx="1196340" cy="546100"/>
            <a:chOff x="1558" y="7951"/>
            <a:chExt cx="3913" cy="860"/>
          </a:xfrm>
        </p:grpSpPr>
        <p:grpSp>
          <p:nvGrpSpPr>
            <p:cNvPr id="19" name="组合 18"/>
            <p:cNvGrpSpPr/>
            <p:nvPr/>
          </p:nvGrpSpPr>
          <p:grpSpPr>
            <a:xfrm rot="0">
              <a:off x="1558" y="7951"/>
              <a:ext cx="3913" cy="860"/>
              <a:chOff x="1558" y="7951"/>
              <a:chExt cx="2447" cy="860"/>
            </a:xfrm>
          </p:grpSpPr>
          <p:sp>
            <p:nvSpPr>
              <p:cNvPr id="20" name="圆角矩形 19"/>
              <p:cNvSpPr/>
              <p:nvPr>
                <p:custDataLst>
                  <p:tags r:id="rId161"/>
                </p:custDataLst>
              </p:nvPr>
            </p:nvSpPr>
            <p:spPr>
              <a:xfrm>
                <a:off x="1562" y="7961"/>
                <a:ext cx="2443" cy="850"/>
              </a:xfrm>
              <a:prstGeom prst="roundRect">
                <a:avLst>
                  <a:gd name="adj" fmla="val 5430"/>
                </a:avLst>
              </a:prstGeom>
              <a:solidFill>
                <a:schemeClr val="accent1">
                  <a:alpha val="10000"/>
                </a:schemeClr>
              </a:solidFill>
              <a:ln w="12700">
                <a:solidFill>
                  <a:schemeClr val="accent1">
                    <a:alpha val="61000"/>
                  </a:schemeClr>
                </a:solidFill>
                <a:prstDash val="sysDash"/>
              </a:ln>
            </p:spPr>
            <p:style>
              <a:lnRef idx="0">
                <a:srgbClr val="FFFFFF"/>
              </a:lnRef>
              <a:fillRef idx="3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lIns="91440" tIns="45720" rIns="91440" bIns="45720" numCol="1" spcCol="0" rtlCol="0" fromWordArt="0" anchor="t" anchorCtr="0" forceAA="0" compatLnSpc="1">
                <a:noAutofit/>
              </a:bodyPr>
              <a:p>
                <a:pPr lvl="0" algn="ctr">
                  <a:lnSpc>
                    <a:spcPct val="80000"/>
                  </a:lnSpc>
                  <a:buClrTx/>
                  <a:buSzTx/>
                  <a:buFontTx/>
                </a:pPr>
                <a:endParaRPr lang="zh-CN" altLang="en-US" sz="800" b="1"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  <p:sp>
            <p:nvSpPr>
              <p:cNvPr id="21" name="同侧圆角矩形 20"/>
              <p:cNvSpPr/>
              <p:nvPr/>
            </p:nvSpPr>
            <p:spPr>
              <a:xfrm>
                <a:off x="1558" y="7951"/>
                <a:ext cx="2445" cy="312"/>
              </a:xfrm>
              <a:prstGeom prst="round2SameRect">
                <a:avLst>
                  <a:gd name="adj1" fmla="val 28823"/>
                  <a:gd name="adj2" fmla="val 0"/>
                </a:avLst>
              </a:prstGeom>
              <a:gradFill>
                <a:gsLst>
                  <a:gs pos="0">
                    <a:srgbClr val="2957DE"/>
                  </a:gs>
                  <a:gs pos="100000">
                    <a:srgbClr val="598BF6"/>
                  </a:gs>
                </a:gsLst>
                <a:lin ang="4500000" scaled="0"/>
              </a:gradFill>
              <a:ln w="60325"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zh-CN" altLang="en-US" sz="800" b="1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基础技术服务平台</a:t>
                </a:r>
                <a:endParaRPr lang="zh-CN" altLang="en-US" sz="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</p:grpSp>
        <p:sp>
          <p:nvSpPr>
            <p:cNvPr id="22" name="圆角矩形 21"/>
            <p:cNvSpPr/>
            <p:nvPr>
              <p:custDataLst>
                <p:tags r:id="rId162"/>
              </p:custDataLst>
            </p:nvPr>
          </p:nvSpPr>
          <p:spPr>
            <a:xfrm>
              <a:off x="1720" y="8340"/>
              <a:ext cx="1738" cy="405"/>
            </a:xfrm>
            <a:prstGeom prst="roundRect">
              <a:avLst>
                <a:gd name="adj" fmla="val 9803"/>
              </a:avLst>
            </a:prstGeom>
            <a:solidFill>
              <a:schemeClr val="bg1"/>
            </a:solidFill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none" tIns="0" bIns="0" numCol="1" spcCol="0" rtlCol="0" fromWordArt="0" anchor="ctr" anchorCtr="0" forceAA="0" compatLnSpc="1">
              <a:noAutofit/>
            </a:bodyPr>
            <a:p>
              <a:pPr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600" b="1">
                  <a:solidFill>
                    <a:srgbClr val="1E54E3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网关服务</a:t>
              </a:r>
              <a:endPara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3" name="圆角矩形 22"/>
            <p:cNvSpPr/>
            <p:nvPr>
              <p:custDataLst>
                <p:tags r:id="rId163"/>
              </p:custDataLst>
            </p:nvPr>
          </p:nvSpPr>
          <p:spPr>
            <a:xfrm>
              <a:off x="3603" y="8340"/>
              <a:ext cx="1738" cy="405"/>
            </a:xfrm>
            <a:prstGeom prst="roundRect">
              <a:avLst>
                <a:gd name="adj" fmla="val 9803"/>
              </a:avLst>
            </a:prstGeom>
            <a:solidFill>
              <a:schemeClr val="bg1"/>
            </a:solidFill>
            <a:ln w="25400">
              <a:solidFill>
                <a:srgbClr val="FFC000"/>
              </a:solidFill>
            </a:ln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none" tIns="0" bIns="0" numCol="1" spcCol="0" rtlCol="0" fromWordArt="0" anchor="ctr" anchorCtr="0" forceAA="0" compatLnSpc="1">
              <a:noAutofit/>
            </a:bodyPr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600" b="1">
                  <a:solidFill>
                    <a:srgbClr val="1E54E3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监控服务</a:t>
              </a:r>
              <a:endPara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24" name="圆角矩形 23"/>
          <p:cNvSpPr/>
          <p:nvPr>
            <p:custDataLst>
              <p:tags r:id="rId164"/>
            </p:custDataLst>
          </p:nvPr>
        </p:nvSpPr>
        <p:spPr>
          <a:xfrm>
            <a:off x="10079990" y="5968365"/>
            <a:ext cx="1566545" cy="687070"/>
          </a:xfrm>
          <a:prstGeom prst="roundRect">
            <a:avLst>
              <a:gd name="adj" fmla="val 2948"/>
            </a:avLst>
          </a:prstGeom>
          <a:solidFill>
            <a:schemeClr val="bg1"/>
          </a:solidFill>
          <a:ln w="12700">
            <a:solidFill>
              <a:schemeClr val="accent1">
                <a:alpha val="61000"/>
              </a:schemeClr>
            </a:solidFill>
            <a:prstDash val="sysDash"/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p>
            <a:pPr lvl="0" algn="ctr">
              <a:lnSpc>
                <a:spcPct val="80000"/>
              </a:lnSpc>
              <a:buClrTx/>
              <a:buSzTx/>
              <a:buFontTx/>
            </a:pPr>
            <a:endParaRPr lang="zh-CN" altLang="en-US" sz="800" b="1">
              <a:solidFill>
                <a:schemeClr val="tx1">
                  <a:lumMod val="95000"/>
                  <a:lumOff val="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10187940" y="6089015"/>
            <a:ext cx="1352550" cy="198120"/>
            <a:chOff x="15600" y="9577"/>
            <a:chExt cx="2130" cy="312"/>
          </a:xfrm>
        </p:grpSpPr>
        <p:sp>
          <p:nvSpPr>
            <p:cNvPr id="25" name="文本框 24"/>
            <p:cNvSpPr txBox="1"/>
            <p:nvPr/>
          </p:nvSpPr>
          <p:spPr>
            <a:xfrm>
              <a:off x="15600" y="9613"/>
              <a:ext cx="844" cy="242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spAutoFit/>
            </a:bodyPr>
            <a:p>
              <a:r>
                <a:rPr lang="zh-CN" altLang="en-US" sz="1000" b="1">
                  <a:solidFill>
                    <a:srgbClr val="0841B2"/>
                  </a:solidFill>
                </a:rPr>
                <a:t>新建系统</a:t>
              </a:r>
              <a:endParaRPr lang="zh-CN" altLang="en-US" sz="1000" b="1">
                <a:solidFill>
                  <a:srgbClr val="0841B2"/>
                </a:solidFill>
              </a:endParaRPr>
            </a:p>
          </p:txBody>
        </p:sp>
        <p:sp>
          <p:nvSpPr>
            <p:cNvPr id="26" name="同侧圆角矩形 25"/>
            <p:cNvSpPr/>
            <p:nvPr/>
          </p:nvSpPr>
          <p:spPr>
            <a:xfrm>
              <a:off x="16562" y="9577"/>
              <a:ext cx="1168" cy="313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92D050"/>
            </a:solidFill>
            <a:ln w="60325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10187940" y="6332220"/>
            <a:ext cx="1352550" cy="198755"/>
            <a:chOff x="15600" y="9577"/>
            <a:chExt cx="2130" cy="313"/>
          </a:xfrm>
        </p:grpSpPr>
        <p:sp>
          <p:nvSpPr>
            <p:cNvPr id="29" name="文本框 28"/>
            <p:cNvSpPr txBox="1"/>
            <p:nvPr/>
          </p:nvSpPr>
          <p:spPr>
            <a:xfrm>
              <a:off x="15600" y="9613"/>
              <a:ext cx="844" cy="242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spAutoFit/>
            </a:bodyPr>
            <a:p>
              <a:r>
                <a:rPr lang="zh-CN" altLang="en-US" sz="1000" b="1">
                  <a:solidFill>
                    <a:srgbClr val="0841B2"/>
                  </a:solidFill>
                </a:rPr>
                <a:t>改造系统</a:t>
              </a:r>
              <a:endParaRPr lang="zh-CN" altLang="en-US" sz="1000" b="1">
                <a:solidFill>
                  <a:srgbClr val="0841B2"/>
                </a:solidFill>
              </a:endParaRPr>
            </a:p>
          </p:txBody>
        </p:sp>
        <p:sp>
          <p:nvSpPr>
            <p:cNvPr id="30" name="同侧圆角矩形 29"/>
            <p:cNvSpPr/>
            <p:nvPr/>
          </p:nvSpPr>
          <p:spPr>
            <a:xfrm>
              <a:off x="16562" y="9577"/>
              <a:ext cx="1168" cy="313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FFC000"/>
            </a:solidFill>
            <a:ln w="60325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33" name="圆角矩形 32"/>
          <p:cNvSpPr/>
          <p:nvPr>
            <p:custDataLst>
              <p:tags r:id="rId165"/>
            </p:custDataLst>
          </p:nvPr>
        </p:nvSpPr>
        <p:spPr>
          <a:xfrm>
            <a:off x="4192905" y="2223135"/>
            <a:ext cx="1536700" cy="629285"/>
          </a:xfrm>
          <a:prstGeom prst="roundRect">
            <a:avLst>
              <a:gd name="adj" fmla="val 5430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61000"/>
              </a:schemeClr>
            </a:solidFill>
            <a:prstDash val="sysDash"/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p>
            <a:pPr lvl="0" algn="ctr">
              <a:lnSpc>
                <a:spcPct val="80000"/>
              </a:lnSpc>
              <a:buClrTx/>
              <a:buSzTx/>
              <a:buFontTx/>
            </a:pPr>
            <a:endParaRPr lang="zh-CN" altLang="en-US" sz="800" b="1">
              <a:solidFill>
                <a:schemeClr val="tx1">
                  <a:lumMod val="95000"/>
                  <a:lumOff val="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5" name="圆角矩形 44"/>
          <p:cNvSpPr/>
          <p:nvPr>
            <p:custDataLst>
              <p:tags r:id="rId166"/>
            </p:custDataLst>
          </p:nvPr>
        </p:nvSpPr>
        <p:spPr>
          <a:xfrm>
            <a:off x="4265930" y="2517140"/>
            <a:ext cx="411480" cy="237490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授信流程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8" name="圆角矩形 47"/>
          <p:cNvSpPr/>
          <p:nvPr>
            <p:custDataLst>
              <p:tags r:id="rId167"/>
            </p:custDataLst>
          </p:nvPr>
        </p:nvSpPr>
        <p:spPr>
          <a:xfrm>
            <a:off x="5253990" y="2517140"/>
            <a:ext cx="411480" cy="237490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放款流程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1" name="圆角矩形 60"/>
          <p:cNvSpPr/>
          <p:nvPr>
            <p:custDataLst>
              <p:tags r:id="rId168"/>
            </p:custDataLst>
          </p:nvPr>
        </p:nvSpPr>
        <p:spPr>
          <a:xfrm>
            <a:off x="4759960" y="2517140"/>
            <a:ext cx="411480" cy="237490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用信流程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2" name="同侧圆角矩形 71"/>
          <p:cNvSpPr/>
          <p:nvPr/>
        </p:nvSpPr>
        <p:spPr>
          <a:xfrm>
            <a:off x="4194175" y="2223135"/>
            <a:ext cx="1536700" cy="198120"/>
          </a:xfrm>
          <a:prstGeom prst="round2SameRect">
            <a:avLst>
              <a:gd name="adj1" fmla="val 28823"/>
              <a:gd name="adj2" fmla="val 0"/>
            </a:avLst>
          </a:prstGeom>
          <a:solidFill>
            <a:srgbClr val="FFC000"/>
          </a:solidFill>
          <a:ln w="6032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信贷订单交易系统</a:t>
            </a:r>
            <a:endParaRPr lang="zh-CN" altLang="en-US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2" name="同侧圆角矩形 91"/>
          <p:cNvSpPr/>
          <p:nvPr/>
        </p:nvSpPr>
        <p:spPr>
          <a:xfrm>
            <a:off x="2182495" y="1090295"/>
            <a:ext cx="814705" cy="302260"/>
          </a:xfrm>
          <a:prstGeom prst="round2SameRect">
            <a:avLst>
              <a:gd name="adj1" fmla="val 0"/>
              <a:gd name="adj2" fmla="val 0"/>
            </a:avLst>
          </a:prstGeom>
          <a:gradFill>
            <a:gsLst>
              <a:gs pos="0">
                <a:srgbClr val="2957DE"/>
              </a:gs>
              <a:gs pos="100000">
                <a:srgbClr val="598BF6"/>
              </a:gs>
            </a:gsLst>
            <a:lin ang="4500000" scaled="0"/>
          </a:gradFill>
          <a:ln w="6032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富民贷</a:t>
            </a:r>
            <a:r>
              <a:rPr lang="en-US" altLang="zh-CN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助贷</a:t>
            </a:r>
            <a:endParaRPr lang="zh-CN" altLang="en-US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矩形 332"/>
          <p:cNvSpPr/>
          <p:nvPr/>
        </p:nvSpPr>
        <p:spPr>
          <a:xfrm>
            <a:off x="2204720" y="2506980"/>
            <a:ext cx="788035" cy="3020060"/>
          </a:xfrm>
          <a:prstGeom prst="rect">
            <a:avLst/>
          </a:prstGeom>
          <a:solidFill>
            <a:srgbClr val="E5EC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86" name="组合 185"/>
          <p:cNvGrpSpPr/>
          <p:nvPr/>
        </p:nvGrpSpPr>
        <p:grpSpPr>
          <a:xfrm>
            <a:off x="4371340" y="2174875"/>
            <a:ext cx="3578248" cy="4117975"/>
            <a:chOff x="1068" y="3395"/>
            <a:chExt cx="8302" cy="3633"/>
          </a:xfrm>
        </p:grpSpPr>
        <p:sp>
          <p:nvSpPr>
            <p:cNvPr id="147" name="圆角矩形 146"/>
            <p:cNvSpPr/>
            <p:nvPr>
              <p:custDataLst>
                <p:tags r:id="rId1"/>
              </p:custDataLst>
            </p:nvPr>
          </p:nvSpPr>
          <p:spPr>
            <a:xfrm>
              <a:off x="1068" y="3395"/>
              <a:ext cx="8298" cy="3633"/>
            </a:xfrm>
            <a:prstGeom prst="roundRect">
              <a:avLst>
                <a:gd name="adj" fmla="val 2948"/>
              </a:avLst>
            </a:prstGeom>
            <a:solidFill>
              <a:schemeClr val="bg1"/>
            </a:solidFill>
            <a:ln w="12700">
              <a:solidFill>
                <a:schemeClr val="accent1">
                  <a:alpha val="61000"/>
                </a:schemeClr>
              </a:solidFill>
              <a:prstDash val="sysDash"/>
            </a:ln>
          </p:spPr>
          <p:style>
            <a:lnRef idx="0">
              <a:srgbClr val="FFFFFF"/>
            </a:lnRef>
            <a:fillRef idx="3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p>
              <a:pPr lvl="0" algn="ctr">
                <a:lnSpc>
                  <a:spcPct val="80000"/>
                </a:lnSpc>
                <a:buClrTx/>
                <a:buSzTx/>
                <a:buFontTx/>
              </a:pPr>
              <a:endParaRPr lang="zh-CN" altLang="en-US" sz="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83" name="文本框 16"/>
            <p:cNvSpPr txBox="1"/>
            <p:nvPr>
              <p:custDataLst>
                <p:tags r:id="rId2"/>
              </p:custDataLst>
            </p:nvPr>
          </p:nvSpPr>
          <p:spPr>
            <a:xfrm>
              <a:off x="1071" y="3402"/>
              <a:ext cx="8299" cy="238"/>
            </a:xfrm>
            <a:prstGeom prst="rect">
              <a:avLst/>
            </a:prstGeom>
            <a:noFill/>
            <a:effectLst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>
                <a:defRPr sz="2400">
                  <a:latin typeface="汉仪菱心体简" panose="02010400000101010101" charset="-122"/>
                  <a:ea typeface="汉仪菱心体简" panose="02010400000101010101" charset="-122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buClrTx/>
                <a:buSzTx/>
                <a:buFontTx/>
              </a:pPr>
              <a:r>
                <a:rPr lang="zh-CN" altLang="en-US" sz="1000" b="1" dirty="0">
                  <a:solidFill>
                    <a:srgbClr val="2A59DF"/>
                  </a:solidFill>
                  <a:latin typeface="微软雅黑" panose="020B0503020204020204" charset="-122"/>
                  <a:ea typeface="微软雅黑" panose="020B0503020204020204" charset="-122"/>
                  <a:sym typeface="HarmonyOS Sans SC Bold" panose="00000800000000000000" pitchFamily="2" charset="-122"/>
                </a:rPr>
                <a:t>担保增信撮合域</a:t>
              </a:r>
              <a:endParaRPr lang="en-US" altLang="zh-CN" sz="1000" b="1" dirty="0">
                <a:solidFill>
                  <a:srgbClr val="2A59DF"/>
                </a:solidFill>
                <a:latin typeface="微软雅黑" panose="020B0503020204020204" charset="-122"/>
                <a:ea typeface="微软雅黑" panose="020B0503020204020204" charset="-122"/>
                <a:sym typeface="HarmonyOS Sans SC Bold" panose="00000800000000000000" pitchFamily="2" charset="-122"/>
              </a:endParaRPr>
            </a:p>
          </p:txBody>
        </p:sp>
      </p:grpSp>
      <p:sp>
        <p:nvSpPr>
          <p:cNvPr id="184" name="圆角矩形 183"/>
          <p:cNvSpPr/>
          <p:nvPr>
            <p:custDataLst>
              <p:tags r:id="rId3"/>
            </p:custDataLst>
          </p:nvPr>
        </p:nvSpPr>
        <p:spPr>
          <a:xfrm>
            <a:off x="6234430" y="5014595"/>
            <a:ext cx="1551305" cy="1150620"/>
          </a:xfrm>
          <a:prstGeom prst="roundRect">
            <a:avLst>
              <a:gd name="adj" fmla="val 5430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61000"/>
              </a:schemeClr>
            </a:solidFill>
            <a:prstDash val="sysDash"/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p>
            <a:pPr lvl="0" algn="ctr">
              <a:lnSpc>
                <a:spcPct val="80000"/>
              </a:lnSpc>
              <a:buClrTx/>
              <a:buSzTx/>
              <a:buFontTx/>
            </a:pPr>
            <a:endParaRPr lang="zh-CN" altLang="en-US" sz="800" b="1">
              <a:solidFill>
                <a:schemeClr val="tx1">
                  <a:lumMod val="95000"/>
                  <a:lumOff val="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191" name="组合 190"/>
          <p:cNvGrpSpPr/>
          <p:nvPr/>
        </p:nvGrpSpPr>
        <p:grpSpPr>
          <a:xfrm rot="0">
            <a:off x="4543425" y="2472055"/>
            <a:ext cx="1553845" cy="1320165"/>
            <a:chOff x="3462" y="5073"/>
            <a:chExt cx="2307" cy="2964"/>
          </a:xfrm>
        </p:grpSpPr>
        <p:sp>
          <p:nvSpPr>
            <p:cNvPr id="192" name="圆角矩形 191"/>
            <p:cNvSpPr/>
            <p:nvPr>
              <p:custDataLst>
                <p:tags r:id="rId4"/>
              </p:custDataLst>
            </p:nvPr>
          </p:nvSpPr>
          <p:spPr>
            <a:xfrm>
              <a:off x="3466" y="5083"/>
              <a:ext cx="2303" cy="2954"/>
            </a:xfrm>
            <a:prstGeom prst="roundRect">
              <a:avLst>
                <a:gd name="adj" fmla="val 5430"/>
              </a:avLst>
            </a:prstGeom>
            <a:solidFill>
              <a:schemeClr val="accent1">
                <a:alpha val="10000"/>
              </a:schemeClr>
            </a:solidFill>
            <a:ln w="12700">
              <a:solidFill>
                <a:schemeClr val="accent1">
                  <a:alpha val="61000"/>
                </a:schemeClr>
              </a:solidFill>
              <a:prstDash val="sysDash"/>
            </a:ln>
          </p:spPr>
          <p:style>
            <a:lnRef idx="0">
              <a:srgbClr val="FFFFFF"/>
            </a:lnRef>
            <a:fillRef idx="3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p>
              <a:pPr lvl="0" algn="ctr">
                <a:lnSpc>
                  <a:spcPct val="80000"/>
                </a:lnSpc>
                <a:buClrTx/>
                <a:buSzTx/>
                <a:buFontTx/>
              </a:pPr>
              <a:endParaRPr lang="zh-CN" altLang="en-US" sz="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95" name="同侧圆角矩形 194"/>
            <p:cNvSpPr/>
            <p:nvPr/>
          </p:nvSpPr>
          <p:spPr>
            <a:xfrm>
              <a:off x="3462" y="5073"/>
              <a:ext cx="2305" cy="312"/>
            </a:xfrm>
            <a:prstGeom prst="round2SameRect">
              <a:avLst>
                <a:gd name="adj1" fmla="val 28823"/>
                <a:gd name="adj2" fmla="val 0"/>
              </a:avLst>
            </a:prstGeom>
            <a:gradFill>
              <a:gsLst>
                <a:gs pos="0">
                  <a:srgbClr val="2957DE"/>
                </a:gs>
                <a:gs pos="100000">
                  <a:srgbClr val="598BF6"/>
                </a:gs>
              </a:gsLst>
              <a:lin ang="4500000" scaled="0"/>
            </a:gradFill>
            <a:ln w="60325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交易控制</a:t>
              </a:r>
              <a:endPara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197" name="圆角矩形 196"/>
          <p:cNvSpPr/>
          <p:nvPr>
            <p:custDataLst>
              <p:tags r:id="rId5"/>
            </p:custDataLst>
          </p:nvPr>
        </p:nvSpPr>
        <p:spPr>
          <a:xfrm>
            <a:off x="6231890" y="2476500"/>
            <a:ext cx="1551305" cy="1315720"/>
          </a:xfrm>
          <a:prstGeom prst="roundRect">
            <a:avLst>
              <a:gd name="adj" fmla="val 5430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61000"/>
              </a:schemeClr>
            </a:solidFill>
            <a:prstDash val="sysDash"/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p>
            <a:pPr lvl="0" algn="ctr">
              <a:lnSpc>
                <a:spcPct val="80000"/>
              </a:lnSpc>
              <a:buClrTx/>
              <a:buSzTx/>
              <a:buFontTx/>
            </a:pPr>
            <a:endParaRPr lang="zh-CN" altLang="en-US" sz="800" b="1">
              <a:solidFill>
                <a:schemeClr val="tx1">
                  <a:lumMod val="95000"/>
                  <a:lumOff val="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20" name="圆角矩形 219"/>
          <p:cNvSpPr/>
          <p:nvPr>
            <p:custDataLst>
              <p:tags r:id="rId6"/>
            </p:custDataLst>
          </p:nvPr>
        </p:nvSpPr>
        <p:spPr>
          <a:xfrm>
            <a:off x="4636135" y="2763520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流量限制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21" name="圆角矩形 220"/>
          <p:cNvSpPr/>
          <p:nvPr>
            <p:custDataLst>
              <p:tags r:id="rId7"/>
            </p:custDataLst>
          </p:nvPr>
        </p:nvSpPr>
        <p:spPr>
          <a:xfrm>
            <a:off x="5373370" y="276796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收单异步处理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22" name="圆角矩形 221"/>
          <p:cNvSpPr/>
          <p:nvPr>
            <p:custDataLst>
              <p:tags r:id="rId8"/>
            </p:custDataLst>
          </p:nvPr>
        </p:nvSpPr>
        <p:spPr>
          <a:xfrm>
            <a:off x="4636135" y="309054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报文加工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77" name="圆角矩形 276"/>
          <p:cNvSpPr/>
          <p:nvPr>
            <p:custDataLst>
              <p:tags r:id="rId9"/>
            </p:custDataLst>
          </p:nvPr>
        </p:nvSpPr>
        <p:spPr>
          <a:xfrm>
            <a:off x="5373370" y="3093720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机构路由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83" name="圆角矩形 282"/>
          <p:cNvSpPr/>
          <p:nvPr>
            <p:custDataLst>
              <p:tags r:id="rId10"/>
            </p:custDataLst>
          </p:nvPr>
        </p:nvSpPr>
        <p:spPr>
          <a:xfrm>
            <a:off x="5373370" y="341947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时效控制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96" name="圆角矩形 295"/>
          <p:cNvSpPr/>
          <p:nvPr>
            <p:custDataLst>
              <p:tags r:id="rId11"/>
            </p:custDataLst>
          </p:nvPr>
        </p:nvSpPr>
        <p:spPr>
          <a:xfrm>
            <a:off x="4636135" y="3417570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异步回调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97" name="圆角矩形 296"/>
          <p:cNvSpPr/>
          <p:nvPr>
            <p:custDataLst>
              <p:tags r:id="rId12"/>
            </p:custDataLst>
          </p:nvPr>
        </p:nvSpPr>
        <p:spPr>
          <a:xfrm>
            <a:off x="6328410" y="276796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用户画像校验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99" name="圆角矩形 298"/>
          <p:cNvSpPr/>
          <p:nvPr>
            <p:custDataLst>
              <p:tags r:id="rId13"/>
            </p:custDataLst>
          </p:nvPr>
        </p:nvSpPr>
        <p:spPr>
          <a:xfrm>
            <a:off x="7054850" y="276796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放款计划校验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00" name="圆角矩形 299"/>
          <p:cNvSpPr/>
          <p:nvPr>
            <p:custDataLst>
              <p:tags r:id="rId14"/>
            </p:custDataLst>
          </p:nvPr>
        </p:nvSpPr>
        <p:spPr>
          <a:xfrm>
            <a:off x="6328410" y="342074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机构黑名单校验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01" name="圆角矩形 300"/>
          <p:cNvSpPr/>
          <p:nvPr>
            <p:custDataLst>
              <p:tags r:id="rId15"/>
            </p:custDataLst>
          </p:nvPr>
        </p:nvSpPr>
        <p:spPr>
          <a:xfrm>
            <a:off x="7054850" y="342074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权重随机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02" name="圆角矩形 301"/>
          <p:cNvSpPr/>
          <p:nvPr>
            <p:custDataLst>
              <p:tags r:id="rId16"/>
            </p:custDataLst>
          </p:nvPr>
        </p:nvSpPr>
        <p:spPr>
          <a:xfrm>
            <a:off x="7054850" y="309435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机构黑暗期管控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04" name="圆角矩形 303"/>
          <p:cNvSpPr/>
          <p:nvPr>
            <p:custDataLst>
              <p:tags r:id="rId17"/>
            </p:custDataLst>
          </p:nvPr>
        </p:nvSpPr>
        <p:spPr>
          <a:xfrm>
            <a:off x="6328410" y="309435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机构异常熔断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49" name="圆角矩形 148"/>
          <p:cNvSpPr/>
          <p:nvPr>
            <p:custDataLst>
              <p:tags r:id="rId18"/>
            </p:custDataLst>
          </p:nvPr>
        </p:nvSpPr>
        <p:spPr>
          <a:xfrm>
            <a:off x="7990840" y="440055"/>
            <a:ext cx="3240405" cy="629285"/>
          </a:xfrm>
          <a:prstGeom prst="roundRect">
            <a:avLst>
              <a:gd name="adj" fmla="val 5430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61000"/>
              </a:schemeClr>
            </a:solidFill>
            <a:prstDash val="sysDash"/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p>
            <a:pPr lvl="0" algn="ctr">
              <a:lnSpc>
                <a:spcPct val="80000"/>
              </a:lnSpc>
              <a:buClrTx/>
              <a:buSzTx/>
              <a:buFontTx/>
            </a:pPr>
            <a:endParaRPr lang="zh-CN" altLang="en-US" sz="800" b="1">
              <a:solidFill>
                <a:schemeClr val="tx1">
                  <a:lumMod val="95000"/>
                  <a:lumOff val="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348" name="组合 347"/>
          <p:cNvGrpSpPr/>
          <p:nvPr/>
        </p:nvGrpSpPr>
        <p:grpSpPr>
          <a:xfrm rot="0">
            <a:off x="8048625" y="734060"/>
            <a:ext cx="3128645" cy="237490"/>
            <a:chOff x="1683" y="3502"/>
            <a:chExt cx="7213" cy="374"/>
          </a:xfrm>
        </p:grpSpPr>
        <p:sp>
          <p:nvSpPr>
            <p:cNvPr id="151" name="圆角矩形 150"/>
            <p:cNvSpPr/>
            <p:nvPr>
              <p:custDataLst>
                <p:tags r:id="rId19"/>
              </p:custDataLst>
            </p:nvPr>
          </p:nvSpPr>
          <p:spPr>
            <a:xfrm>
              <a:off x="1683" y="3502"/>
              <a:ext cx="998" cy="374"/>
            </a:xfrm>
            <a:prstGeom prst="roundRect">
              <a:avLst>
                <a:gd name="adj" fmla="val 9803"/>
              </a:avLst>
            </a:prstGeom>
            <a:solidFill>
              <a:schemeClr val="bg1"/>
            </a:solidFill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none" tIns="0" bIns="0" numCol="1" spcCol="0" rtlCol="0" fromWordArt="0" anchor="ctr" anchorCtr="0" forceAA="0" compatLnSpc="1">
              <a:noAutofit/>
            </a:bodyPr>
            <a:p>
              <a:pPr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600" b="1">
                  <a:solidFill>
                    <a:srgbClr val="1E54E3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流量路由</a:t>
              </a:r>
              <a:endPara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52" name="圆角矩形 151"/>
            <p:cNvSpPr/>
            <p:nvPr>
              <p:custDataLst>
                <p:tags r:id="rId20"/>
              </p:custDataLst>
            </p:nvPr>
          </p:nvSpPr>
          <p:spPr>
            <a:xfrm>
              <a:off x="4169" y="3502"/>
              <a:ext cx="998" cy="374"/>
            </a:xfrm>
            <a:prstGeom prst="roundRect">
              <a:avLst>
                <a:gd name="adj" fmla="val 9803"/>
              </a:avLst>
            </a:prstGeom>
            <a:solidFill>
              <a:schemeClr val="bg1"/>
            </a:solidFill>
            <a:ln w="25400">
              <a:solidFill>
                <a:srgbClr val="FFC000"/>
              </a:solidFill>
            </a:ln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none" tIns="0" bIns="0" numCol="1" spcCol="0" rtlCol="0" fromWordArt="0" anchor="ctr" anchorCtr="0" forceAA="0" compatLnSpc="1">
              <a:noAutofit/>
            </a:bodyPr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600" b="1">
                  <a:solidFill>
                    <a:srgbClr val="1E54E3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策略管理</a:t>
              </a:r>
              <a:endPara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53" name="圆角矩形 152"/>
            <p:cNvSpPr/>
            <p:nvPr>
              <p:custDataLst>
                <p:tags r:id="rId21"/>
              </p:custDataLst>
            </p:nvPr>
          </p:nvSpPr>
          <p:spPr>
            <a:xfrm>
              <a:off x="6632" y="3502"/>
              <a:ext cx="998" cy="374"/>
            </a:xfrm>
            <a:prstGeom prst="roundRect">
              <a:avLst>
                <a:gd name="adj" fmla="val 9803"/>
              </a:avLst>
            </a:prstGeom>
            <a:solidFill>
              <a:schemeClr val="bg1"/>
            </a:solidFill>
            <a:ln w="25400">
              <a:solidFill>
                <a:srgbClr val="92D050"/>
              </a:solidFill>
            </a:ln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none" tIns="0" bIns="0" numCol="1" spcCol="0" rtlCol="0" fromWordArt="0" anchor="ctr" anchorCtr="0" forceAA="0" compatLnSpc="1">
              <a:noAutofit/>
            </a:bodyPr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600" b="1">
                  <a:solidFill>
                    <a:srgbClr val="1E54E3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资产评估</a:t>
              </a:r>
              <a:endPara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55" name="圆角矩形 154"/>
            <p:cNvSpPr/>
            <p:nvPr>
              <p:custDataLst>
                <p:tags r:id="rId22"/>
              </p:custDataLst>
            </p:nvPr>
          </p:nvSpPr>
          <p:spPr>
            <a:xfrm>
              <a:off x="2926" y="3502"/>
              <a:ext cx="998" cy="374"/>
            </a:xfrm>
            <a:prstGeom prst="roundRect">
              <a:avLst>
                <a:gd name="adj" fmla="val 9803"/>
              </a:avLst>
            </a:prstGeom>
            <a:solidFill>
              <a:schemeClr val="bg1"/>
            </a:solidFill>
            <a:ln w="25400">
              <a:solidFill>
                <a:srgbClr val="92D050"/>
              </a:solidFill>
            </a:ln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none" tIns="0" bIns="0" numCol="1" spcCol="0" rtlCol="0" fromWordArt="0" anchor="ctr" anchorCtr="0" forceAA="0" compatLnSpc="1">
              <a:noAutofit/>
            </a:bodyPr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600" b="1">
                  <a:solidFill>
                    <a:srgbClr val="1E54E3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资产路由</a:t>
              </a:r>
              <a:endPara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62" name="圆角矩形 161"/>
            <p:cNvSpPr/>
            <p:nvPr>
              <p:custDataLst>
                <p:tags r:id="rId23"/>
              </p:custDataLst>
            </p:nvPr>
          </p:nvSpPr>
          <p:spPr>
            <a:xfrm>
              <a:off x="7898" y="3502"/>
              <a:ext cx="998" cy="374"/>
            </a:xfrm>
            <a:prstGeom prst="roundRect">
              <a:avLst>
                <a:gd name="adj" fmla="val 9803"/>
              </a:avLst>
            </a:prstGeom>
            <a:solidFill>
              <a:schemeClr val="bg1"/>
            </a:solidFill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none" tIns="0" bIns="0" numCol="1" spcCol="0" rtlCol="0" fromWordArt="0" anchor="ctr" anchorCtr="0" forceAA="0" compatLnSpc="1">
              <a:noAutofit/>
            </a:bodyPr>
            <a:p>
              <a:pPr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600" b="1">
                  <a:solidFill>
                    <a:srgbClr val="1E54E3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数据获取</a:t>
              </a:r>
              <a:endPara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63" name="圆角矩形 162"/>
            <p:cNvSpPr/>
            <p:nvPr>
              <p:custDataLst>
                <p:tags r:id="rId24"/>
              </p:custDataLst>
            </p:nvPr>
          </p:nvSpPr>
          <p:spPr>
            <a:xfrm>
              <a:off x="5412" y="3502"/>
              <a:ext cx="998" cy="374"/>
            </a:xfrm>
            <a:prstGeom prst="roundRect">
              <a:avLst>
                <a:gd name="adj" fmla="val 9803"/>
              </a:avLst>
            </a:prstGeom>
            <a:solidFill>
              <a:schemeClr val="bg1"/>
            </a:solidFill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none" tIns="0" bIns="0" numCol="1" spcCol="0" rtlCol="0" fromWordArt="0" anchor="ctr" anchorCtr="0" forceAA="0" compatLnSpc="1">
              <a:noAutofit/>
            </a:bodyPr>
            <a:p>
              <a:pPr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600" b="1">
                  <a:solidFill>
                    <a:srgbClr val="1E54E3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指标管理</a:t>
              </a:r>
              <a:endPara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349" name="同侧圆角矩形 348"/>
          <p:cNvSpPr/>
          <p:nvPr/>
        </p:nvSpPr>
        <p:spPr>
          <a:xfrm>
            <a:off x="7992745" y="440055"/>
            <a:ext cx="3238500" cy="198120"/>
          </a:xfrm>
          <a:prstGeom prst="round2SameRect">
            <a:avLst>
              <a:gd name="adj1" fmla="val 28823"/>
              <a:gd name="adj2" fmla="val 0"/>
            </a:avLst>
          </a:prstGeom>
          <a:solidFill>
            <a:srgbClr val="FFC000"/>
          </a:solidFill>
          <a:ln w="6032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资产</a:t>
            </a:r>
            <a:endParaRPr lang="zh-CN" altLang="en-US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14" name="右箭头 413"/>
          <p:cNvSpPr/>
          <p:nvPr>
            <p:custDataLst>
              <p:tags r:id="rId25"/>
            </p:custDataLst>
          </p:nvPr>
        </p:nvSpPr>
        <p:spPr>
          <a:xfrm rot="5400000">
            <a:off x="6803390" y="735330"/>
            <a:ext cx="200660" cy="288290"/>
          </a:xfrm>
          <a:prstGeom prst="rightArrow">
            <a:avLst/>
          </a:prstGeom>
          <a:solidFill>
            <a:srgbClr val="F5B482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t" anchorCtr="0" forceAA="0" compatLnSpc="1">
            <a:noAutofit/>
          </a:bodyPr>
          <a:p>
            <a:pPr lvl="0" algn="ctr">
              <a:lnSpc>
                <a:spcPct val="150000"/>
              </a:lnSpc>
              <a:buClrTx/>
              <a:buSzTx/>
              <a:buFontTx/>
            </a:pPr>
            <a:endParaRPr lang="zh-CN" altLang="en-US" sz="1400" b="1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FAFAFA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4" name="圆角矩形 23"/>
          <p:cNvSpPr/>
          <p:nvPr>
            <p:custDataLst>
              <p:tags r:id="rId26"/>
            </p:custDataLst>
          </p:nvPr>
        </p:nvSpPr>
        <p:spPr>
          <a:xfrm>
            <a:off x="2150745" y="5683250"/>
            <a:ext cx="900430" cy="607060"/>
          </a:xfrm>
          <a:prstGeom prst="roundRect">
            <a:avLst>
              <a:gd name="adj" fmla="val 2948"/>
            </a:avLst>
          </a:prstGeom>
          <a:solidFill>
            <a:schemeClr val="bg1"/>
          </a:solidFill>
          <a:ln w="12700">
            <a:solidFill>
              <a:schemeClr val="accent1">
                <a:alpha val="61000"/>
              </a:schemeClr>
            </a:solidFill>
            <a:prstDash val="sysDash"/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p>
            <a:pPr lvl="0" algn="ctr">
              <a:lnSpc>
                <a:spcPct val="80000"/>
              </a:lnSpc>
              <a:buClrTx/>
              <a:buSzTx/>
              <a:buFontTx/>
            </a:pPr>
            <a:endParaRPr lang="zh-CN" altLang="en-US" sz="800" b="1">
              <a:solidFill>
                <a:schemeClr val="tx1">
                  <a:lumMod val="95000"/>
                  <a:lumOff val="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2204720" y="5815965"/>
            <a:ext cx="751205" cy="153670"/>
            <a:chOff x="15515" y="9638"/>
            <a:chExt cx="1183" cy="242"/>
          </a:xfrm>
        </p:grpSpPr>
        <p:sp>
          <p:nvSpPr>
            <p:cNvPr id="25" name="文本框 24"/>
            <p:cNvSpPr txBox="1"/>
            <p:nvPr/>
          </p:nvSpPr>
          <p:spPr>
            <a:xfrm>
              <a:off x="15515" y="9638"/>
              <a:ext cx="844" cy="193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spAutoFit/>
            </a:bodyPr>
            <a:p>
              <a:r>
                <a:rPr lang="zh-CN" altLang="en-US" sz="800" b="1">
                  <a:solidFill>
                    <a:srgbClr val="0841B2"/>
                  </a:solidFill>
                </a:rPr>
                <a:t>新建系统</a:t>
              </a:r>
              <a:endParaRPr lang="zh-CN" altLang="en-US" sz="800" b="1">
                <a:solidFill>
                  <a:srgbClr val="0841B2"/>
                </a:solidFill>
              </a:endParaRPr>
            </a:p>
          </p:txBody>
        </p:sp>
        <p:sp>
          <p:nvSpPr>
            <p:cNvPr id="26" name="同侧圆角矩形 25"/>
            <p:cNvSpPr/>
            <p:nvPr/>
          </p:nvSpPr>
          <p:spPr>
            <a:xfrm>
              <a:off x="16359" y="9664"/>
              <a:ext cx="339" cy="216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92D050"/>
            </a:solidFill>
            <a:ln w="60325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29" name="文本框 28"/>
          <p:cNvSpPr txBox="1"/>
          <p:nvPr/>
        </p:nvSpPr>
        <p:spPr>
          <a:xfrm>
            <a:off x="2204720" y="6059170"/>
            <a:ext cx="535940" cy="122555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spAutoFit/>
          </a:bodyPr>
          <a:p>
            <a:r>
              <a:rPr lang="zh-CN" altLang="en-US" sz="800" b="1">
                <a:solidFill>
                  <a:srgbClr val="0841B2"/>
                </a:solidFill>
              </a:rPr>
              <a:t>存量系统</a:t>
            </a:r>
            <a:endParaRPr lang="zh-CN" altLang="en-US" sz="800" b="1">
              <a:solidFill>
                <a:srgbClr val="0841B2"/>
              </a:solidFill>
            </a:endParaRPr>
          </a:p>
        </p:txBody>
      </p:sp>
      <p:grpSp>
        <p:nvGrpSpPr>
          <p:cNvPr id="34" name="组合 33"/>
          <p:cNvGrpSpPr/>
          <p:nvPr/>
        </p:nvGrpSpPr>
        <p:grpSpPr>
          <a:xfrm rot="0">
            <a:off x="4559300" y="3909060"/>
            <a:ext cx="1553845" cy="981710"/>
            <a:chOff x="3462" y="5073"/>
            <a:chExt cx="2307" cy="2964"/>
          </a:xfrm>
        </p:grpSpPr>
        <p:sp>
          <p:nvSpPr>
            <p:cNvPr id="69" name="同侧圆角矩形 68"/>
            <p:cNvSpPr/>
            <p:nvPr/>
          </p:nvSpPr>
          <p:spPr>
            <a:xfrm>
              <a:off x="3462" y="5073"/>
              <a:ext cx="2305" cy="428"/>
            </a:xfrm>
            <a:prstGeom prst="round2SameRect">
              <a:avLst>
                <a:gd name="adj1" fmla="val 28823"/>
                <a:gd name="adj2" fmla="val 0"/>
              </a:avLst>
            </a:prstGeom>
            <a:gradFill>
              <a:gsLst>
                <a:gs pos="0">
                  <a:srgbClr val="2957DE"/>
                </a:gs>
                <a:gs pos="100000">
                  <a:srgbClr val="598BF6"/>
                </a:gs>
              </a:gsLst>
              <a:lin ang="4500000" scaled="0"/>
            </a:gradFill>
            <a:ln w="60325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流程服务</a:t>
              </a:r>
              <a:endPara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49" name="圆角矩形 48"/>
            <p:cNvSpPr/>
            <p:nvPr>
              <p:custDataLst>
                <p:tags r:id="rId27"/>
              </p:custDataLst>
            </p:nvPr>
          </p:nvSpPr>
          <p:spPr>
            <a:xfrm>
              <a:off x="3466" y="5083"/>
              <a:ext cx="2303" cy="2954"/>
            </a:xfrm>
            <a:prstGeom prst="roundRect">
              <a:avLst>
                <a:gd name="adj" fmla="val 5430"/>
              </a:avLst>
            </a:prstGeom>
            <a:solidFill>
              <a:schemeClr val="accent1">
                <a:alpha val="10000"/>
              </a:schemeClr>
            </a:solidFill>
            <a:ln w="12700">
              <a:solidFill>
                <a:schemeClr val="accent1">
                  <a:alpha val="61000"/>
                </a:schemeClr>
              </a:solidFill>
              <a:prstDash val="sysDash"/>
            </a:ln>
          </p:spPr>
          <p:style>
            <a:lnRef idx="0">
              <a:srgbClr val="FFFFFF"/>
            </a:lnRef>
            <a:fillRef idx="3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p>
              <a:pPr lvl="0" algn="ctr">
                <a:lnSpc>
                  <a:spcPct val="80000"/>
                </a:lnSpc>
                <a:buClrTx/>
                <a:buSzTx/>
                <a:buFontTx/>
              </a:pPr>
              <a:endParaRPr lang="zh-CN" altLang="en-US" sz="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70" name="圆角矩形 69"/>
          <p:cNvSpPr/>
          <p:nvPr>
            <p:custDataLst>
              <p:tags r:id="rId28"/>
            </p:custDataLst>
          </p:nvPr>
        </p:nvSpPr>
        <p:spPr>
          <a:xfrm>
            <a:off x="4652010" y="420052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流程编排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2" name="圆角矩形 81"/>
          <p:cNvSpPr/>
          <p:nvPr>
            <p:custDataLst>
              <p:tags r:id="rId29"/>
            </p:custDataLst>
          </p:nvPr>
        </p:nvSpPr>
        <p:spPr>
          <a:xfrm>
            <a:off x="5389245" y="4204970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报文转换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3" name="圆角矩形 82"/>
          <p:cNvSpPr/>
          <p:nvPr>
            <p:custDataLst>
              <p:tags r:id="rId30"/>
            </p:custDataLst>
          </p:nvPr>
        </p:nvSpPr>
        <p:spPr>
          <a:xfrm>
            <a:off x="4652010" y="4527550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自适应查询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6" name="圆角矩形 85"/>
          <p:cNvSpPr/>
          <p:nvPr>
            <p:custDataLst>
              <p:tags r:id="rId31"/>
            </p:custDataLst>
          </p:nvPr>
        </p:nvSpPr>
        <p:spPr>
          <a:xfrm>
            <a:off x="5389880" y="4527550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机构主动回调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120" name="组合 119"/>
          <p:cNvGrpSpPr/>
          <p:nvPr/>
        </p:nvGrpSpPr>
        <p:grpSpPr>
          <a:xfrm rot="0">
            <a:off x="6217920" y="3894455"/>
            <a:ext cx="1553845" cy="981710"/>
            <a:chOff x="3462" y="5073"/>
            <a:chExt cx="2307" cy="2964"/>
          </a:xfrm>
        </p:grpSpPr>
        <p:sp>
          <p:nvSpPr>
            <p:cNvPr id="132" name="圆角矩形 131"/>
            <p:cNvSpPr/>
            <p:nvPr>
              <p:custDataLst>
                <p:tags r:id="rId32"/>
              </p:custDataLst>
            </p:nvPr>
          </p:nvSpPr>
          <p:spPr>
            <a:xfrm>
              <a:off x="3466" y="5083"/>
              <a:ext cx="2303" cy="2954"/>
            </a:xfrm>
            <a:prstGeom prst="roundRect">
              <a:avLst>
                <a:gd name="adj" fmla="val 5430"/>
              </a:avLst>
            </a:prstGeom>
            <a:solidFill>
              <a:schemeClr val="accent1">
                <a:alpha val="10000"/>
              </a:schemeClr>
            </a:solidFill>
            <a:ln w="12700">
              <a:solidFill>
                <a:schemeClr val="accent1">
                  <a:alpha val="61000"/>
                </a:schemeClr>
              </a:solidFill>
              <a:prstDash val="sysDash"/>
            </a:ln>
          </p:spPr>
          <p:style>
            <a:lnRef idx="0">
              <a:srgbClr val="FFFFFF"/>
            </a:lnRef>
            <a:fillRef idx="3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p>
              <a:pPr lvl="0" algn="ctr">
                <a:lnSpc>
                  <a:spcPct val="80000"/>
                </a:lnSpc>
                <a:buClrTx/>
                <a:buSzTx/>
                <a:buFontTx/>
              </a:pPr>
              <a:endParaRPr lang="zh-CN" altLang="en-US" sz="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42" name="同侧圆角矩形 141"/>
            <p:cNvSpPr/>
            <p:nvPr/>
          </p:nvSpPr>
          <p:spPr>
            <a:xfrm>
              <a:off x="3462" y="5073"/>
              <a:ext cx="2305" cy="428"/>
            </a:xfrm>
            <a:prstGeom prst="round2SameRect">
              <a:avLst>
                <a:gd name="adj1" fmla="val 28823"/>
                <a:gd name="adj2" fmla="val 0"/>
              </a:avLst>
            </a:prstGeom>
            <a:gradFill>
              <a:gsLst>
                <a:gs pos="0">
                  <a:srgbClr val="2957DE"/>
                </a:gs>
                <a:gs pos="100000">
                  <a:srgbClr val="598BF6"/>
                </a:gs>
              </a:gsLst>
              <a:lin ang="4500000" scaled="0"/>
            </a:gradFill>
            <a:ln w="60325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机构连接</a:t>
              </a:r>
              <a:endPara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154" name="圆角矩形 153"/>
          <p:cNvSpPr/>
          <p:nvPr>
            <p:custDataLst>
              <p:tags r:id="rId33"/>
            </p:custDataLst>
          </p:nvPr>
        </p:nvSpPr>
        <p:spPr>
          <a:xfrm>
            <a:off x="6310630" y="4185920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加密解密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57" name="圆角矩形 156"/>
          <p:cNvSpPr/>
          <p:nvPr>
            <p:custDataLst>
              <p:tags r:id="rId34"/>
            </p:custDataLst>
          </p:nvPr>
        </p:nvSpPr>
        <p:spPr>
          <a:xfrm>
            <a:off x="7047865" y="419036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流量控制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58" name="圆角矩形 157"/>
          <p:cNvSpPr/>
          <p:nvPr>
            <p:custDataLst>
              <p:tags r:id="rId35"/>
            </p:custDataLst>
          </p:nvPr>
        </p:nvSpPr>
        <p:spPr>
          <a:xfrm>
            <a:off x="6310630" y="451294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熔断降级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59" name="圆角矩形 158"/>
          <p:cNvSpPr/>
          <p:nvPr>
            <p:custDataLst>
              <p:tags r:id="rId36"/>
            </p:custDataLst>
          </p:nvPr>
        </p:nvSpPr>
        <p:spPr>
          <a:xfrm>
            <a:off x="7048500" y="451294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机构资源隔离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60" name="同侧圆角矩形 159"/>
          <p:cNvSpPr/>
          <p:nvPr/>
        </p:nvSpPr>
        <p:spPr>
          <a:xfrm>
            <a:off x="6231890" y="2476500"/>
            <a:ext cx="1552498" cy="138965"/>
          </a:xfrm>
          <a:prstGeom prst="round2SameRect">
            <a:avLst>
              <a:gd name="adj1" fmla="val 28823"/>
              <a:gd name="adj2" fmla="val 0"/>
            </a:avLst>
          </a:prstGeom>
          <a:gradFill>
            <a:gsLst>
              <a:gs pos="0">
                <a:srgbClr val="2957DE"/>
              </a:gs>
              <a:gs pos="100000">
                <a:srgbClr val="598BF6"/>
              </a:gs>
            </a:gsLst>
            <a:lin ang="4500000" scaled="0"/>
          </a:gradFill>
          <a:ln w="6032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融担路由</a:t>
            </a:r>
            <a:endParaRPr lang="zh-CN" altLang="en-US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161" name="组合 160"/>
          <p:cNvGrpSpPr/>
          <p:nvPr/>
        </p:nvGrpSpPr>
        <p:grpSpPr>
          <a:xfrm rot="0">
            <a:off x="4542790" y="5015230"/>
            <a:ext cx="1553845" cy="543560"/>
            <a:chOff x="3462" y="5073"/>
            <a:chExt cx="2307" cy="2964"/>
          </a:xfrm>
        </p:grpSpPr>
        <p:sp>
          <p:nvSpPr>
            <p:cNvPr id="164" name="圆角矩形 163"/>
            <p:cNvSpPr/>
            <p:nvPr>
              <p:custDataLst>
                <p:tags r:id="rId37"/>
              </p:custDataLst>
            </p:nvPr>
          </p:nvSpPr>
          <p:spPr>
            <a:xfrm>
              <a:off x="3466" y="5083"/>
              <a:ext cx="2303" cy="2954"/>
            </a:xfrm>
            <a:prstGeom prst="roundRect">
              <a:avLst>
                <a:gd name="adj" fmla="val 5430"/>
              </a:avLst>
            </a:prstGeom>
            <a:solidFill>
              <a:schemeClr val="accent1">
                <a:alpha val="10000"/>
              </a:schemeClr>
            </a:solidFill>
            <a:ln w="12700">
              <a:solidFill>
                <a:schemeClr val="accent1">
                  <a:alpha val="61000"/>
                </a:schemeClr>
              </a:solidFill>
              <a:prstDash val="sysDash"/>
            </a:ln>
          </p:spPr>
          <p:style>
            <a:lnRef idx="0">
              <a:srgbClr val="FFFFFF"/>
            </a:lnRef>
            <a:fillRef idx="3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p>
              <a:pPr lvl="0" algn="ctr">
                <a:lnSpc>
                  <a:spcPct val="80000"/>
                </a:lnSpc>
                <a:buClrTx/>
                <a:buSzTx/>
                <a:buFontTx/>
              </a:pPr>
              <a:endParaRPr lang="zh-CN" altLang="en-US" sz="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72" name="同侧圆角矩形 171"/>
            <p:cNvSpPr/>
            <p:nvPr/>
          </p:nvSpPr>
          <p:spPr>
            <a:xfrm>
              <a:off x="3462" y="5073"/>
              <a:ext cx="2305" cy="737"/>
            </a:xfrm>
            <a:prstGeom prst="round2SameRect">
              <a:avLst>
                <a:gd name="adj1" fmla="val 28823"/>
                <a:gd name="adj2" fmla="val 0"/>
              </a:avLst>
            </a:prstGeom>
            <a:gradFill>
              <a:gsLst>
                <a:gs pos="0">
                  <a:srgbClr val="2957DE"/>
                </a:gs>
                <a:gs pos="100000">
                  <a:srgbClr val="598BF6"/>
                </a:gs>
              </a:gsLst>
              <a:lin ang="4500000" scaled="0"/>
            </a:gradFill>
            <a:ln w="60325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查询服务</a:t>
              </a:r>
              <a:endPara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173" name="圆角矩形 172"/>
          <p:cNvSpPr/>
          <p:nvPr>
            <p:custDataLst>
              <p:tags r:id="rId38"/>
            </p:custDataLst>
          </p:nvPr>
        </p:nvSpPr>
        <p:spPr>
          <a:xfrm>
            <a:off x="4636135" y="5226050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机构影像下载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74" name="圆角矩形 173"/>
          <p:cNvSpPr/>
          <p:nvPr>
            <p:custDataLst>
              <p:tags r:id="rId39"/>
            </p:custDataLst>
          </p:nvPr>
        </p:nvSpPr>
        <p:spPr>
          <a:xfrm>
            <a:off x="5373370" y="523049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还款连接查询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177" name="组合 176"/>
          <p:cNvGrpSpPr/>
          <p:nvPr/>
        </p:nvGrpSpPr>
        <p:grpSpPr>
          <a:xfrm rot="0">
            <a:off x="4558665" y="5614670"/>
            <a:ext cx="1553845" cy="550545"/>
            <a:chOff x="3462" y="5073"/>
            <a:chExt cx="2307" cy="2964"/>
          </a:xfrm>
        </p:grpSpPr>
        <p:sp>
          <p:nvSpPr>
            <p:cNvPr id="178" name="圆角矩形 177"/>
            <p:cNvSpPr/>
            <p:nvPr>
              <p:custDataLst>
                <p:tags r:id="rId40"/>
              </p:custDataLst>
            </p:nvPr>
          </p:nvSpPr>
          <p:spPr>
            <a:xfrm>
              <a:off x="3466" y="5083"/>
              <a:ext cx="2303" cy="2954"/>
            </a:xfrm>
            <a:prstGeom prst="roundRect">
              <a:avLst>
                <a:gd name="adj" fmla="val 5430"/>
              </a:avLst>
            </a:prstGeom>
            <a:solidFill>
              <a:schemeClr val="accent1">
                <a:alpha val="10000"/>
              </a:schemeClr>
            </a:solidFill>
            <a:ln w="12700">
              <a:solidFill>
                <a:schemeClr val="accent1">
                  <a:alpha val="61000"/>
                </a:schemeClr>
              </a:solidFill>
              <a:prstDash val="sysDash"/>
            </a:ln>
          </p:spPr>
          <p:style>
            <a:lnRef idx="0">
              <a:srgbClr val="FFFFFF"/>
            </a:lnRef>
            <a:fillRef idx="3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p>
              <a:pPr lvl="0" algn="ctr">
                <a:lnSpc>
                  <a:spcPct val="80000"/>
                </a:lnSpc>
                <a:buClrTx/>
                <a:buSzTx/>
                <a:buFontTx/>
              </a:pPr>
              <a:endParaRPr lang="zh-CN" altLang="en-US" sz="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79" name="同侧圆角矩形 178"/>
            <p:cNvSpPr/>
            <p:nvPr/>
          </p:nvSpPr>
          <p:spPr>
            <a:xfrm>
              <a:off x="3462" y="5073"/>
              <a:ext cx="2305" cy="737"/>
            </a:xfrm>
            <a:prstGeom prst="round2SameRect">
              <a:avLst>
                <a:gd name="adj1" fmla="val 28823"/>
                <a:gd name="adj2" fmla="val 0"/>
              </a:avLst>
            </a:prstGeom>
            <a:gradFill>
              <a:gsLst>
                <a:gs pos="0">
                  <a:srgbClr val="2957DE"/>
                </a:gs>
                <a:gs pos="100000">
                  <a:srgbClr val="598BF6"/>
                </a:gs>
              </a:gsLst>
              <a:lin ang="4500000" scaled="0"/>
            </a:gradFill>
            <a:ln w="60325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离线文件处理</a:t>
              </a:r>
              <a:endPara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180" name="圆角矩形 179"/>
          <p:cNvSpPr/>
          <p:nvPr>
            <p:custDataLst>
              <p:tags r:id="rId41"/>
            </p:custDataLst>
          </p:nvPr>
        </p:nvSpPr>
        <p:spPr>
          <a:xfrm>
            <a:off x="4652010" y="582993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文件同步机构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81" name="圆角矩形 180"/>
          <p:cNvSpPr/>
          <p:nvPr>
            <p:custDataLst>
              <p:tags r:id="rId42"/>
            </p:custDataLst>
          </p:nvPr>
        </p:nvSpPr>
        <p:spPr>
          <a:xfrm>
            <a:off x="5389245" y="5834380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担保函归档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8" name="圆角矩形 207"/>
          <p:cNvSpPr/>
          <p:nvPr>
            <p:custDataLst>
              <p:tags r:id="rId43"/>
            </p:custDataLst>
          </p:nvPr>
        </p:nvSpPr>
        <p:spPr>
          <a:xfrm>
            <a:off x="8150225" y="2183130"/>
            <a:ext cx="611505" cy="4109720"/>
          </a:xfrm>
          <a:prstGeom prst="roundRect">
            <a:avLst>
              <a:gd name="adj" fmla="val 62"/>
            </a:avLst>
          </a:prstGeom>
          <a:solidFill>
            <a:schemeClr val="accent2">
              <a:alpha val="1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35" name="圆角矩形 234"/>
          <p:cNvSpPr/>
          <p:nvPr>
            <p:custDataLst>
              <p:tags r:id="rId44"/>
            </p:custDataLst>
          </p:nvPr>
        </p:nvSpPr>
        <p:spPr>
          <a:xfrm>
            <a:off x="8229600" y="2259330"/>
            <a:ext cx="467995" cy="3906520"/>
          </a:xfrm>
          <a:prstGeom prst="roundRect">
            <a:avLst>
              <a:gd name="adj" fmla="val 5189"/>
            </a:avLst>
          </a:prstGeom>
          <a:solidFill>
            <a:schemeClr val="bg1"/>
          </a:solidFill>
          <a:ln w="12700" cap="flat" cmpd="sng">
            <a:noFill/>
            <a:prstDash val="solid"/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lstStyle/>
          <a:p>
            <a:pPr lvl="0" algn="ctr">
              <a:lnSpc>
                <a:spcPct val="90000"/>
              </a:lnSpc>
              <a:buClrTx/>
              <a:buSzTx/>
              <a:buFontTx/>
            </a:pPr>
            <a:endParaRPr lang="zh-CN" altLang="en-US" sz="900" b="1">
              <a:solidFill>
                <a:schemeClr val="tx1">
                  <a:lumMod val="95000"/>
                  <a:lumOff val="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236" name="组合 235"/>
          <p:cNvGrpSpPr/>
          <p:nvPr/>
        </p:nvGrpSpPr>
        <p:grpSpPr>
          <a:xfrm>
            <a:off x="8221345" y="2329815"/>
            <a:ext cx="504190" cy="435475"/>
            <a:chOff x="11289" y="2393"/>
            <a:chExt cx="794" cy="747"/>
          </a:xfrm>
        </p:grpSpPr>
        <p:sp>
          <p:nvSpPr>
            <p:cNvPr id="237" name="文本框 236"/>
            <p:cNvSpPr txBox="1"/>
            <p:nvPr/>
          </p:nvSpPr>
          <p:spPr>
            <a:xfrm>
              <a:off x="11289" y="2825"/>
              <a:ext cx="794" cy="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600"/>
                <a:t>兰州银行</a:t>
              </a:r>
              <a:endParaRPr lang="zh-CN" altLang="en-US" sz="600"/>
            </a:p>
          </p:txBody>
        </p:sp>
        <p:pic>
          <p:nvPicPr>
            <p:cNvPr id="238" name="图片 237" descr="201509211738519330nGz2c2x"/>
            <p:cNvPicPr>
              <a:picLocks noChangeAspect="1"/>
            </p:cNvPicPr>
            <p:nvPr/>
          </p:nvPicPr>
          <p:blipFill>
            <a:blip r:embed="rId45"/>
            <a:srcRect r="73184"/>
            <a:stretch>
              <a:fillRect/>
            </a:stretch>
          </p:blipFill>
          <p:spPr>
            <a:xfrm>
              <a:off x="11488" y="2393"/>
              <a:ext cx="397" cy="436"/>
            </a:xfrm>
            <a:prstGeom prst="rect">
              <a:avLst/>
            </a:prstGeom>
          </p:spPr>
        </p:pic>
      </p:grpSp>
      <p:grpSp>
        <p:nvGrpSpPr>
          <p:cNvPr id="239" name="组合 238"/>
          <p:cNvGrpSpPr/>
          <p:nvPr/>
        </p:nvGrpSpPr>
        <p:grpSpPr>
          <a:xfrm>
            <a:off x="8221345" y="3016250"/>
            <a:ext cx="504190" cy="429127"/>
            <a:chOff x="11314" y="3938"/>
            <a:chExt cx="794" cy="736"/>
          </a:xfrm>
        </p:grpSpPr>
        <p:sp>
          <p:nvSpPr>
            <p:cNvPr id="240" name="文本框 239"/>
            <p:cNvSpPr txBox="1"/>
            <p:nvPr/>
          </p:nvSpPr>
          <p:spPr>
            <a:xfrm>
              <a:off x="11314" y="4359"/>
              <a:ext cx="794" cy="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600"/>
                <a:t>昆仑银行</a:t>
              </a:r>
              <a:endParaRPr lang="zh-CN" altLang="en-US" sz="600"/>
            </a:p>
          </p:txBody>
        </p:sp>
        <p:pic>
          <p:nvPicPr>
            <p:cNvPr id="241" name="图片 240"/>
            <p:cNvPicPr>
              <a:picLocks noChangeAspect="1"/>
            </p:cNvPicPr>
            <p:nvPr>
              <p:custDataLst>
                <p:tags r:id="rId46"/>
              </p:custDataLst>
            </p:nvPr>
          </p:nvPicPr>
          <p:blipFill>
            <a:blip r:embed="rId47"/>
            <a:stretch>
              <a:fillRect/>
            </a:stretch>
          </p:blipFill>
          <p:spPr>
            <a:xfrm>
              <a:off x="11513" y="3938"/>
              <a:ext cx="397" cy="421"/>
            </a:xfrm>
            <a:prstGeom prst="rect">
              <a:avLst/>
            </a:prstGeom>
          </p:spPr>
        </p:pic>
      </p:grpSp>
      <p:grpSp>
        <p:nvGrpSpPr>
          <p:cNvPr id="245" name="组合 244"/>
          <p:cNvGrpSpPr/>
          <p:nvPr/>
        </p:nvGrpSpPr>
        <p:grpSpPr>
          <a:xfrm>
            <a:off x="8232775" y="4271010"/>
            <a:ext cx="504190" cy="436112"/>
            <a:chOff x="11289" y="7924"/>
            <a:chExt cx="794" cy="748"/>
          </a:xfrm>
        </p:grpSpPr>
        <p:sp>
          <p:nvSpPr>
            <p:cNvPr id="246" name="文本框 245"/>
            <p:cNvSpPr txBox="1"/>
            <p:nvPr/>
          </p:nvSpPr>
          <p:spPr>
            <a:xfrm>
              <a:off x="11289" y="8357"/>
              <a:ext cx="794" cy="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600"/>
                <a:t>长江商业</a:t>
              </a:r>
              <a:endParaRPr lang="zh-CN" altLang="en-US" sz="600"/>
            </a:p>
          </p:txBody>
        </p:sp>
        <p:pic>
          <p:nvPicPr>
            <p:cNvPr id="247" name="图片 246"/>
            <p:cNvPicPr>
              <a:picLocks noChangeAspect="1"/>
            </p:cNvPicPr>
            <p:nvPr>
              <p:custDataLst>
                <p:tags r:id="rId48"/>
              </p:custDataLst>
            </p:nvPr>
          </p:nvPicPr>
          <p:blipFill>
            <a:blip r:embed="rId49"/>
            <a:stretch>
              <a:fillRect/>
            </a:stretch>
          </p:blipFill>
          <p:spPr>
            <a:xfrm>
              <a:off x="11488" y="7924"/>
              <a:ext cx="397" cy="430"/>
            </a:xfrm>
            <a:prstGeom prst="rect">
              <a:avLst/>
            </a:prstGeom>
          </p:spPr>
        </p:pic>
      </p:grpSp>
      <p:grpSp>
        <p:nvGrpSpPr>
          <p:cNvPr id="248" name="组合 247"/>
          <p:cNvGrpSpPr/>
          <p:nvPr/>
        </p:nvGrpSpPr>
        <p:grpSpPr>
          <a:xfrm>
            <a:off x="8232775" y="3590925"/>
            <a:ext cx="504190" cy="429764"/>
            <a:chOff x="11315" y="6640"/>
            <a:chExt cx="794" cy="737"/>
          </a:xfrm>
        </p:grpSpPr>
        <p:sp>
          <p:nvSpPr>
            <p:cNvPr id="249" name="文本框 248"/>
            <p:cNvSpPr txBox="1"/>
            <p:nvPr/>
          </p:nvSpPr>
          <p:spPr>
            <a:xfrm>
              <a:off x="11315" y="7062"/>
              <a:ext cx="794" cy="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600"/>
                <a:t>小米消金</a:t>
              </a:r>
              <a:endParaRPr lang="zh-CN" altLang="en-US" sz="600"/>
            </a:p>
          </p:txBody>
        </p:sp>
        <p:pic>
          <p:nvPicPr>
            <p:cNvPr id="250" name="图片 249"/>
            <p:cNvPicPr>
              <a:picLocks noChangeAspect="1"/>
            </p:cNvPicPr>
            <p:nvPr>
              <p:custDataLst>
                <p:tags r:id="rId50"/>
              </p:custDataLst>
            </p:nvPr>
          </p:nvPicPr>
          <p:blipFill>
            <a:blip r:embed="rId51"/>
            <a:stretch>
              <a:fillRect/>
            </a:stretch>
          </p:blipFill>
          <p:spPr>
            <a:xfrm>
              <a:off x="11514" y="6640"/>
              <a:ext cx="397" cy="422"/>
            </a:xfrm>
            <a:prstGeom prst="rect">
              <a:avLst/>
            </a:prstGeom>
          </p:spPr>
        </p:pic>
      </p:grpSp>
      <p:cxnSp>
        <p:nvCxnSpPr>
          <p:cNvPr id="261" name="直接连接符 260"/>
          <p:cNvCxnSpPr/>
          <p:nvPr/>
        </p:nvCxnSpPr>
        <p:spPr>
          <a:xfrm>
            <a:off x="8326120" y="5448935"/>
            <a:ext cx="323215" cy="0"/>
          </a:xfrm>
          <a:prstGeom prst="line">
            <a:avLst/>
          </a:prstGeom>
          <a:ln>
            <a:solidFill>
              <a:schemeClr val="accent1">
                <a:alpha val="32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2" name="直接连接符 261"/>
          <p:cNvCxnSpPr/>
          <p:nvPr/>
        </p:nvCxnSpPr>
        <p:spPr>
          <a:xfrm>
            <a:off x="8326120" y="6092190"/>
            <a:ext cx="323215" cy="0"/>
          </a:xfrm>
          <a:prstGeom prst="line">
            <a:avLst/>
          </a:prstGeom>
          <a:ln>
            <a:solidFill>
              <a:schemeClr val="accent1">
                <a:alpha val="32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66" name="组合 265"/>
          <p:cNvGrpSpPr/>
          <p:nvPr/>
        </p:nvGrpSpPr>
        <p:grpSpPr>
          <a:xfrm>
            <a:off x="8229600" y="5586095"/>
            <a:ext cx="504190" cy="413312"/>
            <a:chOff x="12366" y="9757"/>
            <a:chExt cx="794" cy="709"/>
          </a:xfrm>
        </p:grpSpPr>
        <p:sp>
          <p:nvSpPr>
            <p:cNvPr id="267" name="文本框 266"/>
            <p:cNvSpPr txBox="1"/>
            <p:nvPr/>
          </p:nvSpPr>
          <p:spPr>
            <a:xfrm>
              <a:off x="12366" y="10151"/>
              <a:ext cx="794" cy="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600"/>
                <a:t>众安小贷</a:t>
              </a:r>
              <a:endParaRPr lang="zh-CN" altLang="en-US" sz="600"/>
            </a:p>
          </p:txBody>
        </p:sp>
        <p:pic>
          <p:nvPicPr>
            <p:cNvPr id="268" name="图片 267"/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12489" y="9757"/>
              <a:ext cx="520" cy="322"/>
            </a:xfrm>
            <a:prstGeom prst="rect">
              <a:avLst/>
            </a:prstGeom>
          </p:spPr>
        </p:pic>
      </p:grpSp>
      <p:grpSp>
        <p:nvGrpSpPr>
          <p:cNvPr id="269" name="组合 268"/>
          <p:cNvGrpSpPr/>
          <p:nvPr/>
        </p:nvGrpSpPr>
        <p:grpSpPr>
          <a:xfrm>
            <a:off x="8232775" y="4958080"/>
            <a:ext cx="504190" cy="398641"/>
            <a:chOff x="13673" y="4425"/>
            <a:chExt cx="794" cy="684"/>
          </a:xfrm>
        </p:grpSpPr>
        <p:sp>
          <p:nvSpPr>
            <p:cNvPr id="270" name="文本框 269"/>
            <p:cNvSpPr txBox="1"/>
            <p:nvPr/>
          </p:nvSpPr>
          <p:spPr>
            <a:xfrm>
              <a:off x="13673" y="4794"/>
              <a:ext cx="794" cy="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600"/>
                <a:t>国民信托</a:t>
              </a:r>
              <a:endParaRPr lang="zh-CN" altLang="en-US" sz="600"/>
            </a:p>
          </p:txBody>
        </p:sp>
        <p:pic>
          <p:nvPicPr>
            <p:cNvPr id="271" name="图片 270"/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13890" y="4425"/>
              <a:ext cx="361" cy="369"/>
            </a:xfrm>
            <a:prstGeom prst="rect">
              <a:avLst/>
            </a:prstGeom>
          </p:spPr>
        </p:pic>
      </p:grpSp>
      <p:cxnSp>
        <p:nvCxnSpPr>
          <p:cNvPr id="272" name="直接连接符 271"/>
          <p:cNvCxnSpPr/>
          <p:nvPr/>
        </p:nvCxnSpPr>
        <p:spPr>
          <a:xfrm>
            <a:off x="8326120" y="4828540"/>
            <a:ext cx="323215" cy="0"/>
          </a:xfrm>
          <a:prstGeom prst="line">
            <a:avLst/>
          </a:prstGeom>
          <a:ln>
            <a:solidFill>
              <a:schemeClr val="accent1">
                <a:alpha val="32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3" name="直接连接符 272"/>
          <p:cNvCxnSpPr/>
          <p:nvPr/>
        </p:nvCxnSpPr>
        <p:spPr>
          <a:xfrm>
            <a:off x="8319770" y="4136390"/>
            <a:ext cx="323215" cy="0"/>
          </a:xfrm>
          <a:prstGeom prst="line">
            <a:avLst/>
          </a:prstGeom>
          <a:ln>
            <a:solidFill>
              <a:schemeClr val="accent1">
                <a:alpha val="32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5" name="直接连接符 274"/>
          <p:cNvCxnSpPr/>
          <p:nvPr/>
        </p:nvCxnSpPr>
        <p:spPr>
          <a:xfrm>
            <a:off x="8314690" y="3544570"/>
            <a:ext cx="323215" cy="0"/>
          </a:xfrm>
          <a:prstGeom prst="line">
            <a:avLst/>
          </a:prstGeom>
          <a:ln>
            <a:solidFill>
              <a:schemeClr val="accent1">
                <a:alpha val="32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6" name="直接连接符 275"/>
          <p:cNvCxnSpPr/>
          <p:nvPr/>
        </p:nvCxnSpPr>
        <p:spPr>
          <a:xfrm>
            <a:off x="8301355" y="2889250"/>
            <a:ext cx="323215" cy="0"/>
          </a:xfrm>
          <a:prstGeom prst="line">
            <a:avLst/>
          </a:prstGeom>
          <a:ln>
            <a:solidFill>
              <a:schemeClr val="accent1">
                <a:alpha val="32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2" name="右箭头 201"/>
          <p:cNvSpPr/>
          <p:nvPr>
            <p:custDataLst>
              <p:tags r:id="rId54"/>
            </p:custDataLst>
          </p:nvPr>
        </p:nvSpPr>
        <p:spPr>
          <a:xfrm>
            <a:off x="7948295" y="3062605"/>
            <a:ext cx="200660" cy="288290"/>
          </a:xfrm>
          <a:prstGeom prst="rightArrow">
            <a:avLst/>
          </a:prstGeom>
          <a:solidFill>
            <a:srgbClr val="F5B482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t" anchorCtr="0" forceAA="0" compatLnSpc="1">
            <a:noAutofit/>
          </a:bodyPr>
          <a:p>
            <a:pPr lvl="0" algn="ctr">
              <a:lnSpc>
                <a:spcPct val="150000"/>
              </a:lnSpc>
              <a:buClrTx/>
              <a:buSzTx/>
              <a:buFontTx/>
            </a:pPr>
            <a:endParaRPr lang="zh-CN" altLang="en-US" sz="1400" b="1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FAFAFA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87" name="圆角矩形 186"/>
          <p:cNvSpPr/>
          <p:nvPr>
            <p:custDataLst>
              <p:tags r:id="rId55"/>
            </p:custDataLst>
          </p:nvPr>
        </p:nvSpPr>
        <p:spPr>
          <a:xfrm>
            <a:off x="6328410" y="523049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还款试算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93" name="圆角矩形 192"/>
          <p:cNvSpPr/>
          <p:nvPr>
            <p:custDataLst>
              <p:tags r:id="rId56"/>
            </p:custDataLst>
          </p:nvPr>
        </p:nvSpPr>
        <p:spPr>
          <a:xfrm>
            <a:off x="6328410" y="552894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线下还款申请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0" name="圆角矩形 199"/>
          <p:cNvSpPr/>
          <p:nvPr>
            <p:custDataLst>
              <p:tags r:id="rId57"/>
            </p:custDataLst>
          </p:nvPr>
        </p:nvSpPr>
        <p:spPr>
          <a:xfrm>
            <a:off x="7054850" y="552894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还款计划查询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88" name="圆角矩形 187"/>
          <p:cNvSpPr/>
          <p:nvPr>
            <p:custDataLst>
              <p:tags r:id="rId58"/>
            </p:custDataLst>
          </p:nvPr>
        </p:nvSpPr>
        <p:spPr>
          <a:xfrm>
            <a:off x="7054850" y="5226050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息费减免申请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98" name="同侧圆角矩形 197"/>
          <p:cNvSpPr/>
          <p:nvPr/>
        </p:nvSpPr>
        <p:spPr>
          <a:xfrm>
            <a:off x="6234430" y="5014595"/>
            <a:ext cx="1552575" cy="136525"/>
          </a:xfrm>
          <a:prstGeom prst="round2SameRect">
            <a:avLst>
              <a:gd name="adj1" fmla="val 28823"/>
              <a:gd name="adj2" fmla="val 0"/>
            </a:avLst>
          </a:prstGeom>
          <a:solidFill>
            <a:srgbClr val="92D050"/>
          </a:solidFill>
          <a:ln w="6032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担保对接能力服务</a:t>
            </a:r>
            <a:r>
              <a:rPr lang="en-US" altLang="zh-CN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</a:t>
            </a: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待建设</a:t>
            </a:r>
            <a:r>
              <a:rPr lang="en-US" altLang="zh-CN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  <a:endParaRPr lang="en-US" altLang="zh-CN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3" name="圆角矩形 202"/>
          <p:cNvSpPr/>
          <p:nvPr>
            <p:custDataLst>
              <p:tags r:id="rId59"/>
            </p:custDataLst>
          </p:nvPr>
        </p:nvSpPr>
        <p:spPr>
          <a:xfrm>
            <a:off x="6328410" y="582993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调额申请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4" name="圆角矩形 203"/>
          <p:cNvSpPr/>
          <p:nvPr>
            <p:custDataLst>
              <p:tags r:id="rId60"/>
            </p:custDataLst>
          </p:nvPr>
        </p:nvSpPr>
        <p:spPr>
          <a:xfrm>
            <a:off x="7066280" y="5834380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代偿凭证下载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5" name="右箭头 204"/>
          <p:cNvSpPr/>
          <p:nvPr>
            <p:custDataLst>
              <p:tags r:id="rId61"/>
            </p:custDataLst>
          </p:nvPr>
        </p:nvSpPr>
        <p:spPr>
          <a:xfrm rot="10800000">
            <a:off x="7949565" y="5527040"/>
            <a:ext cx="200660" cy="288290"/>
          </a:xfrm>
          <a:prstGeom prst="rightArrow">
            <a:avLst/>
          </a:prstGeom>
          <a:solidFill>
            <a:srgbClr val="F5B482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t" anchorCtr="0" forceAA="0" compatLnSpc="1">
            <a:noAutofit/>
          </a:bodyPr>
          <a:p>
            <a:pPr lvl="0" algn="ctr">
              <a:lnSpc>
                <a:spcPct val="150000"/>
              </a:lnSpc>
              <a:buClrTx/>
              <a:buSzTx/>
              <a:buFontTx/>
            </a:pPr>
            <a:endParaRPr lang="zh-CN" altLang="en-US" sz="1400" b="1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FAFAFA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207" name="组合 206"/>
          <p:cNvGrpSpPr/>
          <p:nvPr/>
        </p:nvGrpSpPr>
        <p:grpSpPr>
          <a:xfrm>
            <a:off x="3255010" y="2183130"/>
            <a:ext cx="909955" cy="4117975"/>
            <a:chOff x="6236" y="3395"/>
            <a:chExt cx="3131" cy="3633"/>
          </a:xfrm>
        </p:grpSpPr>
        <p:sp>
          <p:nvSpPr>
            <p:cNvPr id="214" name="圆角矩形 213"/>
            <p:cNvSpPr/>
            <p:nvPr>
              <p:custDataLst>
                <p:tags r:id="rId62"/>
              </p:custDataLst>
            </p:nvPr>
          </p:nvSpPr>
          <p:spPr>
            <a:xfrm>
              <a:off x="6236" y="3395"/>
              <a:ext cx="3131" cy="3633"/>
            </a:xfrm>
            <a:prstGeom prst="roundRect">
              <a:avLst>
                <a:gd name="adj" fmla="val 2948"/>
              </a:avLst>
            </a:prstGeom>
            <a:solidFill>
              <a:schemeClr val="bg1"/>
            </a:solidFill>
            <a:ln w="12700">
              <a:solidFill>
                <a:schemeClr val="accent1">
                  <a:alpha val="61000"/>
                </a:schemeClr>
              </a:solidFill>
              <a:prstDash val="sysDash"/>
            </a:ln>
          </p:spPr>
          <p:style>
            <a:lnRef idx="0">
              <a:srgbClr val="FFFFFF"/>
            </a:lnRef>
            <a:fillRef idx="3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p>
              <a:pPr lvl="0" algn="ctr">
                <a:lnSpc>
                  <a:spcPct val="80000"/>
                </a:lnSpc>
                <a:buClrTx/>
                <a:buSzTx/>
                <a:buFontTx/>
              </a:pPr>
              <a:endParaRPr lang="zh-CN" altLang="en-US" sz="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15" name="文本框 16"/>
            <p:cNvSpPr txBox="1"/>
            <p:nvPr>
              <p:custDataLst>
                <p:tags r:id="rId63"/>
              </p:custDataLst>
            </p:nvPr>
          </p:nvSpPr>
          <p:spPr>
            <a:xfrm>
              <a:off x="6236" y="3409"/>
              <a:ext cx="3131" cy="159"/>
            </a:xfrm>
            <a:prstGeom prst="rect">
              <a:avLst/>
            </a:prstGeom>
            <a:noFill/>
            <a:effectLst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>
                <a:defRPr sz="2400">
                  <a:latin typeface="汉仪菱心体简" panose="02010400000101010101" charset="-122"/>
                  <a:ea typeface="汉仪菱心体简" panose="02010400000101010101" charset="-122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buClrTx/>
                <a:buSzTx/>
                <a:buFontTx/>
              </a:pPr>
              <a:r>
                <a:rPr lang="zh-CN" altLang="en-US" sz="1000" b="1" dirty="0">
                  <a:solidFill>
                    <a:srgbClr val="2A59DF"/>
                  </a:solidFill>
                  <a:latin typeface="微软雅黑" panose="020B0503020204020204" charset="-122"/>
                  <a:ea typeface="微软雅黑" panose="020B0503020204020204" charset="-122"/>
                  <a:sym typeface="HarmonyOS Sans SC Bold" panose="00000800000000000000" pitchFamily="2" charset="-122"/>
                </a:rPr>
                <a:t>资产管理域</a:t>
              </a:r>
              <a:endParaRPr lang="en-US" altLang="zh-CN" sz="1000" b="1" dirty="0">
                <a:solidFill>
                  <a:srgbClr val="2A59DF"/>
                </a:solidFill>
                <a:latin typeface="微软雅黑" panose="020B0503020204020204" charset="-122"/>
                <a:ea typeface="微软雅黑" panose="020B0503020204020204" charset="-122"/>
                <a:sym typeface="HarmonyOS Sans SC Bold" panose="00000800000000000000" pitchFamily="2" charset="-122"/>
              </a:endParaRPr>
            </a:p>
          </p:txBody>
        </p:sp>
      </p:grpSp>
      <p:grpSp>
        <p:nvGrpSpPr>
          <p:cNvPr id="217" name="组合 216"/>
          <p:cNvGrpSpPr/>
          <p:nvPr/>
        </p:nvGrpSpPr>
        <p:grpSpPr>
          <a:xfrm rot="0">
            <a:off x="3350895" y="2476500"/>
            <a:ext cx="721360" cy="1315720"/>
            <a:chOff x="3462" y="5083"/>
            <a:chExt cx="2307" cy="2954"/>
          </a:xfrm>
        </p:grpSpPr>
        <p:sp>
          <p:nvSpPr>
            <p:cNvPr id="234" name="圆角矩形 233"/>
            <p:cNvSpPr/>
            <p:nvPr>
              <p:custDataLst>
                <p:tags r:id="rId64"/>
              </p:custDataLst>
            </p:nvPr>
          </p:nvSpPr>
          <p:spPr>
            <a:xfrm>
              <a:off x="3466" y="5083"/>
              <a:ext cx="2303" cy="2954"/>
            </a:xfrm>
            <a:prstGeom prst="roundRect">
              <a:avLst>
                <a:gd name="adj" fmla="val 5430"/>
              </a:avLst>
            </a:prstGeom>
            <a:solidFill>
              <a:schemeClr val="accent1">
                <a:alpha val="10000"/>
              </a:schemeClr>
            </a:solidFill>
            <a:ln w="12700">
              <a:solidFill>
                <a:schemeClr val="accent1">
                  <a:alpha val="61000"/>
                </a:schemeClr>
              </a:solidFill>
              <a:prstDash val="sysDash"/>
            </a:ln>
          </p:spPr>
          <p:style>
            <a:lnRef idx="0">
              <a:srgbClr val="FFFFFF"/>
            </a:lnRef>
            <a:fillRef idx="3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p>
              <a:pPr lvl="0" algn="ctr">
                <a:lnSpc>
                  <a:spcPct val="80000"/>
                </a:lnSpc>
                <a:buClrTx/>
                <a:buSzTx/>
                <a:buFontTx/>
              </a:pPr>
              <a:endParaRPr lang="zh-CN" altLang="en-US" sz="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78" name="同侧圆角矩形 277"/>
            <p:cNvSpPr/>
            <p:nvPr/>
          </p:nvSpPr>
          <p:spPr>
            <a:xfrm>
              <a:off x="3462" y="5083"/>
              <a:ext cx="2305" cy="323"/>
            </a:xfrm>
            <a:prstGeom prst="round2SameRect">
              <a:avLst>
                <a:gd name="adj1" fmla="val 28823"/>
                <a:gd name="adj2" fmla="val 0"/>
              </a:avLst>
            </a:prstGeom>
            <a:gradFill>
              <a:gsLst>
                <a:gs pos="0">
                  <a:srgbClr val="2957DE"/>
                </a:gs>
                <a:gs pos="100000">
                  <a:srgbClr val="598BF6"/>
                </a:gs>
              </a:gsLst>
              <a:lin ang="4500000" scaled="0"/>
            </a:gradFill>
            <a:ln w="60325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风控域</a:t>
              </a:r>
              <a:endPara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216" name="圆角矩形 215"/>
          <p:cNvSpPr/>
          <p:nvPr>
            <p:custDataLst>
              <p:tags r:id="rId65"/>
            </p:custDataLst>
          </p:nvPr>
        </p:nvSpPr>
        <p:spPr>
          <a:xfrm>
            <a:off x="3397250" y="275907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进件加工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79" name="圆角矩形 278"/>
          <p:cNvSpPr/>
          <p:nvPr>
            <p:custDataLst>
              <p:tags r:id="rId66"/>
            </p:custDataLst>
          </p:nvPr>
        </p:nvSpPr>
        <p:spPr>
          <a:xfrm>
            <a:off x="3397250" y="309054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融担审批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80" name="圆角矩形 279"/>
          <p:cNvSpPr/>
          <p:nvPr>
            <p:custDataLst>
              <p:tags r:id="rId67"/>
            </p:custDataLst>
          </p:nvPr>
        </p:nvSpPr>
        <p:spPr>
          <a:xfrm>
            <a:off x="3397250" y="3417570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富民内审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81" name="右箭头 280"/>
          <p:cNvSpPr/>
          <p:nvPr>
            <p:custDataLst>
              <p:tags r:id="rId68"/>
            </p:custDataLst>
          </p:nvPr>
        </p:nvSpPr>
        <p:spPr>
          <a:xfrm>
            <a:off x="4164965" y="3063240"/>
            <a:ext cx="200660" cy="288290"/>
          </a:xfrm>
          <a:prstGeom prst="rightArrow">
            <a:avLst/>
          </a:prstGeom>
          <a:solidFill>
            <a:srgbClr val="F5B482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t" anchorCtr="0" forceAA="0" compatLnSpc="1">
            <a:noAutofit/>
          </a:bodyPr>
          <a:p>
            <a:pPr lvl="0" algn="ctr">
              <a:lnSpc>
                <a:spcPct val="150000"/>
              </a:lnSpc>
              <a:buClrTx/>
              <a:buSzTx/>
              <a:buFontTx/>
            </a:pPr>
            <a:endParaRPr lang="zh-CN" altLang="en-US" sz="1400" b="1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FAFAFA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290" name="组合 289"/>
          <p:cNvGrpSpPr/>
          <p:nvPr/>
        </p:nvGrpSpPr>
        <p:grpSpPr>
          <a:xfrm rot="0">
            <a:off x="3351530" y="3945255"/>
            <a:ext cx="720725" cy="930275"/>
            <a:chOff x="3462" y="5073"/>
            <a:chExt cx="2307" cy="2964"/>
          </a:xfrm>
        </p:grpSpPr>
        <p:sp>
          <p:nvSpPr>
            <p:cNvPr id="291" name="圆角矩形 290"/>
            <p:cNvSpPr/>
            <p:nvPr>
              <p:custDataLst>
                <p:tags r:id="rId69"/>
              </p:custDataLst>
            </p:nvPr>
          </p:nvSpPr>
          <p:spPr>
            <a:xfrm>
              <a:off x="3466" y="5083"/>
              <a:ext cx="2303" cy="2954"/>
            </a:xfrm>
            <a:prstGeom prst="roundRect">
              <a:avLst>
                <a:gd name="adj" fmla="val 5430"/>
              </a:avLst>
            </a:prstGeom>
            <a:solidFill>
              <a:schemeClr val="accent1">
                <a:alpha val="10000"/>
              </a:schemeClr>
            </a:solidFill>
            <a:ln w="12700">
              <a:solidFill>
                <a:schemeClr val="accent1">
                  <a:alpha val="61000"/>
                </a:schemeClr>
              </a:solidFill>
              <a:prstDash val="sysDash"/>
            </a:ln>
          </p:spPr>
          <p:style>
            <a:lnRef idx="0">
              <a:srgbClr val="FFFFFF"/>
            </a:lnRef>
            <a:fillRef idx="3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p>
              <a:pPr lvl="0" algn="ctr">
                <a:lnSpc>
                  <a:spcPct val="80000"/>
                </a:lnSpc>
                <a:buClrTx/>
                <a:buSzTx/>
                <a:buFontTx/>
              </a:pPr>
              <a:endParaRPr lang="zh-CN" altLang="en-US" sz="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92" name="同侧圆角矩形 291"/>
            <p:cNvSpPr/>
            <p:nvPr/>
          </p:nvSpPr>
          <p:spPr>
            <a:xfrm>
              <a:off x="3462" y="5073"/>
              <a:ext cx="2305" cy="400"/>
            </a:xfrm>
            <a:prstGeom prst="round2SameRect">
              <a:avLst>
                <a:gd name="adj1" fmla="val 28823"/>
                <a:gd name="adj2" fmla="val 0"/>
              </a:avLst>
            </a:prstGeom>
            <a:gradFill>
              <a:gsLst>
                <a:gs pos="0">
                  <a:srgbClr val="2957DE"/>
                </a:gs>
                <a:gs pos="100000">
                  <a:srgbClr val="598BF6"/>
                </a:gs>
              </a:gsLst>
              <a:lin ang="4500000" scaled="0"/>
            </a:gradFill>
            <a:ln w="60325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交易域</a:t>
              </a:r>
              <a:endPara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293" name="圆角矩形 292"/>
          <p:cNvSpPr/>
          <p:nvPr>
            <p:custDataLst>
              <p:tags r:id="rId70"/>
            </p:custDataLst>
          </p:nvPr>
        </p:nvSpPr>
        <p:spPr>
          <a:xfrm>
            <a:off x="3379470" y="4204970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授信审批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94" name="圆角矩形 293"/>
          <p:cNvSpPr/>
          <p:nvPr>
            <p:custDataLst>
              <p:tags r:id="rId71"/>
            </p:custDataLst>
          </p:nvPr>
        </p:nvSpPr>
        <p:spPr>
          <a:xfrm>
            <a:off x="3393440" y="4527550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用信审批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306" name="组合 305"/>
          <p:cNvGrpSpPr/>
          <p:nvPr/>
        </p:nvGrpSpPr>
        <p:grpSpPr>
          <a:xfrm rot="0">
            <a:off x="3352800" y="5022850"/>
            <a:ext cx="720725" cy="1162050"/>
            <a:chOff x="3462" y="5073"/>
            <a:chExt cx="2307" cy="2964"/>
          </a:xfrm>
        </p:grpSpPr>
        <p:sp>
          <p:nvSpPr>
            <p:cNvPr id="307" name="圆角矩形 306"/>
            <p:cNvSpPr/>
            <p:nvPr>
              <p:custDataLst>
                <p:tags r:id="rId72"/>
              </p:custDataLst>
            </p:nvPr>
          </p:nvSpPr>
          <p:spPr>
            <a:xfrm>
              <a:off x="3466" y="5083"/>
              <a:ext cx="2303" cy="2954"/>
            </a:xfrm>
            <a:prstGeom prst="roundRect">
              <a:avLst>
                <a:gd name="adj" fmla="val 5430"/>
              </a:avLst>
            </a:prstGeom>
            <a:solidFill>
              <a:schemeClr val="accent1">
                <a:alpha val="10000"/>
              </a:schemeClr>
            </a:solidFill>
            <a:ln w="12700">
              <a:solidFill>
                <a:schemeClr val="accent1">
                  <a:alpha val="61000"/>
                </a:schemeClr>
              </a:solidFill>
              <a:prstDash val="sysDash"/>
            </a:ln>
          </p:spPr>
          <p:style>
            <a:lnRef idx="0">
              <a:srgbClr val="FFFFFF"/>
            </a:lnRef>
            <a:fillRef idx="3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p>
              <a:pPr lvl="0" algn="ctr">
                <a:lnSpc>
                  <a:spcPct val="80000"/>
                </a:lnSpc>
                <a:buClrTx/>
                <a:buSzTx/>
                <a:buFontTx/>
              </a:pPr>
              <a:endParaRPr lang="zh-CN" altLang="en-US" sz="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08" name="同侧圆角矩形 307"/>
            <p:cNvSpPr/>
            <p:nvPr/>
          </p:nvSpPr>
          <p:spPr>
            <a:xfrm>
              <a:off x="3462" y="5073"/>
              <a:ext cx="2305" cy="414"/>
            </a:xfrm>
            <a:prstGeom prst="round2SameRect">
              <a:avLst>
                <a:gd name="adj1" fmla="val 28823"/>
                <a:gd name="adj2" fmla="val 0"/>
              </a:avLst>
            </a:prstGeom>
            <a:gradFill>
              <a:gsLst>
                <a:gs pos="0">
                  <a:srgbClr val="2957DE"/>
                </a:gs>
                <a:gs pos="100000">
                  <a:srgbClr val="598BF6"/>
                </a:gs>
              </a:gsLst>
              <a:lin ang="4500000" scaled="0"/>
            </a:gradFill>
            <a:ln w="60325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账务域</a:t>
              </a:r>
              <a:endPara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309" name="圆角矩形 308"/>
          <p:cNvSpPr/>
          <p:nvPr>
            <p:custDataLst>
              <p:tags r:id="rId73"/>
            </p:custDataLst>
          </p:nvPr>
        </p:nvSpPr>
        <p:spPr>
          <a:xfrm>
            <a:off x="3394710" y="523684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借据开立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10" name="圆角矩形 309"/>
          <p:cNvSpPr/>
          <p:nvPr>
            <p:custDataLst>
              <p:tags r:id="rId74"/>
            </p:custDataLst>
          </p:nvPr>
        </p:nvSpPr>
        <p:spPr>
          <a:xfrm>
            <a:off x="3394710" y="555053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表外记账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11" name="圆角矩形 310"/>
          <p:cNvSpPr/>
          <p:nvPr>
            <p:custDataLst>
              <p:tags r:id="rId75"/>
            </p:custDataLst>
          </p:nvPr>
        </p:nvSpPr>
        <p:spPr>
          <a:xfrm>
            <a:off x="3394710" y="5858510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还款计划查询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12" name="右箭头 311"/>
          <p:cNvSpPr/>
          <p:nvPr>
            <p:custDataLst>
              <p:tags r:id="rId76"/>
            </p:custDataLst>
          </p:nvPr>
        </p:nvSpPr>
        <p:spPr>
          <a:xfrm rot="10800000">
            <a:off x="4170680" y="5504815"/>
            <a:ext cx="200660" cy="288290"/>
          </a:xfrm>
          <a:prstGeom prst="rightArrow">
            <a:avLst/>
          </a:prstGeom>
          <a:solidFill>
            <a:srgbClr val="F5B482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t" anchorCtr="0" forceAA="0" compatLnSpc="1">
            <a:noAutofit/>
          </a:bodyPr>
          <a:p>
            <a:pPr lvl="0" algn="ctr">
              <a:lnSpc>
                <a:spcPct val="150000"/>
              </a:lnSpc>
              <a:buClrTx/>
              <a:buSzTx/>
              <a:buFontTx/>
            </a:pPr>
            <a:endParaRPr lang="zh-CN" altLang="en-US" sz="1400" b="1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FAFAFA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15" name="右箭头 314"/>
          <p:cNvSpPr/>
          <p:nvPr>
            <p:custDataLst>
              <p:tags r:id="rId77"/>
            </p:custDataLst>
          </p:nvPr>
        </p:nvSpPr>
        <p:spPr>
          <a:xfrm rot="5400000">
            <a:off x="3794125" y="3728720"/>
            <a:ext cx="151765" cy="288290"/>
          </a:xfrm>
          <a:prstGeom prst="rightArrow">
            <a:avLst/>
          </a:prstGeom>
          <a:solidFill>
            <a:schemeClr val="bg1">
              <a:lumMod val="8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t" anchorCtr="0" forceAA="0" compatLnSpc="1">
            <a:noAutofit/>
          </a:bodyPr>
          <a:p>
            <a:pPr lvl="0" algn="ctr">
              <a:lnSpc>
                <a:spcPct val="150000"/>
              </a:lnSpc>
              <a:buClrTx/>
              <a:buSzTx/>
              <a:buFontTx/>
            </a:pPr>
            <a:endParaRPr lang="zh-CN" altLang="en-US" sz="1400" b="1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FAFAFA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16" name="右箭头 315"/>
          <p:cNvSpPr/>
          <p:nvPr>
            <p:custDataLst>
              <p:tags r:id="rId78"/>
            </p:custDataLst>
          </p:nvPr>
        </p:nvSpPr>
        <p:spPr>
          <a:xfrm rot="5400000">
            <a:off x="3639185" y="4810760"/>
            <a:ext cx="144145" cy="288290"/>
          </a:xfrm>
          <a:prstGeom prst="rightArrow">
            <a:avLst/>
          </a:prstGeom>
          <a:solidFill>
            <a:schemeClr val="bg1">
              <a:lumMod val="8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t" anchorCtr="0" forceAA="0" compatLnSpc="1">
            <a:noAutofit/>
          </a:bodyPr>
          <a:p>
            <a:pPr lvl="0" algn="ctr">
              <a:lnSpc>
                <a:spcPct val="150000"/>
              </a:lnSpc>
              <a:buClrTx/>
              <a:buSzTx/>
              <a:buFontTx/>
            </a:pPr>
            <a:endParaRPr lang="zh-CN" altLang="en-US" sz="1400" b="1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FAFAFA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17" name="右箭头 316"/>
          <p:cNvSpPr/>
          <p:nvPr>
            <p:custDataLst>
              <p:tags r:id="rId79"/>
            </p:custDataLst>
          </p:nvPr>
        </p:nvSpPr>
        <p:spPr>
          <a:xfrm rot="16200000">
            <a:off x="3507740" y="3727450"/>
            <a:ext cx="147955" cy="288290"/>
          </a:xfrm>
          <a:prstGeom prst="rightArrow">
            <a:avLst/>
          </a:prstGeom>
          <a:solidFill>
            <a:schemeClr val="bg1">
              <a:lumMod val="8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t" anchorCtr="0" forceAA="0" compatLnSpc="1">
            <a:noAutofit/>
          </a:bodyPr>
          <a:p>
            <a:pPr lvl="0" algn="ctr">
              <a:lnSpc>
                <a:spcPct val="150000"/>
              </a:lnSpc>
              <a:buClrTx/>
              <a:buSzTx/>
              <a:buFontTx/>
            </a:pPr>
            <a:endParaRPr lang="zh-CN" altLang="en-US" sz="1400" b="1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FAFAFA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318" name="组合 317"/>
          <p:cNvGrpSpPr/>
          <p:nvPr/>
        </p:nvGrpSpPr>
        <p:grpSpPr>
          <a:xfrm>
            <a:off x="2134235" y="2187575"/>
            <a:ext cx="909955" cy="3427095"/>
            <a:chOff x="6236" y="3395"/>
            <a:chExt cx="3131" cy="3633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319" name="圆角矩形 318"/>
            <p:cNvSpPr/>
            <p:nvPr>
              <p:custDataLst>
                <p:tags r:id="rId80"/>
              </p:custDataLst>
            </p:nvPr>
          </p:nvSpPr>
          <p:spPr>
            <a:xfrm>
              <a:off x="6236" y="3395"/>
              <a:ext cx="3131" cy="3633"/>
            </a:xfrm>
            <a:prstGeom prst="roundRect">
              <a:avLst>
                <a:gd name="adj" fmla="val 2948"/>
              </a:avLst>
            </a:prstGeom>
            <a:noFill/>
            <a:ln w="12700">
              <a:solidFill>
                <a:schemeClr val="accent1">
                  <a:alpha val="61000"/>
                </a:schemeClr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style>
            <a:lnRef idx="0">
              <a:srgbClr val="FFFFFF"/>
            </a:lnRef>
            <a:fillRef idx="3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p>
              <a:pPr lvl="0" algn="ctr">
                <a:lnSpc>
                  <a:spcPct val="80000"/>
                </a:lnSpc>
                <a:buClrTx/>
                <a:buSzTx/>
                <a:buFontTx/>
              </a:pPr>
              <a:endParaRPr lang="zh-CN" altLang="en-US" sz="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21" name="文本框 16"/>
            <p:cNvSpPr txBox="1"/>
            <p:nvPr>
              <p:custDataLst>
                <p:tags r:id="rId81"/>
              </p:custDataLst>
            </p:nvPr>
          </p:nvSpPr>
          <p:spPr>
            <a:xfrm>
              <a:off x="6236" y="3416"/>
              <a:ext cx="3131" cy="238"/>
            </a:xfrm>
            <a:prstGeom prst="rect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>
                <a:defRPr sz="2400">
                  <a:latin typeface="汉仪菱心体简" panose="02010400000101010101" charset="-122"/>
                  <a:ea typeface="汉仪菱心体简" panose="02010400000101010101" charset="-122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buClrTx/>
                <a:buSzTx/>
                <a:buFontTx/>
              </a:pPr>
              <a:r>
                <a:rPr lang="zh-CN" altLang="en-US" sz="1000" b="1" dirty="0">
                  <a:solidFill>
                    <a:srgbClr val="2A59DF"/>
                  </a:solidFill>
                  <a:latin typeface="微软雅黑" panose="020B0503020204020204" charset="-122"/>
                  <a:ea typeface="微软雅黑" panose="020B0503020204020204" charset="-122"/>
                  <a:sym typeface="HarmonyOS Sans SC Bold" panose="00000800000000000000" pitchFamily="2" charset="-122"/>
                </a:rPr>
                <a:t>信贷业务域</a:t>
              </a:r>
              <a:endParaRPr lang="en-US" altLang="zh-CN" sz="1000" b="1" dirty="0">
                <a:solidFill>
                  <a:srgbClr val="2A59DF"/>
                </a:solidFill>
                <a:latin typeface="微软雅黑" panose="020B0503020204020204" charset="-122"/>
                <a:ea typeface="微软雅黑" panose="020B0503020204020204" charset="-122"/>
                <a:sym typeface="HarmonyOS Sans SC Bold" panose="00000800000000000000" pitchFamily="2" charset="-122"/>
              </a:endParaRPr>
            </a:p>
          </p:txBody>
        </p:sp>
      </p:grpSp>
      <p:sp>
        <p:nvSpPr>
          <p:cNvPr id="323" name="圆角矩形 322"/>
          <p:cNvSpPr/>
          <p:nvPr>
            <p:custDataLst>
              <p:tags r:id="rId82"/>
            </p:custDataLst>
          </p:nvPr>
        </p:nvSpPr>
        <p:spPr>
          <a:xfrm>
            <a:off x="2272030" y="2705100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富民贷</a:t>
            </a:r>
            <a:r>
              <a:rPr lang="en-US" altLang="zh-CN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自营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24" name="圆角矩形 323"/>
          <p:cNvSpPr/>
          <p:nvPr>
            <p:custDataLst>
              <p:tags r:id="rId83"/>
            </p:custDataLst>
          </p:nvPr>
        </p:nvSpPr>
        <p:spPr>
          <a:xfrm>
            <a:off x="2272030" y="318833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富民贷</a:t>
            </a:r>
            <a:r>
              <a:rPr lang="en-US" altLang="zh-CN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联合贷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27" name="圆角矩形 326"/>
          <p:cNvSpPr/>
          <p:nvPr>
            <p:custDataLst>
              <p:tags r:id="rId84"/>
            </p:custDataLst>
          </p:nvPr>
        </p:nvSpPr>
        <p:spPr>
          <a:xfrm>
            <a:off x="2272030" y="3660140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富业贷</a:t>
            </a:r>
            <a:r>
              <a:rPr lang="en-US" altLang="zh-CN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小微融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28" name="圆角矩形 327"/>
          <p:cNvSpPr/>
          <p:nvPr>
            <p:custDataLst>
              <p:tags r:id="rId85"/>
            </p:custDataLst>
          </p:nvPr>
        </p:nvSpPr>
        <p:spPr>
          <a:xfrm>
            <a:off x="2272030" y="4124960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富业贷</a:t>
            </a:r>
            <a:r>
              <a:rPr lang="en-US" altLang="zh-CN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富税贷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29" name="圆角矩形 328"/>
          <p:cNvSpPr/>
          <p:nvPr>
            <p:custDataLst>
              <p:tags r:id="rId86"/>
            </p:custDataLst>
          </p:nvPr>
        </p:nvSpPr>
        <p:spPr>
          <a:xfrm>
            <a:off x="2272030" y="461327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富民贷</a:t>
            </a:r>
            <a:r>
              <a:rPr lang="en-US" altLang="zh-CN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车主贷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30" name="圆角矩形 329"/>
          <p:cNvSpPr/>
          <p:nvPr>
            <p:custDataLst>
              <p:tags r:id="rId87"/>
            </p:custDataLst>
          </p:nvPr>
        </p:nvSpPr>
        <p:spPr>
          <a:xfrm>
            <a:off x="2272030" y="5086350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富民贷</a:t>
            </a:r>
            <a:r>
              <a:rPr lang="en-US" altLang="zh-CN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经营贷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31" name="右箭头 330"/>
          <p:cNvSpPr/>
          <p:nvPr>
            <p:custDataLst>
              <p:tags r:id="rId88"/>
            </p:custDataLst>
          </p:nvPr>
        </p:nvSpPr>
        <p:spPr>
          <a:xfrm>
            <a:off x="3054350" y="4271010"/>
            <a:ext cx="200660" cy="288290"/>
          </a:xfrm>
          <a:prstGeom prst="rightArrow">
            <a:avLst/>
          </a:prstGeom>
          <a:solidFill>
            <a:srgbClr val="F5B482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t" anchorCtr="0" forceAA="0" compatLnSpc="1">
            <a:noAutofit/>
          </a:bodyPr>
          <a:p>
            <a:pPr lvl="0" algn="ctr">
              <a:lnSpc>
                <a:spcPct val="150000"/>
              </a:lnSpc>
              <a:buClrTx/>
              <a:buSzTx/>
              <a:buFontTx/>
            </a:pPr>
            <a:endParaRPr lang="zh-CN" altLang="en-US" sz="1400" b="1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FAFAFA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32" name="矩形 331"/>
          <p:cNvSpPr/>
          <p:nvPr/>
        </p:nvSpPr>
        <p:spPr>
          <a:xfrm>
            <a:off x="2740660" y="6059170"/>
            <a:ext cx="214630" cy="137160"/>
          </a:xfrm>
          <a:prstGeom prst="rect">
            <a:avLst/>
          </a:prstGeom>
          <a:gradFill>
            <a:gsLst>
              <a:gs pos="0">
                <a:srgbClr val="2957DE"/>
              </a:gs>
              <a:gs pos="100000">
                <a:srgbClr val="598BF6"/>
              </a:gs>
            </a:gsLst>
            <a:lin ang="4500000" scaled="0"/>
          </a:gradFill>
          <a:ln w="6032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矩形 332"/>
          <p:cNvSpPr/>
          <p:nvPr/>
        </p:nvSpPr>
        <p:spPr>
          <a:xfrm>
            <a:off x="2204720" y="2506980"/>
            <a:ext cx="788035" cy="3020060"/>
          </a:xfrm>
          <a:prstGeom prst="rect">
            <a:avLst/>
          </a:prstGeom>
          <a:solidFill>
            <a:srgbClr val="E5EC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86" name="组合 185"/>
          <p:cNvGrpSpPr/>
          <p:nvPr/>
        </p:nvGrpSpPr>
        <p:grpSpPr>
          <a:xfrm>
            <a:off x="4371340" y="2174875"/>
            <a:ext cx="3578248" cy="4117975"/>
            <a:chOff x="1068" y="3395"/>
            <a:chExt cx="8302" cy="3633"/>
          </a:xfrm>
        </p:grpSpPr>
        <p:sp>
          <p:nvSpPr>
            <p:cNvPr id="147" name="圆角矩形 146"/>
            <p:cNvSpPr/>
            <p:nvPr>
              <p:custDataLst>
                <p:tags r:id="rId1"/>
              </p:custDataLst>
            </p:nvPr>
          </p:nvSpPr>
          <p:spPr>
            <a:xfrm>
              <a:off x="1068" y="3395"/>
              <a:ext cx="8298" cy="3633"/>
            </a:xfrm>
            <a:prstGeom prst="roundRect">
              <a:avLst>
                <a:gd name="adj" fmla="val 2948"/>
              </a:avLst>
            </a:prstGeom>
            <a:solidFill>
              <a:schemeClr val="bg1"/>
            </a:solidFill>
            <a:ln w="12700">
              <a:solidFill>
                <a:schemeClr val="accent1">
                  <a:alpha val="61000"/>
                </a:schemeClr>
              </a:solidFill>
              <a:prstDash val="sysDash"/>
            </a:ln>
          </p:spPr>
          <p:style>
            <a:lnRef idx="0">
              <a:srgbClr val="FFFFFF"/>
            </a:lnRef>
            <a:fillRef idx="3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p>
              <a:pPr lvl="0" algn="ctr">
                <a:lnSpc>
                  <a:spcPct val="80000"/>
                </a:lnSpc>
                <a:buClrTx/>
                <a:buSzTx/>
                <a:buFontTx/>
              </a:pPr>
              <a:endParaRPr lang="zh-CN" altLang="en-US" sz="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83" name="文本框 16"/>
            <p:cNvSpPr txBox="1"/>
            <p:nvPr>
              <p:custDataLst>
                <p:tags r:id="rId2"/>
              </p:custDataLst>
            </p:nvPr>
          </p:nvSpPr>
          <p:spPr>
            <a:xfrm>
              <a:off x="1071" y="3402"/>
              <a:ext cx="8299" cy="238"/>
            </a:xfrm>
            <a:prstGeom prst="rect">
              <a:avLst/>
            </a:prstGeom>
            <a:noFill/>
            <a:effectLst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>
                <a:defRPr sz="2400">
                  <a:latin typeface="汉仪菱心体简" panose="02010400000101010101" charset="-122"/>
                  <a:ea typeface="汉仪菱心体简" panose="02010400000101010101" charset="-122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buClrTx/>
                <a:buSzTx/>
                <a:buFontTx/>
              </a:pPr>
              <a:r>
                <a:rPr lang="zh-CN" altLang="en-US" sz="1000" b="1" dirty="0">
                  <a:solidFill>
                    <a:srgbClr val="2A59DF"/>
                  </a:solidFill>
                  <a:latin typeface="微软雅黑" panose="020B0503020204020204" charset="-122"/>
                  <a:ea typeface="微软雅黑" panose="020B0503020204020204" charset="-122"/>
                  <a:sym typeface="HarmonyOS Sans SC Bold" panose="00000800000000000000" pitchFamily="2" charset="-122"/>
                </a:rPr>
                <a:t>担保增信撮合域</a:t>
              </a:r>
              <a:endParaRPr lang="en-US" altLang="zh-CN" sz="1000" b="1" dirty="0">
                <a:solidFill>
                  <a:srgbClr val="2A59DF"/>
                </a:solidFill>
                <a:latin typeface="微软雅黑" panose="020B0503020204020204" charset="-122"/>
                <a:ea typeface="微软雅黑" panose="020B0503020204020204" charset="-122"/>
                <a:sym typeface="HarmonyOS Sans SC Bold" panose="00000800000000000000" pitchFamily="2" charset="-122"/>
              </a:endParaRPr>
            </a:p>
          </p:txBody>
        </p:sp>
      </p:grpSp>
      <p:sp>
        <p:nvSpPr>
          <p:cNvPr id="184" name="圆角矩形 183"/>
          <p:cNvSpPr/>
          <p:nvPr>
            <p:custDataLst>
              <p:tags r:id="rId3"/>
            </p:custDataLst>
          </p:nvPr>
        </p:nvSpPr>
        <p:spPr>
          <a:xfrm>
            <a:off x="6234430" y="5014595"/>
            <a:ext cx="1551305" cy="1150620"/>
          </a:xfrm>
          <a:prstGeom prst="roundRect">
            <a:avLst>
              <a:gd name="adj" fmla="val 5430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61000"/>
              </a:schemeClr>
            </a:solidFill>
            <a:prstDash val="sysDash"/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p>
            <a:pPr lvl="0" algn="ctr">
              <a:lnSpc>
                <a:spcPct val="80000"/>
              </a:lnSpc>
              <a:buClrTx/>
              <a:buSzTx/>
              <a:buFontTx/>
            </a:pPr>
            <a:endParaRPr lang="zh-CN" altLang="en-US" sz="800" b="1">
              <a:solidFill>
                <a:schemeClr val="tx1">
                  <a:lumMod val="95000"/>
                  <a:lumOff val="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191" name="组合 190"/>
          <p:cNvGrpSpPr/>
          <p:nvPr/>
        </p:nvGrpSpPr>
        <p:grpSpPr>
          <a:xfrm rot="0">
            <a:off x="4543425" y="2472055"/>
            <a:ext cx="1553845" cy="1320165"/>
            <a:chOff x="3462" y="5073"/>
            <a:chExt cx="2307" cy="2964"/>
          </a:xfrm>
        </p:grpSpPr>
        <p:sp>
          <p:nvSpPr>
            <p:cNvPr id="192" name="圆角矩形 191"/>
            <p:cNvSpPr/>
            <p:nvPr>
              <p:custDataLst>
                <p:tags r:id="rId4"/>
              </p:custDataLst>
            </p:nvPr>
          </p:nvSpPr>
          <p:spPr>
            <a:xfrm>
              <a:off x="3466" y="5083"/>
              <a:ext cx="2303" cy="2954"/>
            </a:xfrm>
            <a:prstGeom prst="roundRect">
              <a:avLst>
                <a:gd name="adj" fmla="val 5430"/>
              </a:avLst>
            </a:prstGeom>
            <a:solidFill>
              <a:schemeClr val="accent1">
                <a:alpha val="10000"/>
              </a:schemeClr>
            </a:solidFill>
            <a:ln w="12700">
              <a:solidFill>
                <a:schemeClr val="accent1">
                  <a:alpha val="61000"/>
                </a:schemeClr>
              </a:solidFill>
              <a:prstDash val="sysDash"/>
            </a:ln>
          </p:spPr>
          <p:style>
            <a:lnRef idx="0">
              <a:srgbClr val="FFFFFF"/>
            </a:lnRef>
            <a:fillRef idx="3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p>
              <a:pPr lvl="0" algn="ctr">
                <a:lnSpc>
                  <a:spcPct val="80000"/>
                </a:lnSpc>
                <a:buClrTx/>
                <a:buSzTx/>
                <a:buFontTx/>
              </a:pPr>
              <a:endParaRPr lang="zh-CN" altLang="en-US" sz="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95" name="同侧圆角矩形 194"/>
            <p:cNvSpPr/>
            <p:nvPr/>
          </p:nvSpPr>
          <p:spPr>
            <a:xfrm>
              <a:off x="3462" y="5073"/>
              <a:ext cx="2305" cy="312"/>
            </a:xfrm>
            <a:prstGeom prst="round2SameRect">
              <a:avLst>
                <a:gd name="adj1" fmla="val 28823"/>
                <a:gd name="adj2" fmla="val 0"/>
              </a:avLst>
            </a:prstGeom>
            <a:gradFill>
              <a:gsLst>
                <a:gs pos="0">
                  <a:srgbClr val="2957DE"/>
                </a:gs>
                <a:gs pos="100000">
                  <a:srgbClr val="598BF6"/>
                </a:gs>
              </a:gsLst>
              <a:lin ang="4500000" scaled="0"/>
            </a:gradFill>
            <a:ln w="60325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交易控制</a:t>
              </a:r>
              <a:endPara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197" name="圆角矩形 196"/>
          <p:cNvSpPr/>
          <p:nvPr>
            <p:custDataLst>
              <p:tags r:id="rId5"/>
            </p:custDataLst>
          </p:nvPr>
        </p:nvSpPr>
        <p:spPr>
          <a:xfrm>
            <a:off x="6231890" y="2476500"/>
            <a:ext cx="1551305" cy="1315720"/>
          </a:xfrm>
          <a:prstGeom prst="roundRect">
            <a:avLst>
              <a:gd name="adj" fmla="val 5430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61000"/>
              </a:schemeClr>
            </a:solidFill>
            <a:prstDash val="sysDash"/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p>
            <a:pPr lvl="0" algn="ctr">
              <a:lnSpc>
                <a:spcPct val="80000"/>
              </a:lnSpc>
              <a:buClrTx/>
              <a:buSzTx/>
              <a:buFontTx/>
            </a:pPr>
            <a:endParaRPr lang="zh-CN" altLang="en-US" sz="800" b="1">
              <a:solidFill>
                <a:schemeClr val="tx1">
                  <a:lumMod val="95000"/>
                  <a:lumOff val="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20" name="圆角矩形 219"/>
          <p:cNvSpPr/>
          <p:nvPr>
            <p:custDataLst>
              <p:tags r:id="rId6"/>
            </p:custDataLst>
          </p:nvPr>
        </p:nvSpPr>
        <p:spPr>
          <a:xfrm>
            <a:off x="4636135" y="2763520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流量限制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21" name="圆角矩形 220"/>
          <p:cNvSpPr/>
          <p:nvPr>
            <p:custDataLst>
              <p:tags r:id="rId7"/>
            </p:custDataLst>
          </p:nvPr>
        </p:nvSpPr>
        <p:spPr>
          <a:xfrm>
            <a:off x="5373370" y="276796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收单异步处理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22" name="圆角矩形 221"/>
          <p:cNvSpPr/>
          <p:nvPr>
            <p:custDataLst>
              <p:tags r:id="rId8"/>
            </p:custDataLst>
          </p:nvPr>
        </p:nvSpPr>
        <p:spPr>
          <a:xfrm>
            <a:off x="4636135" y="309054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报文加工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77" name="圆角矩形 276"/>
          <p:cNvSpPr/>
          <p:nvPr>
            <p:custDataLst>
              <p:tags r:id="rId9"/>
            </p:custDataLst>
          </p:nvPr>
        </p:nvSpPr>
        <p:spPr>
          <a:xfrm>
            <a:off x="5373370" y="3093720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机构路由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83" name="圆角矩形 282"/>
          <p:cNvSpPr/>
          <p:nvPr>
            <p:custDataLst>
              <p:tags r:id="rId10"/>
            </p:custDataLst>
          </p:nvPr>
        </p:nvSpPr>
        <p:spPr>
          <a:xfrm>
            <a:off x="5373370" y="341947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时效控制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96" name="圆角矩形 295"/>
          <p:cNvSpPr/>
          <p:nvPr>
            <p:custDataLst>
              <p:tags r:id="rId11"/>
            </p:custDataLst>
          </p:nvPr>
        </p:nvSpPr>
        <p:spPr>
          <a:xfrm>
            <a:off x="4636135" y="3417570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异步回调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97" name="圆角矩形 296"/>
          <p:cNvSpPr/>
          <p:nvPr>
            <p:custDataLst>
              <p:tags r:id="rId12"/>
            </p:custDataLst>
          </p:nvPr>
        </p:nvSpPr>
        <p:spPr>
          <a:xfrm>
            <a:off x="6328410" y="276796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用户画像校验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99" name="圆角矩形 298"/>
          <p:cNvSpPr/>
          <p:nvPr>
            <p:custDataLst>
              <p:tags r:id="rId13"/>
            </p:custDataLst>
          </p:nvPr>
        </p:nvSpPr>
        <p:spPr>
          <a:xfrm>
            <a:off x="7054850" y="276796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放款计划校验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00" name="圆角矩形 299"/>
          <p:cNvSpPr/>
          <p:nvPr>
            <p:custDataLst>
              <p:tags r:id="rId14"/>
            </p:custDataLst>
          </p:nvPr>
        </p:nvSpPr>
        <p:spPr>
          <a:xfrm>
            <a:off x="6328410" y="342074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机构黑名单校验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01" name="圆角矩形 300"/>
          <p:cNvSpPr/>
          <p:nvPr>
            <p:custDataLst>
              <p:tags r:id="rId15"/>
            </p:custDataLst>
          </p:nvPr>
        </p:nvSpPr>
        <p:spPr>
          <a:xfrm>
            <a:off x="7054850" y="342074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权重随机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02" name="圆角矩形 301"/>
          <p:cNvSpPr/>
          <p:nvPr>
            <p:custDataLst>
              <p:tags r:id="rId16"/>
            </p:custDataLst>
          </p:nvPr>
        </p:nvSpPr>
        <p:spPr>
          <a:xfrm>
            <a:off x="7054850" y="309435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机构黑暗期管控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04" name="圆角矩形 303"/>
          <p:cNvSpPr/>
          <p:nvPr>
            <p:custDataLst>
              <p:tags r:id="rId17"/>
            </p:custDataLst>
          </p:nvPr>
        </p:nvSpPr>
        <p:spPr>
          <a:xfrm>
            <a:off x="6328410" y="309435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机构异常熔断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49" name="圆角矩形 148"/>
          <p:cNvSpPr/>
          <p:nvPr>
            <p:custDataLst>
              <p:tags r:id="rId18"/>
            </p:custDataLst>
          </p:nvPr>
        </p:nvSpPr>
        <p:spPr>
          <a:xfrm>
            <a:off x="7990840" y="440055"/>
            <a:ext cx="3240405" cy="629285"/>
          </a:xfrm>
          <a:prstGeom prst="roundRect">
            <a:avLst>
              <a:gd name="adj" fmla="val 5430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61000"/>
              </a:schemeClr>
            </a:solidFill>
            <a:prstDash val="sysDash"/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p>
            <a:pPr lvl="0" algn="ctr">
              <a:lnSpc>
                <a:spcPct val="80000"/>
              </a:lnSpc>
              <a:buClrTx/>
              <a:buSzTx/>
              <a:buFontTx/>
            </a:pPr>
            <a:endParaRPr lang="zh-CN" altLang="en-US" sz="800" b="1">
              <a:solidFill>
                <a:schemeClr val="tx1">
                  <a:lumMod val="95000"/>
                  <a:lumOff val="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348" name="组合 347"/>
          <p:cNvGrpSpPr/>
          <p:nvPr/>
        </p:nvGrpSpPr>
        <p:grpSpPr>
          <a:xfrm rot="0">
            <a:off x="8048625" y="734060"/>
            <a:ext cx="3128645" cy="237490"/>
            <a:chOff x="1683" y="3502"/>
            <a:chExt cx="7213" cy="374"/>
          </a:xfrm>
        </p:grpSpPr>
        <p:sp>
          <p:nvSpPr>
            <p:cNvPr id="151" name="圆角矩形 150"/>
            <p:cNvSpPr/>
            <p:nvPr>
              <p:custDataLst>
                <p:tags r:id="rId19"/>
              </p:custDataLst>
            </p:nvPr>
          </p:nvSpPr>
          <p:spPr>
            <a:xfrm>
              <a:off x="1683" y="3502"/>
              <a:ext cx="998" cy="374"/>
            </a:xfrm>
            <a:prstGeom prst="roundRect">
              <a:avLst>
                <a:gd name="adj" fmla="val 9803"/>
              </a:avLst>
            </a:prstGeom>
            <a:solidFill>
              <a:schemeClr val="bg1"/>
            </a:solidFill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none" tIns="0" bIns="0" numCol="1" spcCol="0" rtlCol="0" fromWordArt="0" anchor="ctr" anchorCtr="0" forceAA="0" compatLnSpc="1">
              <a:noAutofit/>
            </a:bodyPr>
            <a:p>
              <a:pPr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600" b="1">
                  <a:solidFill>
                    <a:srgbClr val="1E54E3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流量路由</a:t>
              </a:r>
              <a:endPara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52" name="圆角矩形 151"/>
            <p:cNvSpPr/>
            <p:nvPr>
              <p:custDataLst>
                <p:tags r:id="rId20"/>
              </p:custDataLst>
            </p:nvPr>
          </p:nvSpPr>
          <p:spPr>
            <a:xfrm>
              <a:off x="4169" y="3502"/>
              <a:ext cx="998" cy="374"/>
            </a:xfrm>
            <a:prstGeom prst="roundRect">
              <a:avLst>
                <a:gd name="adj" fmla="val 9803"/>
              </a:avLst>
            </a:prstGeom>
            <a:solidFill>
              <a:schemeClr val="bg1"/>
            </a:solidFill>
            <a:ln w="25400">
              <a:solidFill>
                <a:srgbClr val="FFC000"/>
              </a:solidFill>
            </a:ln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none" tIns="0" bIns="0" numCol="1" spcCol="0" rtlCol="0" fromWordArt="0" anchor="ctr" anchorCtr="0" forceAA="0" compatLnSpc="1">
              <a:noAutofit/>
            </a:bodyPr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600" b="1">
                  <a:solidFill>
                    <a:srgbClr val="1E54E3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策略管理</a:t>
              </a:r>
              <a:endPara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53" name="圆角矩形 152"/>
            <p:cNvSpPr/>
            <p:nvPr>
              <p:custDataLst>
                <p:tags r:id="rId21"/>
              </p:custDataLst>
            </p:nvPr>
          </p:nvSpPr>
          <p:spPr>
            <a:xfrm>
              <a:off x="6632" y="3502"/>
              <a:ext cx="998" cy="374"/>
            </a:xfrm>
            <a:prstGeom prst="roundRect">
              <a:avLst>
                <a:gd name="adj" fmla="val 9803"/>
              </a:avLst>
            </a:prstGeom>
            <a:solidFill>
              <a:schemeClr val="bg1"/>
            </a:solidFill>
            <a:ln w="25400">
              <a:solidFill>
                <a:srgbClr val="92D050"/>
              </a:solidFill>
            </a:ln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none" tIns="0" bIns="0" numCol="1" spcCol="0" rtlCol="0" fromWordArt="0" anchor="ctr" anchorCtr="0" forceAA="0" compatLnSpc="1">
              <a:noAutofit/>
            </a:bodyPr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600" b="1">
                  <a:solidFill>
                    <a:srgbClr val="1E54E3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资产评估</a:t>
              </a:r>
              <a:endPara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55" name="圆角矩形 154"/>
            <p:cNvSpPr/>
            <p:nvPr>
              <p:custDataLst>
                <p:tags r:id="rId22"/>
              </p:custDataLst>
            </p:nvPr>
          </p:nvSpPr>
          <p:spPr>
            <a:xfrm>
              <a:off x="2926" y="3502"/>
              <a:ext cx="998" cy="374"/>
            </a:xfrm>
            <a:prstGeom prst="roundRect">
              <a:avLst>
                <a:gd name="adj" fmla="val 9803"/>
              </a:avLst>
            </a:prstGeom>
            <a:solidFill>
              <a:schemeClr val="bg1"/>
            </a:solidFill>
            <a:ln w="25400">
              <a:solidFill>
                <a:srgbClr val="92D050"/>
              </a:solidFill>
            </a:ln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none" tIns="0" bIns="0" numCol="1" spcCol="0" rtlCol="0" fromWordArt="0" anchor="ctr" anchorCtr="0" forceAA="0" compatLnSpc="1">
              <a:noAutofit/>
            </a:bodyPr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600" b="1">
                  <a:solidFill>
                    <a:srgbClr val="1E54E3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资产路由</a:t>
              </a:r>
              <a:endPara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62" name="圆角矩形 161"/>
            <p:cNvSpPr/>
            <p:nvPr>
              <p:custDataLst>
                <p:tags r:id="rId23"/>
              </p:custDataLst>
            </p:nvPr>
          </p:nvSpPr>
          <p:spPr>
            <a:xfrm>
              <a:off x="7898" y="3502"/>
              <a:ext cx="998" cy="374"/>
            </a:xfrm>
            <a:prstGeom prst="roundRect">
              <a:avLst>
                <a:gd name="adj" fmla="val 9803"/>
              </a:avLst>
            </a:prstGeom>
            <a:solidFill>
              <a:schemeClr val="bg1"/>
            </a:solidFill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none" tIns="0" bIns="0" numCol="1" spcCol="0" rtlCol="0" fromWordArt="0" anchor="ctr" anchorCtr="0" forceAA="0" compatLnSpc="1">
              <a:noAutofit/>
            </a:bodyPr>
            <a:p>
              <a:pPr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600" b="1">
                  <a:solidFill>
                    <a:srgbClr val="1E54E3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数据获取</a:t>
              </a:r>
              <a:endPara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63" name="圆角矩形 162"/>
            <p:cNvSpPr/>
            <p:nvPr>
              <p:custDataLst>
                <p:tags r:id="rId24"/>
              </p:custDataLst>
            </p:nvPr>
          </p:nvSpPr>
          <p:spPr>
            <a:xfrm>
              <a:off x="5412" y="3502"/>
              <a:ext cx="998" cy="374"/>
            </a:xfrm>
            <a:prstGeom prst="roundRect">
              <a:avLst>
                <a:gd name="adj" fmla="val 9803"/>
              </a:avLst>
            </a:prstGeom>
            <a:solidFill>
              <a:schemeClr val="bg1"/>
            </a:solidFill>
            <a:effectLst/>
          </p:spPr>
          <p:style>
            <a:lnRef idx="0">
              <a:srgbClr val="FFFFFF"/>
            </a:lnRef>
            <a:fillRef idx="1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none" tIns="0" bIns="0" numCol="1" spcCol="0" rtlCol="0" fromWordArt="0" anchor="ctr" anchorCtr="0" forceAA="0" compatLnSpc="1">
              <a:noAutofit/>
            </a:bodyPr>
            <a:p>
              <a:pPr lv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r>
                <a:rPr lang="zh-CN" altLang="en-US" sz="600" b="1">
                  <a:solidFill>
                    <a:srgbClr val="1E54E3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指标管理</a:t>
              </a:r>
              <a:endPara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349" name="同侧圆角矩形 348"/>
          <p:cNvSpPr/>
          <p:nvPr/>
        </p:nvSpPr>
        <p:spPr>
          <a:xfrm>
            <a:off x="7992745" y="440055"/>
            <a:ext cx="3238500" cy="198120"/>
          </a:xfrm>
          <a:prstGeom prst="round2SameRect">
            <a:avLst>
              <a:gd name="adj1" fmla="val 28823"/>
              <a:gd name="adj2" fmla="val 0"/>
            </a:avLst>
          </a:prstGeom>
          <a:solidFill>
            <a:srgbClr val="FFC000"/>
          </a:solidFill>
          <a:ln w="6032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资产</a:t>
            </a:r>
            <a:endParaRPr lang="zh-CN" altLang="en-US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14" name="右箭头 413"/>
          <p:cNvSpPr/>
          <p:nvPr>
            <p:custDataLst>
              <p:tags r:id="rId25"/>
            </p:custDataLst>
          </p:nvPr>
        </p:nvSpPr>
        <p:spPr>
          <a:xfrm rot="5400000">
            <a:off x="6803390" y="735330"/>
            <a:ext cx="200660" cy="288290"/>
          </a:xfrm>
          <a:prstGeom prst="rightArrow">
            <a:avLst/>
          </a:prstGeom>
          <a:solidFill>
            <a:srgbClr val="F5B482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t" anchorCtr="0" forceAA="0" compatLnSpc="1">
            <a:noAutofit/>
          </a:bodyPr>
          <a:p>
            <a:pPr lvl="0" algn="ctr">
              <a:lnSpc>
                <a:spcPct val="150000"/>
              </a:lnSpc>
              <a:buClrTx/>
              <a:buSzTx/>
              <a:buFontTx/>
            </a:pPr>
            <a:endParaRPr lang="zh-CN" altLang="en-US" sz="1400" b="1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FAFAFA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4" name="圆角矩形 23"/>
          <p:cNvSpPr/>
          <p:nvPr>
            <p:custDataLst>
              <p:tags r:id="rId26"/>
            </p:custDataLst>
          </p:nvPr>
        </p:nvSpPr>
        <p:spPr>
          <a:xfrm>
            <a:off x="2150745" y="5683250"/>
            <a:ext cx="900430" cy="607060"/>
          </a:xfrm>
          <a:prstGeom prst="roundRect">
            <a:avLst>
              <a:gd name="adj" fmla="val 2948"/>
            </a:avLst>
          </a:prstGeom>
          <a:solidFill>
            <a:schemeClr val="bg1"/>
          </a:solidFill>
          <a:ln w="12700">
            <a:solidFill>
              <a:schemeClr val="accent1">
                <a:alpha val="61000"/>
              </a:schemeClr>
            </a:solidFill>
            <a:prstDash val="sysDash"/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p>
            <a:pPr lvl="0" algn="ctr">
              <a:lnSpc>
                <a:spcPct val="80000"/>
              </a:lnSpc>
              <a:buClrTx/>
              <a:buSzTx/>
              <a:buFontTx/>
            </a:pPr>
            <a:endParaRPr lang="zh-CN" altLang="en-US" sz="800" b="1">
              <a:solidFill>
                <a:schemeClr val="tx1">
                  <a:lumMod val="95000"/>
                  <a:lumOff val="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2204720" y="5815965"/>
            <a:ext cx="751205" cy="153670"/>
            <a:chOff x="15515" y="9638"/>
            <a:chExt cx="1183" cy="242"/>
          </a:xfrm>
        </p:grpSpPr>
        <p:sp>
          <p:nvSpPr>
            <p:cNvPr id="25" name="文本框 24"/>
            <p:cNvSpPr txBox="1"/>
            <p:nvPr/>
          </p:nvSpPr>
          <p:spPr>
            <a:xfrm>
              <a:off x="15515" y="9638"/>
              <a:ext cx="844" cy="193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spAutoFit/>
            </a:bodyPr>
            <a:p>
              <a:r>
                <a:rPr lang="zh-CN" altLang="en-US" sz="800" b="1">
                  <a:solidFill>
                    <a:srgbClr val="0841B2"/>
                  </a:solidFill>
                </a:rPr>
                <a:t>新建系统</a:t>
              </a:r>
              <a:endParaRPr lang="zh-CN" altLang="en-US" sz="800" b="1">
                <a:solidFill>
                  <a:srgbClr val="0841B2"/>
                </a:solidFill>
              </a:endParaRPr>
            </a:p>
          </p:txBody>
        </p:sp>
        <p:sp>
          <p:nvSpPr>
            <p:cNvPr id="26" name="同侧圆角矩形 25"/>
            <p:cNvSpPr/>
            <p:nvPr/>
          </p:nvSpPr>
          <p:spPr>
            <a:xfrm>
              <a:off x="16359" y="9664"/>
              <a:ext cx="339" cy="216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92D050"/>
            </a:solidFill>
            <a:ln w="60325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29" name="文本框 28"/>
          <p:cNvSpPr txBox="1"/>
          <p:nvPr/>
        </p:nvSpPr>
        <p:spPr>
          <a:xfrm>
            <a:off x="2204720" y="6059170"/>
            <a:ext cx="535940" cy="122555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spAutoFit/>
          </a:bodyPr>
          <a:p>
            <a:r>
              <a:rPr lang="zh-CN" altLang="en-US" sz="800" b="1">
                <a:solidFill>
                  <a:srgbClr val="0841B2"/>
                </a:solidFill>
              </a:rPr>
              <a:t>存量系统</a:t>
            </a:r>
            <a:endParaRPr lang="zh-CN" altLang="en-US" sz="800" b="1">
              <a:solidFill>
                <a:srgbClr val="0841B2"/>
              </a:solidFill>
            </a:endParaRPr>
          </a:p>
        </p:txBody>
      </p:sp>
      <p:grpSp>
        <p:nvGrpSpPr>
          <p:cNvPr id="34" name="组合 33"/>
          <p:cNvGrpSpPr/>
          <p:nvPr/>
        </p:nvGrpSpPr>
        <p:grpSpPr>
          <a:xfrm rot="0">
            <a:off x="4559300" y="3909060"/>
            <a:ext cx="1553845" cy="981710"/>
            <a:chOff x="3462" y="5073"/>
            <a:chExt cx="2307" cy="2964"/>
          </a:xfrm>
        </p:grpSpPr>
        <p:sp>
          <p:nvSpPr>
            <p:cNvPr id="69" name="同侧圆角矩形 68"/>
            <p:cNvSpPr/>
            <p:nvPr/>
          </p:nvSpPr>
          <p:spPr>
            <a:xfrm>
              <a:off x="3462" y="5073"/>
              <a:ext cx="2305" cy="428"/>
            </a:xfrm>
            <a:prstGeom prst="round2SameRect">
              <a:avLst>
                <a:gd name="adj1" fmla="val 28823"/>
                <a:gd name="adj2" fmla="val 0"/>
              </a:avLst>
            </a:prstGeom>
            <a:gradFill>
              <a:gsLst>
                <a:gs pos="0">
                  <a:srgbClr val="2957DE"/>
                </a:gs>
                <a:gs pos="100000">
                  <a:srgbClr val="598BF6"/>
                </a:gs>
              </a:gsLst>
              <a:lin ang="4500000" scaled="0"/>
            </a:gradFill>
            <a:ln w="60325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流程服务</a:t>
              </a:r>
              <a:endPara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49" name="圆角矩形 48"/>
            <p:cNvSpPr/>
            <p:nvPr>
              <p:custDataLst>
                <p:tags r:id="rId27"/>
              </p:custDataLst>
            </p:nvPr>
          </p:nvSpPr>
          <p:spPr>
            <a:xfrm>
              <a:off x="3466" y="5083"/>
              <a:ext cx="2303" cy="2954"/>
            </a:xfrm>
            <a:prstGeom prst="roundRect">
              <a:avLst>
                <a:gd name="adj" fmla="val 5430"/>
              </a:avLst>
            </a:prstGeom>
            <a:solidFill>
              <a:schemeClr val="accent1">
                <a:alpha val="10000"/>
              </a:schemeClr>
            </a:solidFill>
            <a:ln w="12700">
              <a:solidFill>
                <a:schemeClr val="accent1">
                  <a:alpha val="61000"/>
                </a:schemeClr>
              </a:solidFill>
              <a:prstDash val="sysDash"/>
            </a:ln>
          </p:spPr>
          <p:style>
            <a:lnRef idx="0">
              <a:srgbClr val="FFFFFF"/>
            </a:lnRef>
            <a:fillRef idx="3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p>
              <a:pPr lvl="0" algn="ctr">
                <a:lnSpc>
                  <a:spcPct val="80000"/>
                </a:lnSpc>
                <a:buClrTx/>
                <a:buSzTx/>
                <a:buFontTx/>
              </a:pPr>
              <a:endParaRPr lang="zh-CN" altLang="en-US" sz="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70" name="圆角矩形 69"/>
          <p:cNvSpPr/>
          <p:nvPr>
            <p:custDataLst>
              <p:tags r:id="rId28"/>
            </p:custDataLst>
          </p:nvPr>
        </p:nvSpPr>
        <p:spPr>
          <a:xfrm>
            <a:off x="4652010" y="420052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流程编排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2" name="圆角矩形 81"/>
          <p:cNvSpPr/>
          <p:nvPr>
            <p:custDataLst>
              <p:tags r:id="rId29"/>
            </p:custDataLst>
          </p:nvPr>
        </p:nvSpPr>
        <p:spPr>
          <a:xfrm>
            <a:off x="5389245" y="4204970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报文转换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3" name="圆角矩形 82"/>
          <p:cNvSpPr/>
          <p:nvPr>
            <p:custDataLst>
              <p:tags r:id="rId30"/>
            </p:custDataLst>
          </p:nvPr>
        </p:nvSpPr>
        <p:spPr>
          <a:xfrm>
            <a:off x="4652010" y="4527550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自适应查询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6" name="圆角矩形 85"/>
          <p:cNvSpPr/>
          <p:nvPr>
            <p:custDataLst>
              <p:tags r:id="rId31"/>
            </p:custDataLst>
          </p:nvPr>
        </p:nvSpPr>
        <p:spPr>
          <a:xfrm>
            <a:off x="5389880" y="4527550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机构主动回调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120" name="组合 119"/>
          <p:cNvGrpSpPr/>
          <p:nvPr/>
        </p:nvGrpSpPr>
        <p:grpSpPr>
          <a:xfrm rot="0">
            <a:off x="6217920" y="3894455"/>
            <a:ext cx="1553845" cy="981710"/>
            <a:chOff x="3462" y="5073"/>
            <a:chExt cx="2307" cy="2964"/>
          </a:xfrm>
        </p:grpSpPr>
        <p:sp>
          <p:nvSpPr>
            <p:cNvPr id="132" name="圆角矩形 131"/>
            <p:cNvSpPr/>
            <p:nvPr>
              <p:custDataLst>
                <p:tags r:id="rId32"/>
              </p:custDataLst>
            </p:nvPr>
          </p:nvSpPr>
          <p:spPr>
            <a:xfrm>
              <a:off x="3466" y="5083"/>
              <a:ext cx="2303" cy="2954"/>
            </a:xfrm>
            <a:prstGeom prst="roundRect">
              <a:avLst>
                <a:gd name="adj" fmla="val 5430"/>
              </a:avLst>
            </a:prstGeom>
            <a:solidFill>
              <a:schemeClr val="accent1">
                <a:alpha val="10000"/>
              </a:schemeClr>
            </a:solidFill>
            <a:ln w="12700">
              <a:solidFill>
                <a:schemeClr val="accent1">
                  <a:alpha val="61000"/>
                </a:schemeClr>
              </a:solidFill>
              <a:prstDash val="sysDash"/>
            </a:ln>
          </p:spPr>
          <p:style>
            <a:lnRef idx="0">
              <a:srgbClr val="FFFFFF"/>
            </a:lnRef>
            <a:fillRef idx="3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p>
              <a:pPr lvl="0" algn="ctr">
                <a:lnSpc>
                  <a:spcPct val="80000"/>
                </a:lnSpc>
                <a:buClrTx/>
                <a:buSzTx/>
                <a:buFontTx/>
              </a:pPr>
              <a:endParaRPr lang="zh-CN" altLang="en-US" sz="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42" name="同侧圆角矩形 141"/>
            <p:cNvSpPr/>
            <p:nvPr/>
          </p:nvSpPr>
          <p:spPr>
            <a:xfrm>
              <a:off x="3462" y="5073"/>
              <a:ext cx="2305" cy="428"/>
            </a:xfrm>
            <a:prstGeom prst="round2SameRect">
              <a:avLst>
                <a:gd name="adj1" fmla="val 28823"/>
                <a:gd name="adj2" fmla="val 0"/>
              </a:avLst>
            </a:prstGeom>
            <a:gradFill>
              <a:gsLst>
                <a:gs pos="0">
                  <a:srgbClr val="2957DE"/>
                </a:gs>
                <a:gs pos="100000">
                  <a:srgbClr val="598BF6"/>
                </a:gs>
              </a:gsLst>
              <a:lin ang="4500000" scaled="0"/>
            </a:gradFill>
            <a:ln w="60325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机构连接</a:t>
              </a:r>
              <a:endPara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154" name="圆角矩形 153"/>
          <p:cNvSpPr/>
          <p:nvPr>
            <p:custDataLst>
              <p:tags r:id="rId33"/>
            </p:custDataLst>
          </p:nvPr>
        </p:nvSpPr>
        <p:spPr>
          <a:xfrm>
            <a:off x="6310630" y="4185920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加密解密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57" name="圆角矩形 156"/>
          <p:cNvSpPr/>
          <p:nvPr>
            <p:custDataLst>
              <p:tags r:id="rId34"/>
            </p:custDataLst>
          </p:nvPr>
        </p:nvSpPr>
        <p:spPr>
          <a:xfrm>
            <a:off x="7047865" y="419036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流量控制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58" name="圆角矩形 157"/>
          <p:cNvSpPr/>
          <p:nvPr>
            <p:custDataLst>
              <p:tags r:id="rId35"/>
            </p:custDataLst>
          </p:nvPr>
        </p:nvSpPr>
        <p:spPr>
          <a:xfrm>
            <a:off x="6310630" y="451294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熔断降级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59" name="圆角矩形 158"/>
          <p:cNvSpPr/>
          <p:nvPr>
            <p:custDataLst>
              <p:tags r:id="rId36"/>
            </p:custDataLst>
          </p:nvPr>
        </p:nvSpPr>
        <p:spPr>
          <a:xfrm>
            <a:off x="7048500" y="451294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机构资源隔离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60" name="同侧圆角矩形 159"/>
          <p:cNvSpPr/>
          <p:nvPr/>
        </p:nvSpPr>
        <p:spPr>
          <a:xfrm>
            <a:off x="6231890" y="2476500"/>
            <a:ext cx="1552498" cy="138965"/>
          </a:xfrm>
          <a:prstGeom prst="round2SameRect">
            <a:avLst>
              <a:gd name="adj1" fmla="val 28823"/>
              <a:gd name="adj2" fmla="val 0"/>
            </a:avLst>
          </a:prstGeom>
          <a:gradFill>
            <a:gsLst>
              <a:gs pos="0">
                <a:srgbClr val="2957DE"/>
              </a:gs>
              <a:gs pos="100000">
                <a:srgbClr val="598BF6"/>
              </a:gs>
            </a:gsLst>
            <a:lin ang="4500000" scaled="0"/>
          </a:gradFill>
          <a:ln w="6032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融担路由</a:t>
            </a:r>
            <a:endParaRPr lang="zh-CN" altLang="en-US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161" name="组合 160"/>
          <p:cNvGrpSpPr/>
          <p:nvPr/>
        </p:nvGrpSpPr>
        <p:grpSpPr>
          <a:xfrm rot="0">
            <a:off x="4542790" y="5015230"/>
            <a:ext cx="1553845" cy="543560"/>
            <a:chOff x="3462" y="5073"/>
            <a:chExt cx="2307" cy="2964"/>
          </a:xfrm>
        </p:grpSpPr>
        <p:sp>
          <p:nvSpPr>
            <p:cNvPr id="164" name="圆角矩形 163"/>
            <p:cNvSpPr/>
            <p:nvPr>
              <p:custDataLst>
                <p:tags r:id="rId37"/>
              </p:custDataLst>
            </p:nvPr>
          </p:nvSpPr>
          <p:spPr>
            <a:xfrm>
              <a:off x="3466" y="5083"/>
              <a:ext cx="2303" cy="2954"/>
            </a:xfrm>
            <a:prstGeom prst="roundRect">
              <a:avLst>
                <a:gd name="adj" fmla="val 5430"/>
              </a:avLst>
            </a:prstGeom>
            <a:solidFill>
              <a:schemeClr val="accent1">
                <a:alpha val="10000"/>
              </a:schemeClr>
            </a:solidFill>
            <a:ln w="12700">
              <a:solidFill>
                <a:schemeClr val="accent1">
                  <a:alpha val="61000"/>
                </a:schemeClr>
              </a:solidFill>
              <a:prstDash val="sysDash"/>
            </a:ln>
          </p:spPr>
          <p:style>
            <a:lnRef idx="0">
              <a:srgbClr val="FFFFFF"/>
            </a:lnRef>
            <a:fillRef idx="3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p>
              <a:pPr lvl="0" algn="ctr">
                <a:lnSpc>
                  <a:spcPct val="80000"/>
                </a:lnSpc>
                <a:buClrTx/>
                <a:buSzTx/>
                <a:buFontTx/>
              </a:pPr>
              <a:endParaRPr lang="zh-CN" altLang="en-US" sz="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72" name="同侧圆角矩形 171"/>
            <p:cNvSpPr/>
            <p:nvPr/>
          </p:nvSpPr>
          <p:spPr>
            <a:xfrm>
              <a:off x="3462" y="5073"/>
              <a:ext cx="2305" cy="737"/>
            </a:xfrm>
            <a:prstGeom prst="round2SameRect">
              <a:avLst>
                <a:gd name="adj1" fmla="val 28823"/>
                <a:gd name="adj2" fmla="val 0"/>
              </a:avLst>
            </a:prstGeom>
            <a:gradFill>
              <a:gsLst>
                <a:gs pos="0">
                  <a:srgbClr val="2957DE"/>
                </a:gs>
                <a:gs pos="100000">
                  <a:srgbClr val="598BF6"/>
                </a:gs>
              </a:gsLst>
              <a:lin ang="4500000" scaled="0"/>
            </a:gradFill>
            <a:ln w="60325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查询服务</a:t>
              </a:r>
              <a:endPara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173" name="圆角矩形 172"/>
          <p:cNvSpPr/>
          <p:nvPr>
            <p:custDataLst>
              <p:tags r:id="rId38"/>
            </p:custDataLst>
          </p:nvPr>
        </p:nvSpPr>
        <p:spPr>
          <a:xfrm>
            <a:off x="4636135" y="5226050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机构影像下载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74" name="圆角矩形 173"/>
          <p:cNvSpPr/>
          <p:nvPr>
            <p:custDataLst>
              <p:tags r:id="rId39"/>
            </p:custDataLst>
          </p:nvPr>
        </p:nvSpPr>
        <p:spPr>
          <a:xfrm>
            <a:off x="5373370" y="523049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还款连接查询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177" name="组合 176"/>
          <p:cNvGrpSpPr/>
          <p:nvPr/>
        </p:nvGrpSpPr>
        <p:grpSpPr>
          <a:xfrm rot="0">
            <a:off x="4558665" y="5614670"/>
            <a:ext cx="1553845" cy="550545"/>
            <a:chOff x="3462" y="5073"/>
            <a:chExt cx="2307" cy="2964"/>
          </a:xfrm>
        </p:grpSpPr>
        <p:sp>
          <p:nvSpPr>
            <p:cNvPr id="178" name="圆角矩形 177"/>
            <p:cNvSpPr/>
            <p:nvPr>
              <p:custDataLst>
                <p:tags r:id="rId40"/>
              </p:custDataLst>
            </p:nvPr>
          </p:nvSpPr>
          <p:spPr>
            <a:xfrm>
              <a:off x="3466" y="5083"/>
              <a:ext cx="2303" cy="2954"/>
            </a:xfrm>
            <a:prstGeom prst="roundRect">
              <a:avLst>
                <a:gd name="adj" fmla="val 5430"/>
              </a:avLst>
            </a:prstGeom>
            <a:solidFill>
              <a:schemeClr val="accent1">
                <a:alpha val="10000"/>
              </a:schemeClr>
            </a:solidFill>
            <a:ln w="12700">
              <a:solidFill>
                <a:schemeClr val="accent1">
                  <a:alpha val="61000"/>
                </a:schemeClr>
              </a:solidFill>
              <a:prstDash val="sysDash"/>
            </a:ln>
          </p:spPr>
          <p:style>
            <a:lnRef idx="0">
              <a:srgbClr val="FFFFFF"/>
            </a:lnRef>
            <a:fillRef idx="3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p>
              <a:pPr lvl="0" algn="ctr">
                <a:lnSpc>
                  <a:spcPct val="80000"/>
                </a:lnSpc>
                <a:buClrTx/>
                <a:buSzTx/>
                <a:buFontTx/>
              </a:pPr>
              <a:endParaRPr lang="zh-CN" altLang="en-US" sz="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79" name="同侧圆角矩形 178"/>
            <p:cNvSpPr/>
            <p:nvPr/>
          </p:nvSpPr>
          <p:spPr>
            <a:xfrm>
              <a:off x="3462" y="5073"/>
              <a:ext cx="2305" cy="737"/>
            </a:xfrm>
            <a:prstGeom prst="round2SameRect">
              <a:avLst>
                <a:gd name="adj1" fmla="val 28823"/>
                <a:gd name="adj2" fmla="val 0"/>
              </a:avLst>
            </a:prstGeom>
            <a:gradFill>
              <a:gsLst>
                <a:gs pos="0">
                  <a:srgbClr val="2957DE"/>
                </a:gs>
                <a:gs pos="100000">
                  <a:srgbClr val="598BF6"/>
                </a:gs>
              </a:gsLst>
              <a:lin ang="4500000" scaled="0"/>
            </a:gradFill>
            <a:ln w="60325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离线文件处理</a:t>
              </a:r>
              <a:endPara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180" name="圆角矩形 179"/>
          <p:cNvSpPr/>
          <p:nvPr>
            <p:custDataLst>
              <p:tags r:id="rId41"/>
            </p:custDataLst>
          </p:nvPr>
        </p:nvSpPr>
        <p:spPr>
          <a:xfrm>
            <a:off x="4652010" y="582993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文件同步机构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81" name="圆角矩形 180"/>
          <p:cNvSpPr/>
          <p:nvPr>
            <p:custDataLst>
              <p:tags r:id="rId42"/>
            </p:custDataLst>
          </p:nvPr>
        </p:nvSpPr>
        <p:spPr>
          <a:xfrm>
            <a:off x="5389245" y="5834380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担保函归档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8" name="圆角矩形 207"/>
          <p:cNvSpPr/>
          <p:nvPr>
            <p:custDataLst>
              <p:tags r:id="rId43"/>
            </p:custDataLst>
          </p:nvPr>
        </p:nvSpPr>
        <p:spPr>
          <a:xfrm>
            <a:off x="8150225" y="2183130"/>
            <a:ext cx="611505" cy="4109720"/>
          </a:xfrm>
          <a:prstGeom prst="roundRect">
            <a:avLst>
              <a:gd name="adj" fmla="val 62"/>
            </a:avLst>
          </a:prstGeom>
          <a:solidFill>
            <a:schemeClr val="accent2">
              <a:alpha val="19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35" name="圆角矩形 234"/>
          <p:cNvSpPr/>
          <p:nvPr>
            <p:custDataLst>
              <p:tags r:id="rId44"/>
            </p:custDataLst>
          </p:nvPr>
        </p:nvSpPr>
        <p:spPr>
          <a:xfrm>
            <a:off x="8229600" y="2259330"/>
            <a:ext cx="467995" cy="3906520"/>
          </a:xfrm>
          <a:prstGeom prst="roundRect">
            <a:avLst>
              <a:gd name="adj" fmla="val 5189"/>
            </a:avLst>
          </a:prstGeom>
          <a:solidFill>
            <a:schemeClr val="bg1"/>
          </a:solidFill>
          <a:ln w="12700" cap="flat" cmpd="sng">
            <a:noFill/>
            <a:prstDash val="solid"/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lstStyle/>
          <a:p>
            <a:pPr lvl="0" algn="ctr">
              <a:lnSpc>
                <a:spcPct val="90000"/>
              </a:lnSpc>
              <a:buClrTx/>
              <a:buSzTx/>
              <a:buFontTx/>
            </a:pPr>
            <a:endParaRPr lang="zh-CN" altLang="en-US" sz="900" b="1">
              <a:solidFill>
                <a:schemeClr val="tx1">
                  <a:lumMod val="95000"/>
                  <a:lumOff val="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236" name="组合 235"/>
          <p:cNvGrpSpPr/>
          <p:nvPr/>
        </p:nvGrpSpPr>
        <p:grpSpPr>
          <a:xfrm>
            <a:off x="8221345" y="2329815"/>
            <a:ext cx="504190" cy="435475"/>
            <a:chOff x="11289" y="2393"/>
            <a:chExt cx="794" cy="747"/>
          </a:xfrm>
        </p:grpSpPr>
        <p:sp>
          <p:nvSpPr>
            <p:cNvPr id="237" name="文本框 236"/>
            <p:cNvSpPr txBox="1"/>
            <p:nvPr/>
          </p:nvSpPr>
          <p:spPr>
            <a:xfrm>
              <a:off x="11289" y="2825"/>
              <a:ext cx="794" cy="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600"/>
                <a:t>兰州银行</a:t>
              </a:r>
              <a:endParaRPr lang="zh-CN" altLang="en-US" sz="600"/>
            </a:p>
          </p:txBody>
        </p:sp>
        <p:pic>
          <p:nvPicPr>
            <p:cNvPr id="238" name="图片 237" descr="201509211738519330nGz2c2x"/>
            <p:cNvPicPr>
              <a:picLocks noChangeAspect="1"/>
            </p:cNvPicPr>
            <p:nvPr/>
          </p:nvPicPr>
          <p:blipFill>
            <a:blip r:embed="rId45"/>
            <a:srcRect r="73184"/>
            <a:stretch>
              <a:fillRect/>
            </a:stretch>
          </p:blipFill>
          <p:spPr>
            <a:xfrm>
              <a:off x="11488" y="2393"/>
              <a:ext cx="397" cy="436"/>
            </a:xfrm>
            <a:prstGeom prst="rect">
              <a:avLst/>
            </a:prstGeom>
          </p:spPr>
        </p:pic>
      </p:grpSp>
      <p:grpSp>
        <p:nvGrpSpPr>
          <p:cNvPr id="239" name="组合 238"/>
          <p:cNvGrpSpPr/>
          <p:nvPr/>
        </p:nvGrpSpPr>
        <p:grpSpPr>
          <a:xfrm>
            <a:off x="8221345" y="3016250"/>
            <a:ext cx="504190" cy="429127"/>
            <a:chOff x="11314" y="3938"/>
            <a:chExt cx="794" cy="736"/>
          </a:xfrm>
        </p:grpSpPr>
        <p:sp>
          <p:nvSpPr>
            <p:cNvPr id="240" name="文本框 239"/>
            <p:cNvSpPr txBox="1"/>
            <p:nvPr/>
          </p:nvSpPr>
          <p:spPr>
            <a:xfrm>
              <a:off x="11314" y="4359"/>
              <a:ext cx="794" cy="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600"/>
                <a:t>昆仑银行</a:t>
              </a:r>
              <a:endParaRPr lang="zh-CN" altLang="en-US" sz="600"/>
            </a:p>
          </p:txBody>
        </p:sp>
        <p:pic>
          <p:nvPicPr>
            <p:cNvPr id="241" name="图片 240"/>
            <p:cNvPicPr>
              <a:picLocks noChangeAspect="1"/>
            </p:cNvPicPr>
            <p:nvPr>
              <p:custDataLst>
                <p:tags r:id="rId46"/>
              </p:custDataLst>
            </p:nvPr>
          </p:nvPicPr>
          <p:blipFill>
            <a:blip r:embed="rId47"/>
            <a:stretch>
              <a:fillRect/>
            </a:stretch>
          </p:blipFill>
          <p:spPr>
            <a:xfrm>
              <a:off x="11513" y="3938"/>
              <a:ext cx="397" cy="421"/>
            </a:xfrm>
            <a:prstGeom prst="rect">
              <a:avLst/>
            </a:prstGeom>
          </p:spPr>
        </p:pic>
      </p:grpSp>
      <p:grpSp>
        <p:nvGrpSpPr>
          <p:cNvPr id="245" name="组合 244"/>
          <p:cNvGrpSpPr/>
          <p:nvPr/>
        </p:nvGrpSpPr>
        <p:grpSpPr>
          <a:xfrm>
            <a:off x="8232775" y="4271010"/>
            <a:ext cx="504190" cy="436112"/>
            <a:chOff x="11289" y="7924"/>
            <a:chExt cx="794" cy="748"/>
          </a:xfrm>
        </p:grpSpPr>
        <p:sp>
          <p:nvSpPr>
            <p:cNvPr id="246" name="文本框 245"/>
            <p:cNvSpPr txBox="1"/>
            <p:nvPr/>
          </p:nvSpPr>
          <p:spPr>
            <a:xfrm>
              <a:off x="11289" y="8357"/>
              <a:ext cx="794" cy="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600"/>
                <a:t>长江商业</a:t>
              </a:r>
              <a:endParaRPr lang="zh-CN" altLang="en-US" sz="600"/>
            </a:p>
          </p:txBody>
        </p:sp>
        <p:pic>
          <p:nvPicPr>
            <p:cNvPr id="247" name="图片 246"/>
            <p:cNvPicPr>
              <a:picLocks noChangeAspect="1"/>
            </p:cNvPicPr>
            <p:nvPr>
              <p:custDataLst>
                <p:tags r:id="rId48"/>
              </p:custDataLst>
            </p:nvPr>
          </p:nvPicPr>
          <p:blipFill>
            <a:blip r:embed="rId49"/>
            <a:stretch>
              <a:fillRect/>
            </a:stretch>
          </p:blipFill>
          <p:spPr>
            <a:xfrm>
              <a:off x="11488" y="7924"/>
              <a:ext cx="397" cy="430"/>
            </a:xfrm>
            <a:prstGeom prst="rect">
              <a:avLst/>
            </a:prstGeom>
          </p:spPr>
        </p:pic>
      </p:grpSp>
      <p:grpSp>
        <p:nvGrpSpPr>
          <p:cNvPr id="248" name="组合 247"/>
          <p:cNvGrpSpPr/>
          <p:nvPr/>
        </p:nvGrpSpPr>
        <p:grpSpPr>
          <a:xfrm>
            <a:off x="8232775" y="3590925"/>
            <a:ext cx="504190" cy="429764"/>
            <a:chOff x="11315" y="6640"/>
            <a:chExt cx="794" cy="737"/>
          </a:xfrm>
        </p:grpSpPr>
        <p:sp>
          <p:nvSpPr>
            <p:cNvPr id="249" name="文本框 248"/>
            <p:cNvSpPr txBox="1"/>
            <p:nvPr/>
          </p:nvSpPr>
          <p:spPr>
            <a:xfrm>
              <a:off x="11315" y="7062"/>
              <a:ext cx="794" cy="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600"/>
                <a:t>小米消金</a:t>
              </a:r>
              <a:endParaRPr lang="zh-CN" altLang="en-US" sz="600"/>
            </a:p>
          </p:txBody>
        </p:sp>
        <p:pic>
          <p:nvPicPr>
            <p:cNvPr id="250" name="图片 249"/>
            <p:cNvPicPr>
              <a:picLocks noChangeAspect="1"/>
            </p:cNvPicPr>
            <p:nvPr>
              <p:custDataLst>
                <p:tags r:id="rId50"/>
              </p:custDataLst>
            </p:nvPr>
          </p:nvPicPr>
          <p:blipFill>
            <a:blip r:embed="rId51"/>
            <a:stretch>
              <a:fillRect/>
            </a:stretch>
          </p:blipFill>
          <p:spPr>
            <a:xfrm>
              <a:off x="11514" y="6640"/>
              <a:ext cx="397" cy="422"/>
            </a:xfrm>
            <a:prstGeom prst="rect">
              <a:avLst/>
            </a:prstGeom>
          </p:spPr>
        </p:pic>
      </p:grpSp>
      <p:cxnSp>
        <p:nvCxnSpPr>
          <p:cNvPr id="261" name="直接连接符 260"/>
          <p:cNvCxnSpPr/>
          <p:nvPr/>
        </p:nvCxnSpPr>
        <p:spPr>
          <a:xfrm>
            <a:off x="8326120" y="5448935"/>
            <a:ext cx="323215" cy="0"/>
          </a:xfrm>
          <a:prstGeom prst="line">
            <a:avLst/>
          </a:prstGeom>
          <a:ln>
            <a:solidFill>
              <a:schemeClr val="accent1">
                <a:alpha val="32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2" name="直接连接符 261"/>
          <p:cNvCxnSpPr/>
          <p:nvPr/>
        </p:nvCxnSpPr>
        <p:spPr>
          <a:xfrm>
            <a:off x="8326120" y="6092190"/>
            <a:ext cx="323215" cy="0"/>
          </a:xfrm>
          <a:prstGeom prst="line">
            <a:avLst/>
          </a:prstGeom>
          <a:ln>
            <a:solidFill>
              <a:schemeClr val="accent1">
                <a:alpha val="32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66" name="组合 265"/>
          <p:cNvGrpSpPr/>
          <p:nvPr/>
        </p:nvGrpSpPr>
        <p:grpSpPr>
          <a:xfrm>
            <a:off x="8229600" y="5586095"/>
            <a:ext cx="504190" cy="413312"/>
            <a:chOff x="12366" y="9757"/>
            <a:chExt cx="794" cy="709"/>
          </a:xfrm>
        </p:grpSpPr>
        <p:sp>
          <p:nvSpPr>
            <p:cNvPr id="267" name="文本框 266"/>
            <p:cNvSpPr txBox="1"/>
            <p:nvPr/>
          </p:nvSpPr>
          <p:spPr>
            <a:xfrm>
              <a:off x="12366" y="10151"/>
              <a:ext cx="794" cy="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600"/>
                <a:t>众安小贷</a:t>
              </a:r>
              <a:endParaRPr lang="zh-CN" altLang="en-US" sz="600"/>
            </a:p>
          </p:txBody>
        </p:sp>
        <p:pic>
          <p:nvPicPr>
            <p:cNvPr id="268" name="图片 267"/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12489" y="9757"/>
              <a:ext cx="520" cy="322"/>
            </a:xfrm>
            <a:prstGeom prst="rect">
              <a:avLst/>
            </a:prstGeom>
          </p:spPr>
        </p:pic>
      </p:grpSp>
      <p:grpSp>
        <p:nvGrpSpPr>
          <p:cNvPr id="269" name="组合 268"/>
          <p:cNvGrpSpPr/>
          <p:nvPr/>
        </p:nvGrpSpPr>
        <p:grpSpPr>
          <a:xfrm>
            <a:off x="8232775" y="4958080"/>
            <a:ext cx="504190" cy="398641"/>
            <a:chOff x="13673" y="4425"/>
            <a:chExt cx="794" cy="684"/>
          </a:xfrm>
        </p:grpSpPr>
        <p:sp>
          <p:nvSpPr>
            <p:cNvPr id="270" name="文本框 269"/>
            <p:cNvSpPr txBox="1"/>
            <p:nvPr/>
          </p:nvSpPr>
          <p:spPr>
            <a:xfrm>
              <a:off x="13673" y="4794"/>
              <a:ext cx="794" cy="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600"/>
                <a:t>国民信托</a:t>
              </a:r>
              <a:endParaRPr lang="zh-CN" altLang="en-US" sz="600"/>
            </a:p>
          </p:txBody>
        </p:sp>
        <p:pic>
          <p:nvPicPr>
            <p:cNvPr id="271" name="图片 270"/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13890" y="4425"/>
              <a:ext cx="361" cy="369"/>
            </a:xfrm>
            <a:prstGeom prst="rect">
              <a:avLst/>
            </a:prstGeom>
          </p:spPr>
        </p:pic>
      </p:grpSp>
      <p:cxnSp>
        <p:nvCxnSpPr>
          <p:cNvPr id="272" name="直接连接符 271"/>
          <p:cNvCxnSpPr/>
          <p:nvPr/>
        </p:nvCxnSpPr>
        <p:spPr>
          <a:xfrm>
            <a:off x="8326120" y="4828540"/>
            <a:ext cx="323215" cy="0"/>
          </a:xfrm>
          <a:prstGeom prst="line">
            <a:avLst/>
          </a:prstGeom>
          <a:ln>
            <a:solidFill>
              <a:schemeClr val="accent1">
                <a:alpha val="32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3" name="直接连接符 272"/>
          <p:cNvCxnSpPr/>
          <p:nvPr/>
        </p:nvCxnSpPr>
        <p:spPr>
          <a:xfrm>
            <a:off x="8319770" y="4136390"/>
            <a:ext cx="323215" cy="0"/>
          </a:xfrm>
          <a:prstGeom prst="line">
            <a:avLst/>
          </a:prstGeom>
          <a:ln>
            <a:solidFill>
              <a:schemeClr val="accent1">
                <a:alpha val="32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5" name="直接连接符 274"/>
          <p:cNvCxnSpPr/>
          <p:nvPr/>
        </p:nvCxnSpPr>
        <p:spPr>
          <a:xfrm>
            <a:off x="8314690" y="3544570"/>
            <a:ext cx="323215" cy="0"/>
          </a:xfrm>
          <a:prstGeom prst="line">
            <a:avLst/>
          </a:prstGeom>
          <a:ln>
            <a:solidFill>
              <a:schemeClr val="accent1">
                <a:alpha val="32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6" name="直接连接符 275"/>
          <p:cNvCxnSpPr/>
          <p:nvPr/>
        </p:nvCxnSpPr>
        <p:spPr>
          <a:xfrm>
            <a:off x="8301355" y="2889250"/>
            <a:ext cx="323215" cy="0"/>
          </a:xfrm>
          <a:prstGeom prst="line">
            <a:avLst/>
          </a:prstGeom>
          <a:ln>
            <a:solidFill>
              <a:schemeClr val="accent1">
                <a:alpha val="32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2" name="右箭头 201"/>
          <p:cNvSpPr/>
          <p:nvPr>
            <p:custDataLst>
              <p:tags r:id="rId54"/>
            </p:custDataLst>
          </p:nvPr>
        </p:nvSpPr>
        <p:spPr>
          <a:xfrm>
            <a:off x="7948295" y="3062605"/>
            <a:ext cx="200660" cy="288290"/>
          </a:xfrm>
          <a:prstGeom prst="rightArrow">
            <a:avLst/>
          </a:prstGeom>
          <a:solidFill>
            <a:srgbClr val="F5B482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t" anchorCtr="0" forceAA="0" compatLnSpc="1">
            <a:noAutofit/>
          </a:bodyPr>
          <a:p>
            <a:pPr lvl="0" algn="ctr">
              <a:lnSpc>
                <a:spcPct val="150000"/>
              </a:lnSpc>
              <a:buClrTx/>
              <a:buSzTx/>
              <a:buFontTx/>
            </a:pPr>
            <a:endParaRPr lang="zh-CN" altLang="en-US" sz="1400" b="1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FAFAFA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87" name="圆角矩形 186"/>
          <p:cNvSpPr/>
          <p:nvPr>
            <p:custDataLst>
              <p:tags r:id="rId55"/>
            </p:custDataLst>
          </p:nvPr>
        </p:nvSpPr>
        <p:spPr>
          <a:xfrm>
            <a:off x="6328410" y="523049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还款试算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93" name="圆角矩形 192"/>
          <p:cNvSpPr/>
          <p:nvPr>
            <p:custDataLst>
              <p:tags r:id="rId56"/>
            </p:custDataLst>
          </p:nvPr>
        </p:nvSpPr>
        <p:spPr>
          <a:xfrm>
            <a:off x="6328410" y="552894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线下还款申请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0" name="圆角矩形 199"/>
          <p:cNvSpPr/>
          <p:nvPr>
            <p:custDataLst>
              <p:tags r:id="rId57"/>
            </p:custDataLst>
          </p:nvPr>
        </p:nvSpPr>
        <p:spPr>
          <a:xfrm>
            <a:off x="7054850" y="552894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还款计划查询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88" name="圆角矩形 187"/>
          <p:cNvSpPr/>
          <p:nvPr>
            <p:custDataLst>
              <p:tags r:id="rId58"/>
            </p:custDataLst>
          </p:nvPr>
        </p:nvSpPr>
        <p:spPr>
          <a:xfrm>
            <a:off x="7054850" y="5226050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息费减免申请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98" name="同侧圆角矩形 197"/>
          <p:cNvSpPr/>
          <p:nvPr/>
        </p:nvSpPr>
        <p:spPr>
          <a:xfrm>
            <a:off x="6234430" y="5014595"/>
            <a:ext cx="1552575" cy="136525"/>
          </a:xfrm>
          <a:prstGeom prst="round2SameRect">
            <a:avLst>
              <a:gd name="adj1" fmla="val 28823"/>
              <a:gd name="adj2" fmla="val 0"/>
            </a:avLst>
          </a:prstGeom>
          <a:solidFill>
            <a:srgbClr val="92D050"/>
          </a:solidFill>
          <a:ln w="6032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担保对接能力服务</a:t>
            </a:r>
            <a:r>
              <a:rPr lang="en-US" altLang="zh-CN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</a:t>
            </a: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待建设</a:t>
            </a:r>
            <a:r>
              <a:rPr lang="en-US" altLang="zh-CN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  <a:endParaRPr lang="en-US" altLang="zh-CN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3" name="圆角矩形 202"/>
          <p:cNvSpPr/>
          <p:nvPr>
            <p:custDataLst>
              <p:tags r:id="rId59"/>
            </p:custDataLst>
          </p:nvPr>
        </p:nvSpPr>
        <p:spPr>
          <a:xfrm>
            <a:off x="6328410" y="582993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调额申请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4" name="圆角矩形 203"/>
          <p:cNvSpPr/>
          <p:nvPr>
            <p:custDataLst>
              <p:tags r:id="rId60"/>
            </p:custDataLst>
          </p:nvPr>
        </p:nvSpPr>
        <p:spPr>
          <a:xfrm>
            <a:off x="7066280" y="5834380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代偿凭证下载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5" name="右箭头 204"/>
          <p:cNvSpPr/>
          <p:nvPr>
            <p:custDataLst>
              <p:tags r:id="rId61"/>
            </p:custDataLst>
          </p:nvPr>
        </p:nvSpPr>
        <p:spPr>
          <a:xfrm rot="10800000">
            <a:off x="7949565" y="5527040"/>
            <a:ext cx="200660" cy="288290"/>
          </a:xfrm>
          <a:prstGeom prst="rightArrow">
            <a:avLst/>
          </a:prstGeom>
          <a:solidFill>
            <a:srgbClr val="F5B482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t" anchorCtr="0" forceAA="0" compatLnSpc="1">
            <a:noAutofit/>
          </a:bodyPr>
          <a:p>
            <a:pPr lvl="0" algn="ctr">
              <a:lnSpc>
                <a:spcPct val="150000"/>
              </a:lnSpc>
              <a:buClrTx/>
              <a:buSzTx/>
              <a:buFontTx/>
            </a:pPr>
            <a:endParaRPr lang="zh-CN" altLang="en-US" sz="1400" b="1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FAFAFA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207" name="组合 206"/>
          <p:cNvGrpSpPr/>
          <p:nvPr/>
        </p:nvGrpSpPr>
        <p:grpSpPr>
          <a:xfrm>
            <a:off x="3255010" y="2183130"/>
            <a:ext cx="909955" cy="4117975"/>
            <a:chOff x="6236" y="3395"/>
            <a:chExt cx="3131" cy="3633"/>
          </a:xfrm>
        </p:grpSpPr>
        <p:sp>
          <p:nvSpPr>
            <p:cNvPr id="214" name="圆角矩形 213"/>
            <p:cNvSpPr/>
            <p:nvPr>
              <p:custDataLst>
                <p:tags r:id="rId62"/>
              </p:custDataLst>
            </p:nvPr>
          </p:nvSpPr>
          <p:spPr>
            <a:xfrm>
              <a:off x="6236" y="3395"/>
              <a:ext cx="3131" cy="3633"/>
            </a:xfrm>
            <a:prstGeom prst="roundRect">
              <a:avLst>
                <a:gd name="adj" fmla="val 2948"/>
              </a:avLst>
            </a:prstGeom>
            <a:solidFill>
              <a:schemeClr val="bg1"/>
            </a:solidFill>
            <a:ln w="12700">
              <a:solidFill>
                <a:schemeClr val="accent1">
                  <a:alpha val="61000"/>
                </a:schemeClr>
              </a:solidFill>
              <a:prstDash val="sysDash"/>
            </a:ln>
          </p:spPr>
          <p:style>
            <a:lnRef idx="0">
              <a:srgbClr val="FFFFFF"/>
            </a:lnRef>
            <a:fillRef idx="3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p>
              <a:pPr lvl="0" algn="ctr">
                <a:lnSpc>
                  <a:spcPct val="80000"/>
                </a:lnSpc>
                <a:buClrTx/>
                <a:buSzTx/>
                <a:buFontTx/>
              </a:pPr>
              <a:endParaRPr lang="zh-CN" altLang="en-US" sz="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15" name="文本框 16"/>
            <p:cNvSpPr txBox="1"/>
            <p:nvPr>
              <p:custDataLst>
                <p:tags r:id="rId63"/>
              </p:custDataLst>
            </p:nvPr>
          </p:nvSpPr>
          <p:spPr>
            <a:xfrm>
              <a:off x="6236" y="3409"/>
              <a:ext cx="3131" cy="159"/>
            </a:xfrm>
            <a:prstGeom prst="rect">
              <a:avLst/>
            </a:prstGeom>
            <a:noFill/>
            <a:effectLst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>
                <a:defRPr sz="2400">
                  <a:latin typeface="汉仪菱心体简" panose="02010400000101010101" charset="-122"/>
                  <a:ea typeface="汉仪菱心体简" panose="02010400000101010101" charset="-122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buClrTx/>
                <a:buSzTx/>
                <a:buFontTx/>
              </a:pPr>
              <a:r>
                <a:rPr lang="zh-CN" altLang="en-US" sz="1000" b="1" dirty="0">
                  <a:solidFill>
                    <a:srgbClr val="2A59DF"/>
                  </a:solidFill>
                  <a:latin typeface="微软雅黑" panose="020B0503020204020204" charset="-122"/>
                  <a:ea typeface="微软雅黑" panose="020B0503020204020204" charset="-122"/>
                  <a:sym typeface="HarmonyOS Sans SC Bold" panose="00000800000000000000" pitchFamily="2" charset="-122"/>
                </a:rPr>
                <a:t>资产管理域</a:t>
              </a:r>
              <a:endParaRPr lang="en-US" altLang="zh-CN" sz="1000" b="1" dirty="0">
                <a:solidFill>
                  <a:srgbClr val="2A59DF"/>
                </a:solidFill>
                <a:latin typeface="微软雅黑" panose="020B0503020204020204" charset="-122"/>
                <a:ea typeface="微软雅黑" panose="020B0503020204020204" charset="-122"/>
                <a:sym typeface="HarmonyOS Sans SC Bold" panose="00000800000000000000" pitchFamily="2" charset="-122"/>
              </a:endParaRPr>
            </a:p>
          </p:txBody>
        </p:sp>
      </p:grpSp>
      <p:grpSp>
        <p:nvGrpSpPr>
          <p:cNvPr id="217" name="组合 216"/>
          <p:cNvGrpSpPr/>
          <p:nvPr/>
        </p:nvGrpSpPr>
        <p:grpSpPr>
          <a:xfrm rot="0">
            <a:off x="3350895" y="2476500"/>
            <a:ext cx="721360" cy="1315720"/>
            <a:chOff x="3462" y="5083"/>
            <a:chExt cx="2307" cy="2954"/>
          </a:xfrm>
        </p:grpSpPr>
        <p:sp>
          <p:nvSpPr>
            <p:cNvPr id="234" name="圆角矩形 233"/>
            <p:cNvSpPr/>
            <p:nvPr>
              <p:custDataLst>
                <p:tags r:id="rId64"/>
              </p:custDataLst>
            </p:nvPr>
          </p:nvSpPr>
          <p:spPr>
            <a:xfrm>
              <a:off x="3466" y="5083"/>
              <a:ext cx="2303" cy="2954"/>
            </a:xfrm>
            <a:prstGeom prst="roundRect">
              <a:avLst>
                <a:gd name="adj" fmla="val 5430"/>
              </a:avLst>
            </a:prstGeom>
            <a:solidFill>
              <a:schemeClr val="accent1">
                <a:alpha val="10000"/>
              </a:schemeClr>
            </a:solidFill>
            <a:ln w="12700">
              <a:solidFill>
                <a:schemeClr val="accent1">
                  <a:alpha val="61000"/>
                </a:schemeClr>
              </a:solidFill>
              <a:prstDash val="sysDash"/>
            </a:ln>
          </p:spPr>
          <p:style>
            <a:lnRef idx="0">
              <a:srgbClr val="FFFFFF"/>
            </a:lnRef>
            <a:fillRef idx="3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p>
              <a:pPr lvl="0" algn="ctr">
                <a:lnSpc>
                  <a:spcPct val="80000"/>
                </a:lnSpc>
                <a:buClrTx/>
                <a:buSzTx/>
                <a:buFontTx/>
              </a:pPr>
              <a:endParaRPr lang="zh-CN" altLang="en-US" sz="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78" name="同侧圆角矩形 277"/>
            <p:cNvSpPr/>
            <p:nvPr/>
          </p:nvSpPr>
          <p:spPr>
            <a:xfrm>
              <a:off x="3462" y="5083"/>
              <a:ext cx="2305" cy="323"/>
            </a:xfrm>
            <a:prstGeom prst="round2SameRect">
              <a:avLst>
                <a:gd name="adj1" fmla="val 28823"/>
                <a:gd name="adj2" fmla="val 0"/>
              </a:avLst>
            </a:prstGeom>
            <a:gradFill>
              <a:gsLst>
                <a:gs pos="0">
                  <a:srgbClr val="2957DE"/>
                </a:gs>
                <a:gs pos="100000">
                  <a:srgbClr val="598BF6"/>
                </a:gs>
              </a:gsLst>
              <a:lin ang="4500000" scaled="0"/>
            </a:gradFill>
            <a:ln w="60325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风控域</a:t>
              </a:r>
              <a:endPara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216" name="圆角矩形 215"/>
          <p:cNvSpPr/>
          <p:nvPr>
            <p:custDataLst>
              <p:tags r:id="rId65"/>
            </p:custDataLst>
          </p:nvPr>
        </p:nvSpPr>
        <p:spPr>
          <a:xfrm>
            <a:off x="3397250" y="275907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进件加工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79" name="圆角矩形 278"/>
          <p:cNvSpPr/>
          <p:nvPr>
            <p:custDataLst>
              <p:tags r:id="rId66"/>
            </p:custDataLst>
          </p:nvPr>
        </p:nvSpPr>
        <p:spPr>
          <a:xfrm>
            <a:off x="3397250" y="309054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融担审批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80" name="圆角矩形 279"/>
          <p:cNvSpPr/>
          <p:nvPr>
            <p:custDataLst>
              <p:tags r:id="rId67"/>
            </p:custDataLst>
          </p:nvPr>
        </p:nvSpPr>
        <p:spPr>
          <a:xfrm>
            <a:off x="3397250" y="3417570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富民内审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81" name="右箭头 280"/>
          <p:cNvSpPr/>
          <p:nvPr>
            <p:custDataLst>
              <p:tags r:id="rId68"/>
            </p:custDataLst>
          </p:nvPr>
        </p:nvSpPr>
        <p:spPr>
          <a:xfrm>
            <a:off x="4164965" y="3063240"/>
            <a:ext cx="200660" cy="288290"/>
          </a:xfrm>
          <a:prstGeom prst="rightArrow">
            <a:avLst/>
          </a:prstGeom>
          <a:solidFill>
            <a:srgbClr val="F5B482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t" anchorCtr="0" forceAA="0" compatLnSpc="1">
            <a:noAutofit/>
          </a:bodyPr>
          <a:p>
            <a:pPr lvl="0" algn="ctr">
              <a:lnSpc>
                <a:spcPct val="150000"/>
              </a:lnSpc>
              <a:buClrTx/>
              <a:buSzTx/>
              <a:buFontTx/>
            </a:pPr>
            <a:endParaRPr lang="zh-CN" altLang="en-US" sz="1400" b="1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FAFAFA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290" name="组合 289"/>
          <p:cNvGrpSpPr/>
          <p:nvPr/>
        </p:nvGrpSpPr>
        <p:grpSpPr>
          <a:xfrm rot="0">
            <a:off x="3351530" y="3945255"/>
            <a:ext cx="720725" cy="930275"/>
            <a:chOff x="3462" y="5073"/>
            <a:chExt cx="2307" cy="2964"/>
          </a:xfrm>
        </p:grpSpPr>
        <p:sp>
          <p:nvSpPr>
            <p:cNvPr id="291" name="圆角矩形 290"/>
            <p:cNvSpPr/>
            <p:nvPr>
              <p:custDataLst>
                <p:tags r:id="rId69"/>
              </p:custDataLst>
            </p:nvPr>
          </p:nvSpPr>
          <p:spPr>
            <a:xfrm>
              <a:off x="3466" y="5083"/>
              <a:ext cx="2303" cy="2954"/>
            </a:xfrm>
            <a:prstGeom prst="roundRect">
              <a:avLst>
                <a:gd name="adj" fmla="val 5430"/>
              </a:avLst>
            </a:prstGeom>
            <a:solidFill>
              <a:schemeClr val="accent1">
                <a:alpha val="10000"/>
              </a:schemeClr>
            </a:solidFill>
            <a:ln w="12700">
              <a:solidFill>
                <a:schemeClr val="accent1">
                  <a:alpha val="61000"/>
                </a:schemeClr>
              </a:solidFill>
              <a:prstDash val="sysDash"/>
            </a:ln>
          </p:spPr>
          <p:style>
            <a:lnRef idx="0">
              <a:srgbClr val="FFFFFF"/>
            </a:lnRef>
            <a:fillRef idx="3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p>
              <a:pPr lvl="0" algn="ctr">
                <a:lnSpc>
                  <a:spcPct val="80000"/>
                </a:lnSpc>
                <a:buClrTx/>
                <a:buSzTx/>
                <a:buFontTx/>
              </a:pPr>
              <a:endParaRPr lang="zh-CN" altLang="en-US" sz="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92" name="同侧圆角矩形 291"/>
            <p:cNvSpPr/>
            <p:nvPr/>
          </p:nvSpPr>
          <p:spPr>
            <a:xfrm>
              <a:off x="3462" y="5073"/>
              <a:ext cx="2305" cy="400"/>
            </a:xfrm>
            <a:prstGeom prst="round2SameRect">
              <a:avLst>
                <a:gd name="adj1" fmla="val 28823"/>
                <a:gd name="adj2" fmla="val 0"/>
              </a:avLst>
            </a:prstGeom>
            <a:gradFill>
              <a:gsLst>
                <a:gs pos="0">
                  <a:srgbClr val="2957DE"/>
                </a:gs>
                <a:gs pos="100000">
                  <a:srgbClr val="598BF6"/>
                </a:gs>
              </a:gsLst>
              <a:lin ang="4500000" scaled="0"/>
            </a:gradFill>
            <a:ln w="60325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交易域</a:t>
              </a:r>
              <a:endPara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293" name="圆角矩形 292"/>
          <p:cNvSpPr/>
          <p:nvPr>
            <p:custDataLst>
              <p:tags r:id="rId70"/>
            </p:custDataLst>
          </p:nvPr>
        </p:nvSpPr>
        <p:spPr>
          <a:xfrm>
            <a:off x="3379470" y="4204970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授信审批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94" name="圆角矩形 293"/>
          <p:cNvSpPr/>
          <p:nvPr>
            <p:custDataLst>
              <p:tags r:id="rId71"/>
            </p:custDataLst>
          </p:nvPr>
        </p:nvSpPr>
        <p:spPr>
          <a:xfrm>
            <a:off x="3393440" y="4527550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用信审批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306" name="组合 305"/>
          <p:cNvGrpSpPr/>
          <p:nvPr/>
        </p:nvGrpSpPr>
        <p:grpSpPr>
          <a:xfrm rot="0">
            <a:off x="3352800" y="5022850"/>
            <a:ext cx="720725" cy="1162050"/>
            <a:chOff x="3462" y="5073"/>
            <a:chExt cx="2307" cy="2964"/>
          </a:xfrm>
        </p:grpSpPr>
        <p:sp>
          <p:nvSpPr>
            <p:cNvPr id="307" name="圆角矩形 306"/>
            <p:cNvSpPr/>
            <p:nvPr>
              <p:custDataLst>
                <p:tags r:id="rId72"/>
              </p:custDataLst>
            </p:nvPr>
          </p:nvSpPr>
          <p:spPr>
            <a:xfrm>
              <a:off x="3466" y="5083"/>
              <a:ext cx="2303" cy="2954"/>
            </a:xfrm>
            <a:prstGeom prst="roundRect">
              <a:avLst>
                <a:gd name="adj" fmla="val 5430"/>
              </a:avLst>
            </a:prstGeom>
            <a:solidFill>
              <a:schemeClr val="accent1">
                <a:alpha val="10000"/>
              </a:schemeClr>
            </a:solidFill>
            <a:ln w="12700">
              <a:solidFill>
                <a:schemeClr val="accent1">
                  <a:alpha val="61000"/>
                </a:schemeClr>
              </a:solidFill>
              <a:prstDash val="sysDash"/>
            </a:ln>
          </p:spPr>
          <p:style>
            <a:lnRef idx="0">
              <a:srgbClr val="FFFFFF"/>
            </a:lnRef>
            <a:fillRef idx="3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p>
              <a:pPr lvl="0" algn="ctr">
                <a:lnSpc>
                  <a:spcPct val="80000"/>
                </a:lnSpc>
                <a:buClrTx/>
                <a:buSzTx/>
                <a:buFontTx/>
              </a:pPr>
              <a:endParaRPr lang="zh-CN" altLang="en-US" sz="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08" name="同侧圆角矩形 307"/>
            <p:cNvSpPr/>
            <p:nvPr/>
          </p:nvSpPr>
          <p:spPr>
            <a:xfrm>
              <a:off x="3462" y="5073"/>
              <a:ext cx="2305" cy="414"/>
            </a:xfrm>
            <a:prstGeom prst="round2SameRect">
              <a:avLst>
                <a:gd name="adj1" fmla="val 28823"/>
                <a:gd name="adj2" fmla="val 0"/>
              </a:avLst>
            </a:prstGeom>
            <a:gradFill>
              <a:gsLst>
                <a:gs pos="0">
                  <a:srgbClr val="2957DE"/>
                </a:gs>
                <a:gs pos="100000">
                  <a:srgbClr val="598BF6"/>
                </a:gs>
              </a:gsLst>
              <a:lin ang="4500000" scaled="0"/>
            </a:gradFill>
            <a:ln w="60325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zh-CN" altLang="en-US" sz="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账务域</a:t>
              </a:r>
              <a:endPara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309" name="圆角矩形 308"/>
          <p:cNvSpPr/>
          <p:nvPr>
            <p:custDataLst>
              <p:tags r:id="rId73"/>
            </p:custDataLst>
          </p:nvPr>
        </p:nvSpPr>
        <p:spPr>
          <a:xfrm>
            <a:off x="3394710" y="523684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借据开立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10" name="圆角矩形 309"/>
          <p:cNvSpPr/>
          <p:nvPr>
            <p:custDataLst>
              <p:tags r:id="rId74"/>
            </p:custDataLst>
          </p:nvPr>
        </p:nvSpPr>
        <p:spPr>
          <a:xfrm>
            <a:off x="3394710" y="555053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表外记账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11" name="圆角矩形 310"/>
          <p:cNvSpPr/>
          <p:nvPr>
            <p:custDataLst>
              <p:tags r:id="rId75"/>
            </p:custDataLst>
          </p:nvPr>
        </p:nvSpPr>
        <p:spPr>
          <a:xfrm>
            <a:off x="3394710" y="5858510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还款计划查询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12" name="右箭头 311"/>
          <p:cNvSpPr/>
          <p:nvPr>
            <p:custDataLst>
              <p:tags r:id="rId76"/>
            </p:custDataLst>
          </p:nvPr>
        </p:nvSpPr>
        <p:spPr>
          <a:xfrm rot="10800000">
            <a:off x="4170680" y="5504815"/>
            <a:ext cx="200660" cy="288290"/>
          </a:xfrm>
          <a:prstGeom prst="rightArrow">
            <a:avLst/>
          </a:prstGeom>
          <a:solidFill>
            <a:srgbClr val="F5B482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t" anchorCtr="0" forceAA="0" compatLnSpc="1">
            <a:noAutofit/>
          </a:bodyPr>
          <a:p>
            <a:pPr lvl="0" algn="ctr">
              <a:lnSpc>
                <a:spcPct val="150000"/>
              </a:lnSpc>
              <a:buClrTx/>
              <a:buSzTx/>
              <a:buFontTx/>
            </a:pPr>
            <a:endParaRPr lang="zh-CN" altLang="en-US" sz="1400" b="1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FAFAFA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15" name="右箭头 314"/>
          <p:cNvSpPr/>
          <p:nvPr>
            <p:custDataLst>
              <p:tags r:id="rId77"/>
            </p:custDataLst>
          </p:nvPr>
        </p:nvSpPr>
        <p:spPr>
          <a:xfrm rot="5400000">
            <a:off x="3794125" y="3728720"/>
            <a:ext cx="151765" cy="288290"/>
          </a:xfrm>
          <a:prstGeom prst="rightArrow">
            <a:avLst/>
          </a:prstGeom>
          <a:solidFill>
            <a:schemeClr val="bg1">
              <a:lumMod val="8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t" anchorCtr="0" forceAA="0" compatLnSpc="1">
            <a:noAutofit/>
          </a:bodyPr>
          <a:p>
            <a:pPr lvl="0" algn="ctr">
              <a:lnSpc>
                <a:spcPct val="150000"/>
              </a:lnSpc>
              <a:buClrTx/>
              <a:buSzTx/>
              <a:buFontTx/>
            </a:pPr>
            <a:endParaRPr lang="zh-CN" altLang="en-US" sz="1400" b="1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FAFAFA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16" name="右箭头 315"/>
          <p:cNvSpPr/>
          <p:nvPr>
            <p:custDataLst>
              <p:tags r:id="rId78"/>
            </p:custDataLst>
          </p:nvPr>
        </p:nvSpPr>
        <p:spPr>
          <a:xfrm rot="5400000">
            <a:off x="3639185" y="4810760"/>
            <a:ext cx="144145" cy="288290"/>
          </a:xfrm>
          <a:prstGeom prst="rightArrow">
            <a:avLst/>
          </a:prstGeom>
          <a:solidFill>
            <a:schemeClr val="bg1">
              <a:lumMod val="8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t" anchorCtr="0" forceAA="0" compatLnSpc="1">
            <a:noAutofit/>
          </a:bodyPr>
          <a:p>
            <a:pPr lvl="0" algn="ctr">
              <a:lnSpc>
                <a:spcPct val="150000"/>
              </a:lnSpc>
              <a:buClrTx/>
              <a:buSzTx/>
              <a:buFontTx/>
            </a:pPr>
            <a:endParaRPr lang="zh-CN" altLang="en-US" sz="1400" b="1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FAFAFA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17" name="右箭头 316"/>
          <p:cNvSpPr/>
          <p:nvPr>
            <p:custDataLst>
              <p:tags r:id="rId79"/>
            </p:custDataLst>
          </p:nvPr>
        </p:nvSpPr>
        <p:spPr>
          <a:xfrm rot="16200000">
            <a:off x="3507740" y="3727450"/>
            <a:ext cx="147955" cy="288290"/>
          </a:xfrm>
          <a:prstGeom prst="rightArrow">
            <a:avLst/>
          </a:prstGeom>
          <a:solidFill>
            <a:schemeClr val="bg1">
              <a:lumMod val="8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t" anchorCtr="0" forceAA="0" compatLnSpc="1">
            <a:noAutofit/>
          </a:bodyPr>
          <a:p>
            <a:pPr lvl="0" algn="ctr">
              <a:lnSpc>
                <a:spcPct val="150000"/>
              </a:lnSpc>
              <a:buClrTx/>
              <a:buSzTx/>
              <a:buFontTx/>
            </a:pPr>
            <a:endParaRPr lang="zh-CN" altLang="en-US" sz="1400" b="1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FAFAFA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318" name="组合 317"/>
          <p:cNvGrpSpPr/>
          <p:nvPr/>
        </p:nvGrpSpPr>
        <p:grpSpPr>
          <a:xfrm>
            <a:off x="2134235" y="2187575"/>
            <a:ext cx="909955" cy="3427095"/>
            <a:chOff x="6236" y="3395"/>
            <a:chExt cx="3131" cy="3633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319" name="圆角矩形 318"/>
            <p:cNvSpPr/>
            <p:nvPr>
              <p:custDataLst>
                <p:tags r:id="rId80"/>
              </p:custDataLst>
            </p:nvPr>
          </p:nvSpPr>
          <p:spPr>
            <a:xfrm>
              <a:off x="6236" y="3395"/>
              <a:ext cx="3131" cy="3633"/>
            </a:xfrm>
            <a:prstGeom prst="roundRect">
              <a:avLst>
                <a:gd name="adj" fmla="val 2948"/>
              </a:avLst>
            </a:prstGeom>
            <a:noFill/>
            <a:ln w="12700">
              <a:solidFill>
                <a:schemeClr val="accent1">
                  <a:alpha val="61000"/>
                </a:schemeClr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style>
            <a:lnRef idx="0">
              <a:srgbClr val="FFFFFF"/>
            </a:lnRef>
            <a:fillRef idx="3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p>
              <a:pPr lvl="0" algn="ctr">
                <a:lnSpc>
                  <a:spcPct val="80000"/>
                </a:lnSpc>
                <a:buClrTx/>
                <a:buSzTx/>
                <a:buFontTx/>
              </a:pPr>
              <a:endParaRPr lang="zh-CN" altLang="en-US" sz="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21" name="文本框 16"/>
            <p:cNvSpPr txBox="1"/>
            <p:nvPr>
              <p:custDataLst>
                <p:tags r:id="rId81"/>
              </p:custDataLst>
            </p:nvPr>
          </p:nvSpPr>
          <p:spPr>
            <a:xfrm>
              <a:off x="6236" y="3416"/>
              <a:ext cx="3131" cy="238"/>
            </a:xfrm>
            <a:prstGeom prst="rect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>
                <a:defRPr sz="2400">
                  <a:latin typeface="汉仪菱心体简" panose="02010400000101010101" charset="-122"/>
                  <a:ea typeface="汉仪菱心体简" panose="02010400000101010101" charset="-122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buClrTx/>
                <a:buSzTx/>
                <a:buFontTx/>
              </a:pPr>
              <a:r>
                <a:rPr lang="zh-CN" altLang="en-US" sz="1000" b="1" dirty="0">
                  <a:solidFill>
                    <a:srgbClr val="2A59DF"/>
                  </a:solidFill>
                  <a:latin typeface="微软雅黑" panose="020B0503020204020204" charset="-122"/>
                  <a:ea typeface="微软雅黑" panose="020B0503020204020204" charset="-122"/>
                  <a:sym typeface="HarmonyOS Sans SC Bold" panose="00000800000000000000" pitchFamily="2" charset="-122"/>
                </a:rPr>
                <a:t>信贷业务域</a:t>
              </a:r>
              <a:endParaRPr lang="en-US" altLang="zh-CN" sz="1000" b="1" dirty="0">
                <a:solidFill>
                  <a:srgbClr val="2A59DF"/>
                </a:solidFill>
                <a:latin typeface="微软雅黑" panose="020B0503020204020204" charset="-122"/>
                <a:ea typeface="微软雅黑" panose="020B0503020204020204" charset="-122"/>
                <a:sym typeface="HarmonyOS Sans SC Bold" panose="00000800000000000000" pitchFamily="2" charset="-122"/>
              </a:endParaRPr>
            </a:p>
          </p:txBody>
        </p:sp>
      </p:grpSp>
      <p:sp>
        <p:nvSpPr>
          <p:cNvPr id="323" name="圆角矩形 322"/>
          <p:cNvSpPr/>
          <p:nvPr>
            <p:custDataLst>
              <p:tags r:id="rId82"/>
            </p:custDataLst>
          </p:nvPr>
        </p:nvSpPr>
        <p:spPr>
          <a:xfrm>
            <a:off x="2272030" y="2705100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富民贷</a:t>
            </a:r>
            <a:r>
              <a:rPr lang="en-US" altLang="zh-CN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自营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24" name="圆角矩形 323"/>
          <p:cNvSpPr/>
          <p:nvPr>
            <p:custDataLst>
              <p:tags r:id="rId83"/>
            </p:custDataLst>
          </p:nvPr>
        </p:nvSpPr>
        <p:spPr>
          <a:xfrm>
            <a:off x="2272030" y="318833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富民贷</a:t>
            </a:r>
            <a:r>
              <a:rPr lang="en-US" altLang="zh-CN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联合贷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27" name="圆角矩形 326"/>
          <p:cNvSpPr/>
          <p:nvPr>
            <p:custDataLst>
              <p:tags r:id="rId84"/>
            </p:custDataLst>
          </p:nvPr>
        </p:nvSpPr>
        <p:spPr>
          <a:xfrm>
            <a:off x="2272030" y="3660140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富业贷</a:t>
            </a:r>
            <a:r>
              <a:rPr lang="en-US" altLang="zh-CN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小微融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28" name="圆角矩形 327"/>
          <p:cNvSpPr/>
          <p:nvPr>
            <p:custDataLst>
              <p:tags r:id="rId85"/>
            </p:custDataLst>
          </p:nvPr>
        </p:nvSpPr>
        <p:spPr>
          <a:xfrm>
            <a:off x="2272030" y="4124960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富业贷</a:t>
            </a:r>
            <a:r>
              <a:rPr lang="en-US" altLang="zh-CN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富税贷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29" name="圆角矩形 328"/>
          <p:cNvSpPr/>
          <p:nvPr>
            <p:custDataLst>
              <p:tags r:id="rId86"/>
            </p:custDataLst>
          </p:nvPr>
        </p:nvSpPr>
        <p:spPr>
          <a:xfrm>
            <a:off x="2272030" y="4613275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富民贷</a:t>
            </a:r>
            <a:r>
              <a:rPr lang="en-US" altLang="zh-CN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车主贷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30" name="圆角矩形 329"/>
          <p:cNvSpPr/>
          <p:nvPr>
            <p:custDataLst>
              <p:tags r:id="rId87"/>
            </p:custDataLst>
          </p:nvPr>
        </p:nvSpPr>
        <p:spPr>
          <a:xfrm>
            <a:off x="2272030" y="5086350"/>
            <a:ext cx="635000" cy="257175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0" bIns="0" numCol="1" spcCol="0" rtlCol="0" fromWordArt="0" anchor="ctr" anchorCtr="0" forceAA="0" compatLnSpc="1">
            <a:noAutofit/>
          </a:bodyPr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富民贷</a:t>
            </a:r>
            <a:r>
              <a:rPr lang="en-US" altLang="zh-CN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600" b="1">
                <a:solidFill>
                  <a:srgbClr val="1E54E3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经营贷</a:t>
            </a:r>
            <a:endParaRPr lang="zh-CN" altLang="en-US" sz="600" b="1">
              <a:solidFill>
                <a:srgbClr val="1E54E3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31" name="右箭头 330"/>
          <p:cNvSpPr/>
          <p:nvPr>
            <p:custDataLst>
              <p:tags r:id="rId88"/>
            </p:custDataLst>
          </p:nvPr>
        </p:nvSpPr>
        <p:spPr>
          <a:xfrm>
            <a:off x="3054350" y="4271010"/>
            <a:ext cx="200660" cy="288290"/>
          </a:xfrm>
          <a:prstGeom prst="rightArrow">
            <a:avLst/>
          </a:prstGeom>
          <a:solidFill>
            <a:srgbClr val="F5B482"/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t" anchorCtr="0" forceAA="0" compatLnSpc="1">
            <a:noAutofit/>
          </a:bodyPr>
          <a:p>
            <a:pPr lvl="0" algn="ctr">
              <a:lnSpc>
                <a:spcPct val="150000"/>
              </a:lnSpc>
              <a:buClrTx/>
              <a:buSzTx/>
              <a:buFontTx/>
            </a:pPr>
            <a:endParaRPr lang="zh-CN" altLang="en-US" sz="1400" b="1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FAFAFA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32" name="矩形 331"/>
          <p:cNvSpPr/>
          <p:nvPr/>
        </p:nvSpPr>
        <p:spPr>
          <a:xfrm>
            <a:off x="2740660" y="6059170"/>
            <a:ext cx="214630" cy="137160"/>
          </a:xfrm>
          <a:prstGeom prst="rect">
            <a:avLst/>
          </a:prstGeom>
          <a:gradFill>
            <a:gsLst>
              <a:gs pos="0">
                <a:srgbClr val="2957DE"/>
              </a:gs>
              <a:gs pos="100000">
                <a:srgbClr val="598BF6"/>
              </a:gs>
            </a:gsLst>
            <a:lin ang="4500000" scaled="0"/>
          </a:gradFill>
          <a:ln w="6032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>
            <p:custDataLst>
              <p:tags r:id="rId1"/>
            </p:custDataLst>
          </p:nvPr>
        </p:nvSpPr>
        <p:spPr>
          <a:xfrm>
            <a:off x="937895" y="1819275"/>
            <a:ext cx="4093210" cy="3696335"/>
          </a:xfrm>
          <a:prstGeom prst="roundRect">
            <a:avLst>
              <a:gd name="adj" fmla="val 1095"/>
            </a:avLst>
          </a:prstGeom>
          <a:solidFill>
            <a:schemeClr val="bg1"/>
          </a:solidFill>
          <a:ln w="12700">
            <a:solidFill>
              <a:schemeClr val="accent1">
                <a:alpha val="61000"/>
              </a:schemeClr>
            </a:solidFill>
            <a:prstDash val="sysDash"/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p>
            <a:pPr lvl="0" algn="ctr">
              <a:lnSpc>
                <a:spcPct val="80000"/>
              </a:lnSpc>
              <a:buClrTx/>
              <a:buSzTx/>
              <a:buFontTx/>
            </a:pPr>
            <a:r>
              <a:rPr lang="zh-CN" altLang="en-US" sz="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资产管理域</a:t>
            </a:r>
            <a:endParaRPr lang="zh-CN" altLang="en-US" sz="800" b="1">
              <a:solidFill>
                <a:schemeClr val="tx1">
                  <a:lumMod val="95000"/>
                  <a:lumOff val="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1" name="圆角矩形 30"/>
          <p:cNvSpPr/>
          <p:nvPr>
            <p:custDataLst>
              <p:tags r:id="rId2"/>
            </p:custDataLst>
          </p:nvPr>
        </p:nvSpPr>
        <p:spPr>
          <a:xfrm>
            <a:off x="5455920" y="3123565"/>
            <a:ext cx="2503805" cy="1096645"/>
          </a:xfrm>
          <a:prstGeom prst="roundRect">
            <a:avLst>
              <a:gd name="adj" fmla="val 1095"/>
            </a:avLst>
          </a:prstGeom>
          <a:solidFill>
            <a:schemeClr val="bg1"/>
          </a:solidFill>
          <a:ln w="12700">
            <a:solidFill>
              <a:schemeClr val="accent1">
                <a:alpha val="61000"/>
              </a:schemeClr>
            </a:solidFill>
            <a:prstDash val="sysDash"/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p>
            <a:pPr lvl="0" algn="ctr">
              <a:lnSpc>
                <a:spcPct val="80000"/>
              </a:lnSpc>
              <a:buClrTx/>
              <a:buSzTx/>
              <a:buFontTx/>
            </a:pPr>
            <a:r>
              <a:rPr lang="zh-CN" altLang="en-US" sz="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风险管理域</a:t>
            </a:r>
            <a:endParaRPr lang="zh-CN" altLang="en-US" sz="800" b="1">
              <a:solidFill>
                <a:schemeClr val="tx1">
                  <a:lumMod val="95000"/>
                  <a:lumOff val="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2" name="圆角矩形 31"/>
          <p:cNvSpPr/>
          <p:nvPr>
            <p:custDataLst>
              <p:tags r:id="rId3"/>
            </p:custDataLst>
          </p:nvPr>
        </p:nvSpPr>
        <p:spPr>
          <a:xfrm>
            <a:off x="5462905" y="1823720"/>
            <a:ext cx="2503805" cy="1096645"/>
          </a:xfrm>
          <a:prstGeom prst="roundRect">
            <a:avLst>
              <a:gd name="adj" fmla="val 1095"/>
            </a:avLst>
          </a:prstGeom>
          <a:solidFill>
            <a:schemeClr val="bg1"/>
          </a:solidFill>
          <a:ln w="12700">
            <a:solidFill>
              <a:schemeClr val="accent1">
                <a:alpha val="61000"/>
              </a:schemeClr>
            </a:solidFill>
            <a:prstDash val="sysDash"/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p>
            <a:pPr lvl="0" algn="ctr">
              <a:lnSpc>
                <a:spcPct val="80000"/>
              </a:lnSpc>
              <a:buClrTx/>
              <a:buSzTx/>
              <a:buFontTx/>
            </a:pPr>
            <a:r>
              <a:rPr lang="zh-CN" altLang="en-US" sz="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流量输出域</a:t>
            </a:r>
            <a:endParaRPr lang="zh-CN" altLang="en-US" sz="800" b="1">
              <a:solidFill>
                <a:schemeClr val="tx1">
                  <a:lumMod val="95000"/>
                  <a:lumOff val="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4" name="圆角矩形 33"/>
          <p:cNvSpPr/>
          <p:nvPr>
            <p:custDataLst>
              <p:tags r:id="rId4"/>
            </p:custDataLst>
          </p:nvPr>
        </p:nvSpPr>
        <p:spPr>
          <a:xfrm>
            <a:off x="5455920" y="4418965"/>
            <a:ext cx="2503805" cy="1096645"/>
          </a:xfrm>
          <a:prstGeom prst="roundRect">
            <a:avLst>
              <a:gd name="adj" fmla="val 1095"/>
            </a:avLst>
          </a:prstGeom>
          <a:solidFill>
            <a:schemeClr val="bg1"/>
          </a:solidFill>
          <a:ln w="12700">
            <a:solidFill>
              <a:schemeClr val="accent1">
                <a:alpha val="61000"/>
              </a:schemeClr>
            </a:solidFill>
            <a:prstDash val="sysDash"/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p>
            <a:pPr lvl="0" algn="ctr">
              <a:lnSpc>
                <a:spcPct val="80000"/>
              </a:lnSpc>
              <a:buClrTx/>
              <a:buSzTx/>
              <a:buFontTx/>
            </a:pPr>
            <a:r>
              <a:rPr lang="zh-CN" altLang="en-US" sz="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资金链接域</a:t>
            </a:r>
            <a:endParaRPr lang="zh-CN" altLang="en-US" sz="800" b="1">
              <a:solidFill>
                <a:schemeClr val="tx1">
                  <a:lumMod val="95000"/>
                  <a:lumOff val="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80" name="圆角矩形 179"/>
          <p:cNvSpPr/>
          <p:nvPr>
            <p:custDataLst>
              <p:tags r:id="rId5"/>
            </p:custDataLst>
          </p:nvPr>
        </p:nvSpPr>
        <p:spPr>
          <a:xfrm>
            <a:off x="1104900" y="2110105"/>
            <a:ext cx="1050290" cy="3202305"/>
          </a:xfrm>
          <a:prstGeom prst="roundRect">
            <a:avLst>
              <a:gd name="adj" fmla="val 5430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61000"/>
              </a:schemeClr>
            </a:solidFill>
            <a:prstDash val="sysDash"/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p>
            <a:pPr lvl="0" algn="ctr">
              <a:lnSpc>
                <a:spcPct val="80000"/>
              </a:lnSpc>
              <a:buClrTx/>
              <a:buSzTx/>
              <a:buFontTx/>
            </a:pPr>
            <a:r>
              <a:rPr lang="zh-CN" altLang="en-US" sz="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信贷业务域</a:t>
            </a:r>
            <a:endParaRPr lang="zh-CN" altLang="en-US" sz="800" b="1">
              <a:solidFill>
                <a:schemeClr val="tx1">
                  <a:lumMod val="95000"/>
                  <a:lumOff val="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9" name="圆角矩形 48"/>
          <p:cNvSpPr/>
          <p:nvPr>
            <p:custDataLst>
              <p:tags r:id="rId6"/>
            </p:custDataLst>
          </p:nvPr>
        </p:nvSpPr>
        <p:spPr>
          <a:xfrm>
            <a:off x="6899275" y="3546475"/>
            <a:ext cx="759460" cy="432435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担保增信</a:t>
            </a:r>
            <a:endParaRPr lang="zh-CN" altLang="en-US" sz="100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撮合平台</a:t>
            </a:r>
            <a:endParaRPr lang="zh-CN" altLang="en-US" sz="100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0" name="圆角矩形 69"/>
          <p:cNvSpPr/>
          <p:nvPr>
            <p:custDataLst>
              <p:tags r:id="rId7"/>
            </p:custDataLst>
          </p:nvPr>
        </p:nvSpPr>
        <p:spPr>
          <a:xfrm>
            <a:off x="5730875" y="3546475"/>
            <a:ext cx="759460" cy="432435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风控系统</a:t>
            </a:r>
            <a:endParaRPr lang="zh-CN" altLang="en-US" sz="100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2" name="圆角矩形 81"/>
          <p:cNvSpPr/>
          <p:nvPr>
            <p:custDataLst>
              <p:tags r:id="rId8"/>
            </p:custDataLst>
          </p:nvPr>
        </p:nvSpPr>
        <p:spPr>
          <a:xfrm>
            <a:off x="6221095" y="4761865"/>
            <a:ext cx="987425" cy="432435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资金机构</a:t>
            </a:r>
            <a:endParaRPr lang="zh-CN" altLang="en-US" sz="100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链接平台</a:t>
            </a:r>
            <a:endParaRPr lang="zh-CN" altLang="en-US" sz="100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3" name="圆角矩形 82"/>
          <p:cNvSpPr/>
          <p:nvPr>
            <p:custDataLst>
              <p:tags r:id="rId9"/>
            </p:custDataLst>
          </p:nvPr>
        </p:nvSpPr>
        <p:spPr>
          <a:xfrm>
            <a:off x="6207760" y="2244725"/>
            <a:ext cx="987425" cy="432435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流量导出</a:t>
            </a:r>
            <a:endParaRPr lang="zh-CN" altLang="en-US" sz="100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撮合平台</a:t>
            </a:r>
            <a:endParaRPr lang="zh-CN" altLang="en-US" sz="100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5" name="同侧圆角矩形 84"/>
          <p:cNvSpPr/>
          <p:nvPr/>
        </p:nvSpPr>
        <p:spPr>
          <a:xfrm>
            <a:off x="1222375" y="2474595"/>
            <a:ext cx="814705" cy="302260"/>
          </a:xfrm>
          <a:prstGeom prst="round2SameRect">
            <a:avLst>
              <a:gd name="adj1" fmla="val 0"/>
              <a:gd name="adj2" fmla="val 0"/>
            </a:avLst>
          </a:prstGeom>
          <a:gradFill>
            <a:gsLst>
              <a:gs pos="0">
                <a:srgbClr val="2957DE"/>
              </a:gs>
              <a:gs pos="100000">
                <a:srgbClr val="598BF6"/>
              </a:gs>
            </a:gsLst>
            <a:lin ang="4500000" scaled="0"/>
          </a:gradFill>
          <a:ln w="6032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富民贷</a:t>
            </a:r>
            <a:r>
              <a:rPr lang="en-US" altLang="zh-CN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自营</a:t>
            </a:r>
            <a:endParaRPr lang="zh-CN" altLang="en-US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6" name="同侧圆角矩形 85"/>
          <p:cNvSpPr/>
          <p:nvPr/>
        </p:nvSpPr>
        <p:spPr>
          <a:xfrm>
            <a:off x="1222375" y="4001135"/>
            <a:ext cx="814705" cy="302260"/>
          </a:xfrm>
          <a:prstGeom prst="round2SameRect">
            <a:avLst>
              <a:gd name="adj1" fmla="val 0"/>
              <a:gd name="adj2" fmla="val 0"/>
            </a:avLst>
          </a:prstGeom>
          <a:gradFill>
            <a:gsLst>
              <a:gs pos="0">
                <a:srgbClr val="2957DE"/>
              </a:gs>
              <a:gs pos="100000">
                <a:srgbClr val="598BF6"/>
              </a:gs>
            </a:gsLst>
            <a:lin ang="4500000" scaled="0"/>
          </a:gradFill>
          <a:ln w="6032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富业贷</a:t>
            </a:r>
            <a:endParaRPr lang="zh-CN" altLang="en-US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7" name="同侧圆角矩形 86"/>
          <p:cNvSpPr/>
          <p:nvPr/>
        </p:nvSpPr>
        <p:spPr>
          <a:xfrm>
            <a:off x="1223010" y="4764405"/>
            <a:ext cx="814705" cy="302260"/>
          </a:xfrm>
          <a:prstGeom prst="round2SameRect">
            <a:avLst>
              <a:gd name="adj1" fmla="val 0"/>
              <a:gd name="adj2" fmla="val 0"/>
            </a:avLst>
          </a:prstGeom>
          <a:gradFill>
            <a:gsLst>
              <a:gs pos="0">
                <a:srgbClr val="2957DE"/>
              </a:gs>
              <a:gs pos="100000">
                <a:srgbClr val="598BF6"/>
              </a:gs>
            </a:gsLst>
            <a:lin ang="4500000" scaled="0"/>
          </a:gradFill>
          <a:ln w="6032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车金融</a:t>
            </a:r>
            <a:endParaRPr lang="zh-CN" altLang="en-US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2" name="同侧圆角矩形 91"/>
          <p:cNvSpPr/>
          <p:nvPr/>
        </p:nvSpPr>
        <p:spPr>
          <a:xfrm>
            <a:off x="1223010" y="3237865"/>
            <a:ext cx="814705" cy="302260"/>
          </a:xfrm>
          <a:prstGeom prst="round2SameRect">
            <a:avLst>
              <a:gd name="adj1" fmla="val 0"/>
              <a:gd name="adj2" fmla="val 0"/>
            </a:avLst>
          </a:prstGeom>
          <a:gradFill>
            <a:gsLst>
              <a:gs pos="0">
                <a:srgbClr val="2957DE"/>
              </a:gs>
              <a:gs pos="100000">
                <a:srgbClr val="598BF6"/>
              </a:gs>
            </a:gsLst>
            <a:lin ang="4500000" scaled="0"/>
          </a:gradFill>
          <a:ln w="6032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富民贷</a:t>
            </a:r>
            <a:r>
              <a:rPr lang="en-US" altLang="zh-CN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助贷</a:t>
            </a:r>
            <a:endParaRPr lang="zh-CN" altLang="en-US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7" name="圆角矩形 96"/>
          <p:cNvSpPr/>
          <p:nvPr>
            <p:custDataLst>
              <p:tags r:id="rId10"/>
            </p:custDataLst>
          </p:nvPr>
        </p:nvSpPr>
        <p:spPr>
          <a:xfrm>
            <a:off x="3251200" y="2110105"/>
            <a:ext cx="1344930" cy="1290955"/>
          </a:xfrm>
          <a:prstGeom prst="roundRect">
            <a:avLst>
              <a:gd name="adj" fmla="val 5430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61000"/>
              </a:schemeClr>
            </a:solidFill>
            <a:prstDash val="sysDash"/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p>
            <a:pPr lvl="0" algn="ctr">
              <a:lnSpc>
                <a:spcPct val="80000"/>
              </a:lnSpc>
              <a:buClrTx/>
              <a:buSzTx/>
              <a:buFontTx/>
            </a:pPr>
            <a:r>
              <a:rPr lang="zh-CN" altLang="en-US" sz="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资产决策域</a:t>
            </a:r>
            <a:endParaRPr lang="zh-CN" altLang="en-US" sz="800" b="1">
              <a:solidFill>
                <a:schemeClr val="tx1">
                  <a:lumMod val="95000"/>
                  <a:lumOff val="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0" name="同侧圆角矩形 99"/>
          <p:cNvSpPr/>
          <p:nvPr/>
        </p:nvSpPr>
        <p:spPr>
          <a:xfrm>
            <a:off x="3515995" y="2474595"/>
            <a:ext cx="814705" cy="302260"/>
          </a:xfrm>
          <a:prstGeom prst="round2SameRect">
            <a:avLst>
              <a:gd name="adj1" fmla="val 0"/>
              <a:gd name="adj2" fmla="val 0"/>
            </a:avLst>
          </a:prstGeom>
          <a:gradFill>
            <a:gsLst>
              <a:gs pos="0">
                <a:srgbClr val="2957DE"/>
              </a:gs>
              <a:gs pos="100000">
                <a:srgbClr val="598BF6"/>
              </a:gs>
            </a:gsLst>
            <a:lin ang="4500000" scaled="0"/>
          </a:gradFill>
          <a:ln w="6032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资产决策服务</a:t>
            </a:r>
            <a:endParaRPr lang="zh-CN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1" name="圆角矩形 100"/>
          <p:cNvSpPr/>
          <p:nvPr>
            <p:custDataLst>
              <p:tags r:id="rId11"/>
            </p:custDataLst>
          </p:nvPr>
        </p:nvSpPr>
        <p:spPr>
          <a:xfrm>
            <a:off x="3251200" y="3724275"/>
            <a:ext cx="1344930" cy="1588135"/>
          </a:xfrm>
          <a:prstGeom prst="roundRect">
            <a:avLst>
              <a:gd name="adj" fmla="val 5430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61000"/>
              </a:schemeClr>
            </a:solidFill>
            <a:prstDash val="sysDash"/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p>
            <a:pPr lvl="0" algn="ctr">
              <a:lnSpc>
                <a:spcPct val="80000"/>
              </a:lnSpc>
              <a:buClrTx/>
              <a:buSzTx/>
              <a:buFontTx/>
            </a:pPr>
            <a:r>
              <a:rPr lang="zh-CN" altLang="en-US" sz="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信贷交易域</a:t>
            </a:r>
            <a:endParaRPr lang="zh-CN" altLang="en-US" sz="800" b="1">
              <a:solidFill>
                <a:schemeClr val="tx1">
                  <a:lumMod val="95000"/>
                  <a:lumOff val="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2" name="同侧圆角矩形 101"/>
          <p:cNvSpPr/>
          <p:nvPr/>
        </p:nvSpPr>
        <p:spPr>
          <a:xfrm>
            <a:off x="3516630" y="2934970"/>
            <a:ext cx="814705" cy="302260"/>
          </a:xfrm>
          <a:prstGeom prst="round2SameRect">
            <a:avLst>
              <a:gd name="adj1" fmla="val 0"/>
              <a:gd name="adj2" fmla="val 0"/>
            </a:avLst>
          </a:prstGeom>
          <a:gradFill>
            <a:gsLst>
              <a:gs pos="0">
                <a:srgbClr val="2957DE"/>
              </a:gs>
              <a:gs pos="100000">
                <a:srgbClr val="598BF6"/>
              </a:gs>
            </a:gsLst>
            <a:lin ang="4500000" scaled="0"/>
          </a:gradFill>
          <a:ln w="6032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流量决策服务</a:t>
            </a:r>
            <a:endParaRPr lang="zh-CN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3" name="同侧圆角矩形 102"/>
          <p:cNvSpPr/>
          <p:nvPr/>
        </p:nvSpPr>
        <p:spPr>
          <a:xfrm>
            <a:off x="3515995" y="4026535"/>
            <a:ext cx="814705" cy="302260"/>
          </a:xfrm>
          <a:prstGeom prst="round2SameRect">
            <a:avLst>
              <a:gd name="adj1" fmla="val 0"/>
              <a:gd name="adj2" fmla="val 0"/>
            </a:avLst>
          </a:prstGeom>
          <a:gradFill>
            <a:gsLst>
              <a:gs pos="0">
                <a:srgbClr val="2957DE"/>
              </a:gs>
              <a:gs pos="100000">
                <a:srgbClr val="598BF6"/>
              </a:gs>
            </a:gsLst>
            <a:lin ang="4500000" scaled="0"/>
          </a:gradFill>
          <a:ln w="6032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授信交易服务</a:t>
            </a:r>
            <a:endParaRPr lang="zh-CN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4" name="同侧圆角矩形 103"/>
          <p:cNvSpPr/>
          <p:nvPr/>
        </p:nvSpPr>
        <p:spPr>
          <a:xfrm>
            <a:off x="3516630" y="4462145"/>
            <a:ext cx="814705" cy="302260"/>
          </a:xfrm>
          <a:prstGeom prst="round2SameRect">
            <a:avLst>
              <a:gd name="adj1" fmla="val 0"/>
              <a:gd name="adj2" fmla="val 0"/>
            </a:avLst>
          </a:prstGeom>
          <a:gradFill>
            <a:gsLst>
              <a:gs pos="0">
                <a:srgbClr val="2957DE"/>
              </a:gs>
              <a:gs pos="100000">
                <a:srgbClr val="598BF6"/>
              </a:gs>
            </a:gsLst>
            <a:lin ang="4500000" scaled="0"/>
          </a:gradFill>
          <a:ln w="6032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用信交易服务</a:t>
            </a:r>
            <a:endParaRPr lang="zh-CN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9" name="同侧圆角矩形 108"/>
          <p:cNvSpPr/>
          <p:nvPr/>
        </p:nvSpPr>
        <p:spPr>
          <a:xfrm>
            <a:off x="3516630" y="4897120"/>
            <a:ext cx="814705" cy="302260"/>
          </a:xfrm>
          <a:prstGeom prst="round2SameRect">
            <a:avLst>
              <a:gd name="adj1" fmla="val 0"/>
              <a:gd name="adj2" fmla="val 0"/>
            </a:avLst>
          </a:prstGeom>
          <a:gradFill>
            <a:gsLst>
              <a:gs pos="0">
                <a:srgbClr val="2957DE"/>
              </a:gs>
              <a:gs pos="100000">
                <a:srgbClr val="598BF6"/>
              </a:gs>
            </a:gsLst>
            <a:lin ang="4500000" scaled="0"/>
          </a:gradFill>
          <a:ln w="6032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还款交易服务</a:t>
            </a:r>
            <a:endParaRPr lang="zh-CN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110" name="直接箭头连接符 109"/>
          <p:cNvCxnSpPr>
            <a:endCxn id="97" idx="1"/>
          </p:cNvCxnSpPr>
          <p:nvPr/>
        </p:nvCxnSpPr>
        <p:spPr>
          <a:xfrm>
            <a:off x="2152650" y="2752725"/>
            <a:ext cx="1098550" cy="31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箭头连接符 110"/>
          <p:cNvCxnSpPr>
            <a:endCxn id="101" idx="1"/>
          </p:cNvCxnSpPr>
          <p:nvPr/>
        </p:nvCxnSpPr>
        <p:spPr>
          <a:xfrm flipV="1">
            <a:off x="2152650" y="4518660"/>
            <a:ext cx="1098550" cy="57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箭头连接符 111"/>
          <p:cNvCxnSpPr>
            <a:stCxn id="101" idx="3"/>
            <a:endCxn id="31" idx="1"/>
          </p:cNvCxnSpPr>
          <p:nvPr/>
        </p:nvCxnSpPr>
        <p:spPr>
          <a:xfrm flipV="1">
            <a:off x="4596130" y="3672205"/>
            <a:ext cx="859790" cy="8464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箭头连接符 112"/>
          <p:cNvCxnSpPr>
            <a:stCxn id="101" idx="3"/>
            <a:endCxn id="34" idx="1"/>
          </p:cNvCxnSpPr>
          <p:nvPr/>
        </p:nvCxnSpPr>
        <p:spPr>
          <a:xfrm>
            <a:off x="4596130" y="4518660"/>
            <a:ext cx="859790" cy="44894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肘形连接符 113"/>
          <p:cNvCxnSpPr>
            <a:endCxn id="32" idx="1"/>
          </p:cNvCxnSpPr>
          <p:nvPr/>
        </p:nvCxnSpPr>
        <p:spPr>
          <a:xfrm flipV="1">
            <a:off x="2143125" y="2372360"/>
            <a:ext cx="3319780" cy="1199515"/>
          </a:xfrm>
          <a:prstGeom prst="bentConnector3">
            <a:avLst>
              <a:gd name="adj1" fmla="val 79858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箭头连接符 114"/>
          <p:cNvCxnSpPr>
            <a:stCxn id="70" idx="3"/>
            <a:endCxn id="49" idx="1"/>
          </p:cNvCxnSpPr>
          <p:nvPr/>
        </p:nvCxnSpPr>
        <p:spPr>
          <a:xfrm>
            <a:off x="6490335" y="3763010"/>
            <a:ext cx="40894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圆角矩形 115"/>
          <p:cNvSpPr/>
          <p:nvPr>
            <p:custDataLst>
              <p:tags r:id="rId12"/>
            </p:custDataLst>
          </p:nvPr>
        </p:nvSpPr>
        <p:spPr>
          <a:xfrm>
            <a:off x="8293100" y="2156460"/>
            <a:ext cx="987425" cy="432435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流量机构</a:t>
            </a:r>
            <a:endParaRPr lang="zh-CN" altLang="en-US" sz="100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7" name="圆角矩形 116"/>
          <p:cNvSpPr/>
          <p:nvPr>
            <p:custDataLst>
              <p:tags r:id="rId13"/>
            </p:custDataLst>
          </p:nvPr>
        </p:nvSpPr>
        <p:spPr>
          <a:xfrm>
            <a:off x="8293100" y="3455670"/>
            <a:ext cx="987425" cy="432435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融担机构</a:t>
            </a:r>
            <a:endParaRPr lang="zh-CN" altLang="en-US" sz="100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8" name="圆角矩形 117"/>
          <p:cNvSpPr/>
          <p:nvPr>
            <p:custDataLst>
              <p:tags r:id="rId14"/>
            </p:custDataLst>
          </p:nvPr>
        </p:nvSpPr>
        <p:spPr>
          <a:xfrm>
            <a:off x="8293100" y="4751070"/>
            <a:ext cx="987425" cy="432435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资金机构</a:t>
            </a:r>
            <a:endParaRPr lang="zh-CN" altLang="en-US" sz="100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119" name="直接箭头连接符 118"/>
          <p:cNvCxnSpPr>
            <a:stCxn id="32" idx="3"/>
            <a:endCxn id="116" idx="1"/>
          </p:cNvCxnSpPr>
          <p:nvPr/>
        </p:nvCxnSpPr>
        <p:spPr>
          <a:xfrm>
            <a:off x="7966710" y="2372360"/>
            <a:ext cx="326390" cy="6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接箭头连接符 119"/>
          <p:cNvCxnSpPr>
            <a:stCxn id="31" idx="3"/>
            <a:endCxn id="117" idx="1"/>
          </p:cNvCxnSpPr>
          <p:nvPr/>
        </p:nvCxnSpPr>
        <p:spPr>
          <a:xfrm>
            <a:off x="7959725" y="3672205"/>
            <a:ext cx="33337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接箭头连接符 131"/>
          <p:cNvCxnSpPr>
            <a:stCxn id="34" idx="3"/>
            <a:endCxn id="118" idx="1"/>
          </p:cNvCxnSpPr>
          <p:nvPr/>
        </p:nvCxnSpPr>
        <p:spPr>
          <a:xfrm>
            <a:off x="7959725" y="4967605"/>
            <a:ext cx="33337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文本框 141"/>
          <p:cNvSpPr txBox="1"/>
          <p:nvPr/>
        </p:nvSpPr>
        <p:spPr>
          <a:xfrm>
            <a:off x="2082800" y="2244725"/>
            <a:ext cx="1252220" cy="474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000">
                <a:solidFill>
                  <a:srgbClr val="0841B2"/>
                </a:solidFill>
              </a:rPr>
              <a:t>①资产决策（融担）</a:t>
            </a:r>
            <a:endParaRPr lang="zh-CN" altLang="en-US" sz="1000">
              <a:solidFill>
                <a:srgbClr val="0841B2"/>
              </a:solidFill>
            </a:endParaRPr>
          </a:p>
          <a:p>
            <a:r>
              <a:rPr lang="zh-CN" altLang="en-US" sz="1000">
                <a:solidFill>
                  <a:srgbClr val="0841B2"/>
                </a:solidFill>
              </a:rPr>
              <a:t>③资产决策（输出）</a:t>
            </a:r>
            <a:endParaRPr lang="zh-CN" altLang="en-US" sz="1000">
              <a:solidFill>
                <a:srgbClr val="0841B2"/>
              </a:solidFill>
            </a:endParaRPr>
          </a:p>
          <a:p>
            <a:r>
              <a:rPr lang="zh-CN" altLang="en-US" sz="1000">
                <a:solidFill>
                  <a:srgbClr val="0841B2"/>
                </a:solidFill>
              </a:rPr>
              <a:t>⑤流量决策</a:t>
            </a:r>
            <a:endParaRPr lang="zh-CN" altLang="en-US" sz="1000">
              <a:solidFill>
                <a:srgbClr val="0841B2"/>
              </a:solidFill>
            </a:endParaRPr>
          </a:p>
        </p:txBody>
      </p:sp>
      <p:sp>
        <p:nvSpPr>
          <p:cNvPr id="154" name="文本框 153"/>
          <p:cNvSpPr txBox="1"/>
          <p:nvPr/>
        </p:nvSpPr>
        <p:spPr>
          <a:xfrm>
            <a:off x="2102485" y="4157345"/>
            <a:ext cx="1083310" cy="474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000">
                <a:solidFill>
                  <a:srgbClr val="0841B2"/>
                </a:solidFill>
              </a:rPr>
              <a:t>②风险审批</a:t>
            </a:r>
            <a:endParaRPr lang="zh-CN" altLang="en-US" sz="1000">
              <a:solidFill>
                <a:srgbClr val="0841B2"/>
              </a:solidFill>
            </a:endParaRPr>
          </a:p>
          <a:p>
            <a:r>
              <a:rPr lang="zh-CN" altLang="en-US" sz="1000">
                <a:solidFill>
                  <a:srgbClr val="0841B2"/>
                </a:solidFill>
              </a:rPr>
              <a:t>④机构审批</a:t>
            </a:r>
            <a:endParaRPr lang="zh-CN" altLang="en-US" sz="1000">
              <a:solidFill>
                <a:srgbClr val="0841B2"/>
              </a:solidFill>
            </a:endParaRPr>
          </a:p>
        </p:txBody>
      </p:sp>
      <p:sp>
        <p:nvSpPr>
          <p:cNvPr id="157" name="文本框 156"/>
          <p:cNvSpPr txBox="1"/>
          <p:nvPr/>
        </p:nvSpPr>
        <p:spPr>
          <a:xfrm>
            <a:off x="2102485" y="3357245"/>
            <a:ext cx="1252220" cy="2654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000">
                <a:solidFill>
                  <a:srgbClr val="0841B2"/>
                </a:solidFill>
              </a:rPr>
              <a:t>⑥流量导出</a:t>
            </a:r>
            <a:endParaRPr lang="zh-CN" altLang="en-US" sz="1000">
              <a:solidFill>
                <a:srgbClr val="0841B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圆角矩形 31"/>
          <p:cNvSpPr/>
          <p:nvPr>
            <p:custDataLst>
              <p:tags r:id="rId1"/>
            </p:custDataLst>
          </p:nvPr>
        </p:nvSpPr>
        <p:spPr>
          <a:xfrm>
            <a:off x="4653280" y="1823720"/>
            <a:ext cx="2855595" cy="1096645"/>
          </a:xfrm>
          <a:prstGeom prst="roundRect">
            <a:avLst>
              <a:gd name="adj" fmla="val 1095"/>
            </a:avLst>
          </a:prstGeom>
          <a:solidFill>
            <a:schemeClr val="bg1"/>
          </a:solidFill>
          <a:ln w="12700">
            <a:solidFill>
              <a:schemeClr val="accent1">
                <a:alpha val="61000"/>
              </a:schemeClr>
            </a:solidFill>
            <a:prstDash val="sysDash"/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p>
            <a:pPr lvl="0" algn="ctr">
              <a:lnSpc>
                <a:spcPct val="80000"/>
              </a:lnSpc>
              <a:buClrTx/>
              <a:buSzTx/>
              <a:buFontTx/>
            </a:pPr>
            <a:r>
              <a:rPr lang="zh-CN" altLang="en-US" sz="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流量输出域</a:t>
            </a:r>
            <a:endParaRPr lang="zh-CN" altLang="en-US" sz="800" b="1">
              <a:solidFill>
                <a:schemeClr val="tx1">
                  <a:lumMod val="95000"/>
                  <a:lumOff val="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4" name="圆角矩形 33"/>
          <p:cNvSpPr/>
          <p:nvPr>
            <p:custDataLst>
              <p:tags r:id="rId2"/>
            </p:custDataLst>
          </p:nvPr>
        </p:nvSpPr>
        <p:spPr>
          <a:xfrm>
            <a:off x="4646295" y="3237865"/>
            <a:ext cx="2855595" cy="2277745"/>
          </a:xfrm>
          <a:prstGeom prst="roundRect">
            <a:avLst>
              <a:gd name="adj" fmla="val 1095"/>
            </a:avLst>
          </a:prstGeom>
          <a:solidFill>
            <a:schemeClr val="bg1"/>
          </a:solidFill>
          <a:ln w="12700">
            <a:solidFill>
              <a:schemeClr val="accent1">
                <a:alpha val="61000"/>
              </a:schemeClr>
            </a:solidFill>
            <a:prstDash val="sysDash"/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p>
            <a:pPr lvl="0" algn="ctr">
              <a:lnSpc>
                <a:spcPct val="80000"/>
              </a:lnSpc>
              <a:buClrTx/>
              <a:buSzTx/>
              <a:buFontTx/>
            </a:pPr>
            <a:r>
              <a:rPr lang="en-US" altLang="zh-CN" sz="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Switch</a:t>
            </a:r>
            <a:r>
              <a:rPr lang="zh-CN" altLang="en-US" sz="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链接域</a:t>
            </a:r>
            <a:endParaRPr lang="zh-CN" altLang="en-US" sz="800" b="1">
              <a:solidFill>
                <a:schemeClr val="tx1">
                  <a:lumMod val="95000"/>
                  <a:lumOff val="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80" name="圆角矩形 179"/>
          <p:cNvSpPr/>
          <p:nvPr>
            <p:custDataLst>
              <p:tags r:id="rId3"/>
            </p:custDataLst>
          </p:nvPr>
        </p:nvSpPr>
        <p:spPr>
          <a:xfrm>
            <a:off x="1104900" y="2110105"/>
            <a:ext cx="1050290" cy="3202305"/>
          </a:xfrm>
          <a:prstGeom prst="roundRect">
            <a:avLst>
              <a:gd name="adj" fmla="val 5430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61000"/>
              </a:schemeClr>
            </a:solidFill>
            <a:prstDash val="sysDash"/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p>
            <a:pPr lvl="0" algn="ctr">
              <a:lnSpc>
                <a:spcPct val="80000"/>
              </a:lnSpc>
              <a:buClrTx/>
              <a:buSzTx/>
              <a:buFontTx/>
            </a:pPr>
            <a:r>
              <a:rPr lang="zh-CN" altLang="en-US" sz="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信贷业务域</a:t>
            </a:r>
            <a:endParaRPr lang="zh-CN" altLang="en-US" sz="800" b="1">
              <a:solidFill>
                <a:schemeClr val="tx1">
                  <a:lumMod val="95000"/>
                  <a:lumOff val="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3" name="圆角矩形 82"/>
          <p:cNvSpPr/>
          <p:nvPr>
            <p:custDataLst>
              <p:tags r:id="rId4"/>
            </p:custDataLst>
          </p:nvPr>
        </p:nvSpPr>
        <p:spPr>
          <a:xfrm>
            <a:off x="6261100" y="2255520"/>
            <a:ext cx="987425" cy="432435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流量导出</a:t>
            </a:r>
            <a:endParaRPr lang="zh-CN" altLang="en-US" sz="100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撮合平台</a:t>
            </a:r>
            <a:endParaRPr lang="zh-CN" altLang="en-US" sz="100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5" name="同侧圆角矩形 84"/>
          <p:cNvSpPr/>
          <p:nvPr/>
        </p:nvSpPr>
        <p:spPr>
          <a:xfrm>
            <a:off x="1222375" y="2474595"/>
            <a:ext cx="814705" cy="302260"/>
          </a:xfrm>
          <a:prstGeom prst="round2SameRect">
            <a:avLst>
              <a:gd name="adj1" fmla="val 0"/>
              <a:gd name="adj2" fmla="val 0"/>
            </a:avLst>
          </a:prstGeom>
          <a:gradFill>
            <a:gsLst>
              <a:gs pos="0">
                <a:srgbClr val="2957DE"/>
              </a:gs>
              <a:gs pos="100000">
                <a:srgbClr val="598BF6"/>
              </a:gs>
            </a:gsLst>
            <a:lin ang="4500000" scaled="0"/>
          </a:gradFill>
          <a:ln w="6032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富民贷</a:t>
            </a:r>
            <a:r>
              <a:rPr lang="en-US" altLang="zh-CN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自营</a:t>
            </a:r>
            <a:endParaRPr lang="zh-CN" altLang="en-US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6" name="同侧圆角矩形 85"/>
          <p:cNvSpPr/>
          <p:nvPr/>
        </p:nvSpPr>
        <p:spPr>
          <a:xfrm>
            <a:off x="1222375" y="4001135"/>
            <a:ext cx="814705" cy="302260"/>
          </a:xfrm>
          <a:prstGeom prst="round2SameRect">
            <a:avLst>
              <a:gd name="adj1" fmla="val 0"/>
              <a:gd name="adj2" fmla="val 0"/>
            </a:avLst>
          </a:prstGeom>
          <a:gradFill>
            <a:gsLst>
              <a:gs pos="0">
                <a:srgbClr val="2957DE"/>
              </a:gs>
              <a:gs pos="100000">
                <a:srgbClr val="598BF6"/>
              </a:gs>
            </a:gsLst>
            <a:lin ang="4500000" scaled="0"/>
          </a:gradFill>
          <a:ln w="6032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富业贷</a:t>
            </a:r>
            <a:endParaRPr lang="zh-CN" altLang="en-US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7" name="同侧圆角矩形 86"/>
          <p:cNvSpPr/>
          <p:nvPr/>
        </p:nvSpPr>
        <p:spPr>
          <a:xfrm>
            <a:off x="1223010" y="4764405"/>
            <a:ext cx="814705" cy="302260"/>
          </a:xfrm>
          <a:prstGeom prst="round2SameRect">
            <a:avLst>
              <a:gd name="adj1" fmla="val 0"/>
              <a:gd name="adj2" fmla="val 0"/>
            </a:avLst>
          </a:prstGeom>
          <a:gradFill>
            <a:gsLst>
              <a:gs pos="0">
                <a:srgbClr val="2957DE"/>
              </a:gs>
              <a:gs pos="100000">
                <a:srgbClr val="598BF6"/>
              </a:gs>
            </a:gsLst>
            <a:lin ang="4500000" scaled="0"/>
          </a:gradFill>
          <a:ln w="6032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车金融</a:t>
            </a:r>
            <a:endParaRPr lang="zh-CN" altLang="en-US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2" name="同侧圆角矩形 91"/>
          <p:cNvSpPr/>
          <p:nvPr/>
        </p:nvSpPr>
        <p:spPr>
          <a:xfrm>
            <a:off x="1223010" y="3237865"/>
            <a:ext cx="814705" cy="302260"/>
          </a:xfrm>
          <a:prstGeom prst="round2SameRect">
            <a:avLst>
              <a:gd name="adj1" fmla="val 0"/>
              <a:gd name="adj2" fmla="val 0"/>
            </a:avLst>
          </a:prstGeom>
          <a:gradFill>
            <a:gsLst>
              <a:gs pos="0">
                <a:srgbClr val="2957DE"/>
              </a:gs>
              <a:gs pos="100000">
                <a:srgbClr val="598BF6"/>
              </a:gs>
            </a:gsLst>
            <a:lin ang="4500000" scaled="0"/>
          </a:gradFill>
          <a:ln w="6032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富民贷</a:t>
            </a:r>
            <a:r>
              <a:rPr lang="en-US" altLang="zh-CN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助贷</a:t>
            </a:r>
            <a:endParaRPr lang="zh-CN" altLang="en-US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1" name="圆角矩形 100"/>
          <p:cNvSpPr/>
          <p:nvPr>
            <p:custDataLst>
              <p:tags r:id="rId5"/>
            </p:custDataLst>
          </p:nvPr>
        </p:nvSpPr>
        <p:spPr>
          <a:xfrm>
            <a:off x="2905760" y="3587750"/>
            <a:ext cx="1344930" cy="1588135"/>
          </a:xfrm>
          <a:prstGeom prst="roundRect">
            <a:avLst>
              <a:gd name="adj" fmla="val 5430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61000"/>
              </a:schemeClr>
            </a:solidFill>
            <a:prstDash val="sysDash"/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p>
            <a:pPr lvl="0" algn="ctr">
              <a:lnSpc>
                <a:spcPct val="80000"/>
              </a:lnSpc>
              <a:buClrTx/>
              <a:buSzTx/>
              <a:buFontTx/>
            </a:pPr>
            <a:r>
              <a:rPr lang="zh-CN" altLang="en-US" sz="800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信贷交易域</a:t>
            </a:r>
            <a:endParaRPr lang="zh-CN" altLang="en-US" sz="800" b="1">
              <a:solidFill>
                <a:schemeClr val="tx1">
                  <a:lumMod val="95000"/>
                  <a:lumOff val="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3" name="同侧圆角矩形 102"/>
          <p:cNvSpPr/>
          <p:nvPr/>
        </p:nvSpPr>
        <p:spPr>
          <a:xfrm>
            <a:off x="3170555" y="3890010"/>
            <a:ext cx="814705" cy="302260"/>
          </a:xfrm>
          <a:prstGeom prst="round2SameRect">
            <a:avLst>
              <a:gd name="adj1" fmla="val 0"/>
              <a:gd name="adj2" fmla="val 0"/>
            </a:avLst>
          </a:prstGeom>
          <a:gradFill>
            <a:gsLst>
              <a:gs pos="0">
                <a:srgbClr val="2957DE"/>
              </a:gs>
              <a:gs pos="100000">
                <a:srgbClr val="598BF6"/>
              </a:gs>
            </a:gsLst>
            <a:lin ang="4500000" scaled="0"/>
          </a:gradFill>
          <a:ln w="6032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授信交易服务</a:t>
            </a:r>
            <a:endParaRPr lang="zh-CN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4" name="同侧圆角矩形 103"/>
          <p:cNvSpPr/>
          <p:nvPr/>
        </p:nvSpPr>
        <p:spPr>
          <a:xfrm>
            <a:off x="3171190" y="4325620"/>
            <a:ext cx="814705" cy="302260"/>
          </a:xfrm>
          <a:prstGeom prst="round2SameRect">
            <a:avLst>
              <a:gd name="adj1" fmla="val 0"/>
              <a:gd name="adj2" fmla="val 0"/>
            </a:avLst>
          </a:prstGeom>
          <a:gradFill>
            <a:gsLst>
              <a:gs pos="0">
                <a:srgbClr val="2957DE"/>
              </a:gs>
              <a:gs pos="100000">
                <a:srgbClr val="598BF6"/>
              </a:gs>
            </a:gsLst>
            <a:lin ang="4500000" scaled="0"/>
          </a:gradFill>
          <a:ln w="6032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用信交易服务</a:t>
            </a:r>
            <a:endParaRPr lang="zh-CN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9" name="同侧圆角矩形 108"/>
          <p:cNvSpPr/>
          <p:nvPr/>
        </p:nvSpPr>
        <p:spPr>
          <a:xfrm>
            <a:off x="3171190" y="4760595"/>
            <a:ext cx="814705" cy="302260"/>
          </a:xfrm>
          <a:prstGeom prst="round2SameRect">
            <a:avLst>
              <a:gd name="adj1" fmla="val 0"/>
              <a:gd name="adj2" fmla="val 0"/>
            </a:avLst>
          </a:prstGeom>
          <a:gradFill>
            <a:gsLst>
              <a:gs pos="0">
                <a:srgbClr val="2957DE"/>
              </a:gs>
              <a:gs pos="100000">
                <a:srgbClr val="598BF6"/>
              </a:gs>
            </a:gsLst>
            <a:lin ang="4500000" scaled="0"/>
          </a:gradFill>
          <a:ln w="6032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sz="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还款交易服务</a:t>
            </a:r>
            <a:endParaRPr lang="zh-CN" sz="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110" name="直接箭头连接符 109"/>
          <p:cNvCxnSpPr>
            <a:endCxn id="32" idx="1"/>
          </p:cNvCxnSpPr>
          <p:nvPr/>
        </p:nvCxnSpPr>
        <p:spPr>
          <a:xfrm>
            <a:off x="2143125" y="2371725"/>
            <a:ext cx="2510155" cy="6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箭头连接符 110"/>
          <p:cNvCxnSpPr>
            <a:endCxn id="101" idx="1"/>
          </p:cNvCxnSpPr>
          <p:nvPr/>
        </p:nvCxnSpPr>
        <p:spPr>
          <a:xfrm>
            <a:off x="2152650" y="4381500"/>
            <a:ext cx="753110" cy="6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箭头连接符 112"/>
          <p:cNvCxnSpPr>
            <a:stCxn id="101" idx="3"/>
            <a:endCxn id="34" idx="1"/>
          </p:cNvCxnSpPr>
          <p:nvPr/>
        </p:nvCxnSpPr>
        <p:spPr>
          <a:xfrm flipV="1">
            <a:off x="4250690" y="4377055"/>
            <a:ext cx="395605" cy="50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圆角矩形 1"/>
          <p:cNvSpPr/>
          <p:nvPr>
            <p:custDataLst>
              <p:tags r:id="rId6"/>
            </p:custDataLst>
          </p:nvPr>
        </p:nvSpPr>
        <p:spPr>
          <a:xfrm>
            <a:off x="4921250" y="2255520"/>
            <a:ext cx="987425" cy="432435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流量决策服务</a:t>
            </a:r>
            <a:endParaRPr lang="zh-CN" altLang="en-US" sz="100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3" name="直接箭头连接符 2"/>
          <p:cNvCxnSpPr>
            <a:stCxn id="2" idx="3"/>
            <a:endCxn id="83" idx="1"/>
          </p:cNvCxnSpPr>
          <p:nvPr/>
        </p:nvCxnSpPr>
        <p:spPr>
          <a:xfrm>
            <a:off x="5908675" y="2472055"/>
            <a:ext cx="35242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圆角矩形 3"/>
          <p:cNvSpPr/>
          <p:nvPr>
            <p:custDataLst>
              <p:tags r:id="rId7"/>
            </p:custDataLst>
          </p:nvPr>
        </p:nvSpPr>
        <p:spPr>
          <a:xfrm>
            <a:off x="4875530" y="4229735"/>
            <a:ext cx="654050" cy="432435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审批服务</a:t>
            </a:r>
            <a:endParaRPr lang="zh-CN" altLang="en-US" sz="100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" name="圆角矩形 4"/>
          <p:cNvSpPr/>
          <p:nvPr>
            <p:custDataLst>
              <p:tags r:id="rId8"/>
            </p:custDataLst>
          </p:nvPr>
        </p:nvSpPr>
        <p:spPr>
          <a:xfrm>
            <a:off x="7778750" y="2255520"/>
            <a:ext cx="987425" cy="432435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流量机构</a:t>
            </a:r>
            <a:endParaRPr lang="zh-CN" altLang="en-US" sz="100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6" name="直接箭头连接符 5"/>
          <p:cNvCxnSpPr>
            <a:stCxn id="83" idx="3"/>
            <a:endCxn id="5" idx="1"/>
          </p:cNvCxnSpPr>
          <p:nvPr/>
        </p:nvCxnSpPr>
        <p:spPr>
          <a:xfrm>
            <a:off x="7248525" y="2472055"/>
            <a:ext cx="53022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圆角矩形 6"/>
          <p:cNvSpPr/>
          <p:nvPr>
            <p:custDataLst>
              <p:tags r:id="rId9"/>
            </p:custDataLst>
          </p:nvPr>
        </p:nvSpPr>
        <p:spPr>
          <a:xfrm>
            <a:off x="7778750" y="3724275"/>
            <a:ext cx="987425" cy="432435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融担机构</a:t>
            </a:r>
            <a:endParaRPr lang="zh-CN" altLang="en-US" sz="100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" name="圆角矩形 7"/>
          <p:cNvSpPr/>
          <p:nvPr>
            <p:custDataLst>
              <p:tags r:id="rId10"/>
            </p:custDataLst>
          </p:nvPr>
        </p:nvSpPr>
        <p:spPr>
          <a:xfrm>
            <a:off x="7784465" y="4643755"/>
            <a:ext cx="987425" cy="432435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资金机构</a:t>
            </a:r>
            <a:endParaRPr lang="zh-CN" altLang="en-US" sz="100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圆角矩形 8"/>
          <p:cNvSpPr/>
          <p:nvPr>
            <p:custDataLst>
              <p:tags r:id="rId11"/>
            </p:custDataLst>
          </p:nvPr>
        </p:nvSpPr>
        <p:spPr>
          <a:xfrm>
            <a:off x="4873625" y="3549015"/>
            <a:ext cx="654050" cy="432435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路由服务</a:t>
            </a:r>
            <a:endParaRPr lang="zh-CN" altLang="en-US" sz="100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" name="圆角矩形 9"/>
          <p:cNvSpPr/>
          <p:nvPr>
            <p:custDataLst>
              <p:tags r:id="rId12"/>
            </p:custDataLst>
          </p:nvPr>
        </p:nvSpPr>
        <p:spPr>
          <a:xfrm>
            <a:off x="5761355" y="4227195"/>
            <a:ext cx="654050" cy="432435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流程服务</a:t>
            </a:r>
            <a:endParaRPr lang="zh-CN" altLang="en-US" sz="100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" name="圆角矩形 10"/>
          <p:cNvSpPr/>
          <p:nvPr>
            <p:custDataLst>
              <p:tags r:id="rId13"/>
            </p:custDataLst>
          </p:nvPr>
        </p:nvSpPr>
        <p:spPr>
          <a:xfrm>
            <a:off x="6647815" y="4224020"/>
            <a:ext cx="654050" cy="432435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网关服务</a:t>
            </a:r>
            <a:endParaRPr lang="zh-CN" altLang="en-US" sz="100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2" name="圆角矩形 11"/>
          <p:cNvSpPr/>
          <p:nvPr>
            <p:custDataLst>
              <p:tags r:id="rId14"/>
            </p:custDataLst>
          </p:nvPr>
        </p:nvSpPr>
        <p:spPr>
          <a:xfrm>
            <a:off x="5761355" y="3549015"/>
            <a:ext cx="654050" cy="432435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离线服务</a:t>
            </a:r>
            <a:endParaRPr lang="zh-CN" altLang="en-US" sz="100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13" name="直接箭头连接符 12"/>
          <p:cNvCxnSpPr>
            <a:stCxn id="4" idx="0"/>
            <a:endCxn id="9" idx="2"/>
          </p:cNvCxnSpPr>
          <p:nvPr/>
        </p:nvCxnSpPr>
        <p:spPr>
          <a:xfrm flipH="1" flipV="1">
            <a:off x="5200650" y="3981450"/>
            <a:ext cx="1905" cy="2482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stCxn id="4" idx="3"/>
            <a:endCxn id="10" idx="1"/>
          </p:cNvCxnSpPr>
          <p:nvPr/>
        </p:nvCxnSpPr>
        <p:spPr>
          <a:xfrm flipV="1">
            <a:off x="5529580" y="4443730"/>
            <a:ext cx="231775" cy="25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12" idx="2"/>
            <a:endCxn id="10" idx="0"/>
          </p:cNvCxnSpPr>
          <p:nvPr/>
        </p:nvCxnSpPr>
        <p:spPr>
          <a:xfrm>
            <a:off x="6088380" y="3981450"/>
            <a:ext cx="0" cy="24574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10" idx="3"/>
            <a:endCxn id="11" idx="1"/>
          </p:cNvCxnSpPr>
          <p:nvPr/>
        </p:nvCxnSpPr>
        <p:spPr>
          <a:xfrm flipV="1">
            <a:off x="6415405" y="4440555"/>
            <a:ext cx="232410" cy="31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圆角矩形 17"/>
          <p:cNvSpPr/>
          <p:nvPr>
            <p:custDataLst>
              <p:tags r:id="rId15"/>
            </p:custDataLst>
          </p:nvPr>
        </p:nvSpPr>
        <p:spPr>
          <a:xfrm>
            <a:off x="4873625" y="4910455"/>
            <a:ext cx="654050" cy="432435"/>
          </a:xfrm>
          <a:prstGeom prst="roundRect">
            <a:avLst/>
          </a:prstGeom>
          <a:solidFill>
            <a:schemeClr val="accent1">
              <a:alpha val="15000"/>
            </a:schemeClr>
          </a:solidFill>
          <a:effectLst/>
        </p:spPr>
        <p:style>
          <a:lnRef idx="0">
            <a:srgbClr val="FFFFFF"/>
          </a:lnRef>
          <a:fillRef idx="1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0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查询服务</a:t>
            </a:r>
            <a:endParaRPr lang="zh-CN" altLang="en-US" sz="100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19" name="直接箭头连接符 18"/>
          <p:cNvCxnSpPr>
            <a:stCxn id="18" idx="3"/>
            <a:endCxn id="10" idx="2"/>
          </p:cNvCxnSpPr>
          <p:nvPr/>
        </p:nvCxnSpPr>
        <p:spPr>
          <a:xfrm flipV="1">
            <a:off x="5527675" y="4659630"/>
            <a:ext cx="560705" cy="4673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>
            <a:stCxn id="34" idx="3"/>
            <a:endCxn id="7" idx="1"/>
          </p:cNvCxnSpPr>
          <p:nvPr/>
        </p:nvCxnSpPr>
        <p:spPr>
          <a:xfrm flipV="1">
            <a:off x="7501890" y="3940810"/>
            <a:ext cx="276860" cy="43624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>
            <a:stCxn id="34" idx="3"/>
            <a:endCxn id="8" idx="1"/>
          </p:cNvCxnSpPr>
          <p:nvPr/>
        </p:nvCxnSpPr>
        <p:spPr>
          <a:xfrm>
            <a:off x="7501890" y="4377055"/>
            <a:ext cx="282575" cy="4832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2980055" y="2110105"/>
            <a:ext cx="74104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rgbClr val="0841B2"/>
                </a:solidFill>
              </a:rPr>
              <a:t>导流业务</a:t>
            </a:r>
            <a:endParaRPr lang="zh-CN" altLang="en-US" sz="1000">
              <a:solidFill>
                <a:srgbClr val="0841B2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2165350" y="3823970"/>
            <a:ext cx="74104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rgbClr val="0841B2"/>
                </a:solidFill>
              </a:rPr>
              <a:t>融担增信</a:t>
            </a:r>
            <a:endParaRPr lang="zh-CN" altLang="en-US" sz="1000">
              <a:solidFill>
                <a:srgbClr val="0841B2"/>
              </a:solidFill>
            </a:endParaRPr>
          </a:p>
          <a:p>
            <a:r>
              <a:rPr lang="zh-CN" altLang="en-US" sz="1000">
                <a:solidFill>
                  <a:srgbClr val="0841B2"/>
                </a:solidFill>
              </a:rPr>
              <a:t>资产输出</a:t>
            </a:r>
            <a:endParaRPr lang="zh-CN" altLang="en-US" sz="1000">
              <a:solidFill>
                <a:srgbClr val="0841B2"/>
              </a:solidFill>
            </a:endParaRPr>
          </a:p>
          <a:p>
            <a:r>
              <a:rPr lang="zh-CN" altLang="en-US" sz="1000">
                <a:solidFill>
                  <a:srgbClr val="0841B2"/>
                </a:solidFill>
              </a:rPr>
              <a:t>自营放款</a:t>
            </a:r>
            <a:endParaRPr lang="zh-CN" altLang="en-US" sz="1000">
              <a:solidFill>
                <a:srgbClr val="0841B2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KSO_WM_BEAUTIFY_FLAG" val="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KSO_WM_BEAUTIFY_FLAG" val=""/>
</p:tagLst>
</file>

<file path=ppt/tags/tag251.xml><?xml version="1.0" encoding="utf-8"?>
<p:tagLst xmlns:p="http://schemas.openxmlformats.org/presentationml/2006/main">
  <p:tag name="KSO_WM_BEAUTIFY_FLAG" val=""/>
</p:tagLst>
</file>

<file path=ppt/tags/tag252.xml><?xml version="1.0" encoding="utf-8"?>
<p:tagLst xmlns:p="http://schemas.openxmlformats.org/presentationml/2006/main">
  <p:tag name="KSO_WM_BEAUTIFY_FLAG" val=""/>
</p:tagLst>
</file>

<file path=ppt/tags/tag253.xml><?xml version="1.0" encoding="utf-8"?>
<p:tagLst xmlns:p="http://schemas.openxmlformats.org/presentationml/2006/main">
  <p:tag name="KSO_WM_BEAUTIFY_FLAG" val=""/>
</p:tagLst>
</file>

<file path=ppt/tags/tag254.xml><?xml version="1.0" encoding="utf-8"?>
<p:tagLst xmlns:p="http://schemas.openxmlformats.org/presentationml/2006/main">
  <p:tag name="KSO_WM_BEAUTIFY_FLAG" val=""/>
</p:tagLst>
</file>

<file path=ppt/tags/tag255.xml><?xml version="1.0" encoding="utf-8"?>
<p:tagLst xmlns:p="http://schemas.openxmlformats.org/presentationml/2006/main">
  <p:tag name="KSO_WM_BEAUTIFY_FLAG" val=""/>
</p:tagLst>
</file>

<file path=ppt/tags/tag256.xml><?xml version="1.0" encoding="utf-8"?>
<p:tagLst xmlns:p="http://schemas.openxmlformats.org/presentationml/2006/main">
  <p:tag name="KSO_WM_BEAUTIFY_FLAG" val=""/>
</p:tagLst>
</file>

<file path=ppt/tags/tag257.xml><?xml version="1.0" encoding="utf-8"?>
<p:tagLst xmlns:p="http://schemas.openxmlformats.org/presentationml/2006/main">
  <p:tag name="KSO_WM_BEAUTIFY_FLAG" val=""/>
</p:tagLst>
</file>

<file path=ppt/tags/tag258.xml><?xml version="1.0" encoding="utf-8"?>
<p:tagLst xmlns:p="http://schemas.openxmlformats.org/presentationml/2006/main">
  <p:tag name="KSO_WM_BEAUTIFY_FLAG" val=""/>
</p:tagLst>
</file>

<file path=ppt/tags/tag259.xml><?xml version="1.0" encoding="utf-8"?>
<p:tagLst xmlns:p="http://schemas.openxmlformats.org/presentationml/2006/main">
  <p:tag name="KSO_WM_BEAUTIFY_FLAG" val=""/>
</p:tagLst>
</file>

<file path=ppt/tags/tag260.xml><?xml version="1.0" encoding="utf-8"?>
<p:tagLst xmlns:p="http://schemas.openxmlformats.org/presentationml/2006/main">
  <p:tag name="KSO_WM_BEAUTIFY_FLAG" val=""/>
</p:tagLst>
</file>

<file path=ppt/tags/tag261.xml><?xml version="1.0" encoding="utf-8"?>
<p:tagLst xmlns:p="http://schemas.openxmlformats.org/presentationml/2006/main">
  <p:tag name="KSO_WM_BEAUTIFY_FLAG" val=""/>
</p:tagLst>
</file>

<file path=ppt/tags/tag262.xml><?xml version="1.0" encoding="utf-8"?>
<p:tagLst xmlns:p="http://schemas.openxmlformats.org/presentationml/2006/main">
  <p:tag name="KSO_WM_BEAUTIFY_FLAG" val=""/>
</p:tagLst>
</file>

<file path=ppt/tags/tag263.xml><?xml version="1.0" encoding="utf-8"?>
<p:tagLst xmlns:p="http://schemas.openxmlformats.org/presentationml/2006/main">
  <p:tag name="KSO_WM_BEAUTIFY_FLAG" val=""/>
</p:tagLst>
</file>

<file path=ppt/tags/tag264.xml><?xml version="1.0" encoding="utf-8"?>
<p:tagLst xmlns:p="http://schemas.openxmlformats.org/presentationml/2006/main">
  <p:tag name="KSO_WM_BEAUTIFY_FLAG" val=""/>
</p:tagLst>
</file>

<file path=ppt/tags/tag265.xml><?xml version="1.0" encoding="utf-8"?>
<p:tagLst xmlns:p="http://schemas.openxmlformats.org/presentationml/2006/main">
  <p:tag name="KSO_WM_BEAUTIFY_FLAG" val=""/>
</p:tagLst>
</file>

<file path=ppt/tags/tag266.xml><?xml version="1.0" encoding="utf-8"?>
<p:tagLst xmlns:p="http://schemas.openxmlformats.org/presentationml/2006/main">
  <p:tag name="KSO_WM_BEAUTIFY_FLAG" val=""/>
</p:tagLst>
</file>

<file path=ppt/tags/tag267.xml><?xml version="1.0" encoding="utf-8"?>
<p:tagLst xmlns:p="http://schemas.openxmlformats.org/presentationml/2006/main">
  <p:tag name="KSO_WM_BEAUTIFY_FLAG" val=""/>
</p:tagLst>
</file>

<file path=ppt/tags/tag268.xml><?xml version="1.0" encoding="utf-8"?>
<p:tagLst xmlns:p="http://schemas.openxmlformats.org/presentationml/2006/main">
  <p:tag name="KSO_WM_BEAUTIFY_FLAG" val=""/>
</p:tagLst>
</file>

<file path=ppt/tags/tag269.xml><?xml version="1.0" encoding="utf-8"?>
<p:tagLst xmlns:p="http://schemas.openxmlformats.org/presentationml/2006/main">
  <p:tag name="KSO_WM_BEAUTIFY_FLAG" val=""/>
</p:tagLst>
</file>

<file path=ppt/tags/tag270.xml><?xml version="1.0" encoding="utf-8"?>
<p:tagLst xmlns:p="http://schemas.openxmlformats.org/presentationml/2006/main">
  <p:tag name="KSO_WM_BEAUTIFY_FLAG" val=""/>
</p:tagLst>
</file>

<file path=ppt/tags/tag271.xml><?xml version="1.0" encoding="utf-8"?>
<p:tagLst xmlns:p="http://schemas.openxmlformats.org/presentationml/2006/main">
  <p:tag name="KSO_WM_BEAUTIFY_FLAG" val=""/>
</p:tagLst>
</file>

<file path=ppt/tags/tag272.xml><?xml version="1.0" encoding="utf-8"?>
<p:tagLst xmlns:p="http://schemas.openxmlformats.org/presentationml/2006/main">
  <p:tag name="KSO_WM_BEAUTIFY_FLAG" val=""/>
</p:tagLst>
</file>

<file path=ppt/tags/tag273.xml><?xml version="1.0" encoding="utf-8"?>
<p:tagLst xmlns:p="http://schemas.openxmlformats.org/presentationml/2006/main">
  <p:tag name="KSO_WM_BEAUTIFY_FLAG" val=""/>
</p:tagLst>
</file>

<file path=ppt/tags/tag274.xml><?xml version="1.0" encoding="utf-8"?>
<p:tagLst xmlns:p="http://schemas.openxmlformats.org/presentationml/2006/main">
  <p:tag name="KSO_WM_BEAUTIFY_FLAG" val=""/>
</p:tagLst>
</file>

<file path=ppt/tags/tag275.xml><?xml version="1.0" encoding="utf-8"?>
<p:tagLst xmlns:p="http://schemas.openxmlformats.org/presentationml/2006/main">
  <p:tag name="KSO_WM_BEAUTIFY_FLAG" val=""/>
</p:tagLst>
</file>

<file path=ppt/tags/tag276.xml><?xml version="1.0" encoding="utf-8"?>
<p:tagLst xmlns:p="http://schemas.openxmlformats.org/presentationml/2006/main">
  <p:tag name="KSO_WM_BEAUTIFY_FLAG" val=""/>
</p:tagLst>
</file>

<file path=ppt/tags/tag277.xml><?xml version="1.0" encoding="utf-8"?>
<p:tagLst xmlns:p="http://schemas.openxmlformats.org/presentationml/2006/main">
  <p:tag name="KSO_WM_BEAUTIFY_FLAG" val=""/>
</p:tagLst>
</file>

<file path=ppt/tags/tag278.xml><?xml version="1.0" encoding="utf-8"?>
<p:tagLst xmlns:p="http://schemas.openxmlformats.org/presentationml/2006/main">
  <p:tag name="KSO_WM_BEAUTIFY_FLAG" val=""/>
</p:tagLst>
</file>

<file path=ppt/tags/tag279.xml><?xml version="1.0" encoding="utf-8"?>
<p:tagLst xmlns:p="http://schemas.openxmlformats.org/presentationml/2006/main">
  <p:tag name="KSO_WM_BEAUTIFY_FLAG" val=""/>
</p:tagLst>
</file>

<file path=ppt/tags/tag280.xml><?xml version="1.0" encoding="utf-8"?>
<p:tagLst xmlns:p="http://schemas.openxmlformats.org/presentationml/2006/main">
  <p:tag name="KSO_WM_BEAUTIFY_FLAG" val=""/>
</p:tagLst>
</file>

<file path=ppt/tags/tag281.xml><?xml version="1.0" encoding="utf-8"?>
<p:tagLst xmlns:p="http://schemas.openxmlformats.org/presentationml/2006/main">
  <p:tag name="KSO_WM_BEAUTIFY_FLAG" val=""/>
</p:tagLst>
</file>

<file path=ppt/tags/tag282.xml><?xml version="1.0" encoding="utf-8"?>
<p:tagLst xmlns:p="http://schemas.openxmlformats.org/presentationml/2006/main">
  <p:tag name="KSO_WM_BEAUTIFY_FLAG" val=""/>
</p:tagLst>
</file>

<file path=ppt/tags/tag283.xml><?xml version="1.0" encoding="utf-8"?>
<p:tagLst xmlns:p="http://schemas.openxmlformats.org/presentationml/2006/main">
  <p:tag name="KSO_WM_BEAUTIFY_FLAG" val=""/>
</p:tagLst>
</file>

<file path=ppt/tags/tag284.xml><?xml version="1.0" encoding="utf-8"?>
<p:tagLst xmlns:p="http://schemas.openxmlformats.org/presentationml/2006/main">
  <p:tag name="KSO_WM_BEAUTIFY_FLAG" val=""/>
</p:tagLst>
</file>

<file path=ppt/tags/tag285.xml><?xml version="1.0" encoding="utf-8"?>
<p:tagLst xmlns:p="http://schemas.openxmlformats.org/presentationml/2006/main">
  <p:tag name="KSO_WM_BEAUTIFY_FLAG" val=""/>
</p:tagLst>
</file>

<file path=ppt/tags/tag286.xml><?xml version="1.0" encoding="utf-8"?>
<p:tagLst xmlns:p="http://schemas.openxmlformats.org/presentationml/2006/main">
  <p:tag name="KSO_WM_BEAUTIFY_FLAG" val=""/>
</p:tagLst>
</file>

<file path=ppt/tags/tag287.xml><?xml version="1.0" encoding="utf-8"?>
<p:tagLst xmlns:p="http://schemas.openxmlformats.org/presentationml/2006/main">
  <p:tag name="KSO_WM_BEAUTIFY_FLAG" val=""/>
</p:tagLst>
</file>

<file path=ppt/tags/tag288.xml><?xml version="1.0" encoding="utf-8"?>
<p:tagLst xmlns:p="http://schemas.openxmlformats.org/presentationml/2006/main">
  <p:tag name="KSO_WM_BEAUTIFY_FLAG" val=""/>
</p:tagLst>
</file>

<file path=ppt/tags/tag289.xml><?xml version="1.0" encoding="utf-8"?>
<p:tagLst xmlns:p="http://schemas.openxmlformats.org/presentationml/2006/main">
  <p:tag name="KSO_WM_BEAUTIFY_FLAG" val=""/>
</p:tagLst>
</file>

<file path=ppt/tags/tag290.xml><?xml version="1.0" encoding="utf-8"?>
<p:tagLst xmlns:p="http://schemas.openxmlformats.org/presentationml/2006/main">
  <p:tag name="KSO_WM_BEAUTIFY_FLAG" val=""/>
</p:tagLst>
</file>

<file path=ppt/tags/tag291.xml><?xml version="1.0" encoding="utf-8"?>
<p:tagLst xmlns:p="http://schemas.openxmlformats.org/presentationml/2006/main">
  <p:tag name="KSO_WM_BEAUTIFY_FLAG" val=""/>
</p:tagLst>
</file>

<file path=ppt/tags/tag292.xml><?xml version="1.0" encoding="utf-8"?>
<p:tagLst xmlns:p="http://schemas.openxmlformats.org/presentationml/2006/main">
  <p:tag name="KSO_WM_BEAUTIFY_FLAG" val=""/>
</p:tagLst>
</file>

<file path=ppt/tags/tag293.xml><?xml version="1.0" encoding="utf-8"?>
<p:tagLst xmlns:p="http://schemas.openxmlformats.org/presentationml/2006/main">
  <p:tag name="KSO_WM_BEAUTIFY_FLAG" val=""/>
</p:tagLst>
</file>

<file path=ppt/tags/tag294.xml><?xml version="1.0" encoding="utf-8"?>
<p:tagLst xmlns:p="http://schemas.openxmlformats.org/presentationml/2006/main">
  <p:tag name="KSO_WM_BEAUTIFY_FLAG" val=""/>
</p:tagLst>
</file>

<file path=ppt/tags/tag295.xml><?xml version="1.0" encoding="utf-8"?>
<p:tagLst xmlns:p="http://schemas.openxmlformats.org/presentationml/2006/main">
  <p:tag name="KSO_WM_BEAUTIFY_FLAG" val=""/>
</p:tagLst>
</file>

<file path=ppt/tags/tag296.xml><?xml version="1.0" encoding="utf-8"?>
<p:tagLst xmlns:p="http://schemas.openxmlformats.org/presentationml/2006/main">
  <p:tag name="KSO_WM_BEAUTIFY_FLAG" val=""/>
</p:tagLst>
</file>

<file path=ppt/tags/tag297.xml><?xml version="1.0" encoding="utf-8"?>
<p:tagLst xmlns:p="http://schemas.openxmlformats.org/presentationml/2006/main">
  <p:tag name="KSO_WM_BEAUTIFY_FLAG" val=""/>
</p:tagLst>
</file>

<file path=ppt/tags/tag298.xml><?xml version="1.0" encoding="utf-8"?>
<p:tagLst xmlns:p="http://schemas.openxmlformats.org/presentationml/2006/main">
  <p:tag name="KSO_WM_BEAUTIFY_FLAG" val=""/>
</p:tagLst>
</file>

<file path=ppt/tags/tag299.xml><?xml version="1.0" encoding="utf-8"?>
<p:tagLst xmlns:p="http://schemas.openxmlformats.org/presentationml/2006/main">
  <p:tag name="KSO_WM_BEAUTIFY_FLAG" val=""/>
</p:tagLst>
</file>

<file path=ppt/tags/tag300.xml><?xml version="1.0" encoding="utf-8"?>
<p:tagLst xmlns:p="http://schemas.openxmlformats.org/presentationml/2006/main">
  <p:tag name="KSO_WM_BEAUTIFY_FLAG" val=""/>
</p:tagLst>
</file>

<file path=ppt/tags/tag301.xml><?xml version="1.0" encoding="utf-8"?>
<p:tagLst xmlns:p="http://schemas.openxmlformats.org/presentationml/2006/main">
  <p:tag name="KSO_WM_BEAUTIFY_FLAG" val=""/>
</p:tagLst>
</file>

<file path=ppt/tags/tag302.xml><?xml version="1.0" encoding="utf-8"?>
<p:tagLst xmlns:p="http://schemas.openxmlformats.org/presentationml/2006/main">
  <p:tag name="KSO_WM_BEAUTIFY_FLAG" val=""/>
</p:tagLst>
</file>

<file path=ppt/tags/tag303.xml><?xml version="1.0" encoding="utf-8"?>
<p:tagLst xmlns:p="http://schemas.openxmlformats.org/presentationml/2006/main">
  <p:tag name="KSO_WM_BEAUTIFY_FLAG" val=""/>
</p:tagLst>
</file>

<file path=ppt/tags/tag304.xml><?xml version="1.0" encoding="utf-8"?>
<p:tagLst xmlns:p="http://schemas.openxmlformats.org/presentationml/2006/main">
  <p:tag name="KSO_WM_BEAUTIFY_FLAG" val=""/>
</p:tagLst>
</file>

<file path=ppt/tags/tag305.xml><?xml version="1.0" encoding="utf-8"?>
<p:tagLst xmlns:p="http://schemas.openxmlformats.org/presentationml/2006/main">
  <p:tag name="KSO_WM_BEAUTIFY_FLAG" val=""/>
</p:tagLst>
</file>

<file path=ppt/tags/tag306.xml><?xml version="1.0" encoding="utf-8"?>
<p:tagLst xmlns:p="http://schemas.openxmlformats.org/presentationml/2006/main">
  <p:tag name="KSO_WM_BEAUTIFY_FLAG" val=""/>
</p:tagLst>
</file>

<file path=ppt/tags/tag307.xml><?xml version="1.0" encoding="utf-8"?>
<p:tagLst xmlns:p="http://schemas.openxmlformats.org/presentationml/2006/main">
  <p:tag name="KSO_WM_BEAUTIFY_FLAG" val=""/>
</p:tagLst>
</file>

<file path=ppt/tags/tag308.xml><?xml version="1.0" encoding="utf-8"?>
<p:tagLst xmlns:p="http://schemas.openxmlformats.org/presentationml/2006/main">
  <p:tag name="KSO_WM_BEAUTIFY_FLAG" val=""/>
</p:tagLst>
</file>

<file path=ppt/tags/tag309.xml><?xml version="1.0" encoding="utf-8"?>
<p:tagLst xmlns:p="http://schemas.openxmlformats.org/presentationml/2006/main">
  <p:tag name="KSO_WM_BEAUTIFY_FLAG" val=""/>
</p:tagLst>
</file>

<file path=ppt/tags/tag310.xml><?xml version="1.0" encoding="utf-8"?>
<p:tagLst xmlns:p="http://schemas.openxmlformats.org/presentationml/2006/main">
  <p:tag name="KSO_WM_BEAUTIFY_FLAG" val=""/>
</p:tagLst>
</file>

<file path=ppt/tags/tag311.xml><?xml version="1.0" encoding="utf-8"?>
<p:tagLst xmlns:p="http://schemas.openxmlformats.org/presentationml/2006/main">
  <p:tag name="KSO_WM_BEAUTIFY_FLAG" val=""/>
</p:tagLst>
</file>

<file path=ppt/tags/tag312.xml><?xml version="1.0" encoding="utf-8"?>
<p:tagLst xmlns:p="http://schemas.openxmlformats.org/presentationml/2006/main">
  <p:tag name="KSO_WM_BEAUTIFY_FLAG" val=""/>
</p:tagLst>
</file>

<file path=ppt/tags/tag313.xml><?xml version="1.0" encoding="utf-8"?>
<p:tagLst xmlns:p="http://schemas.openxmlformats.org/presentationml/2006/main">
  <p:tag name="KSO_WM_BEAUTIFY_FLAG" val=""/>
</p:tagLst>
</file>

<file path=ppt/tags/tag314.xml><?xml version="1.0" encoding="utf-8"?>
<p:tagLst xmlns:p="http://schemas.openxmlformats.org/presentationml/2006/main">
  <p:tag name="KSO_WM_BEAUTIFY_FLAG" val=""/>
</p:tagLst>
</file>

<file path=ppt/tags/tag315.xml><?xml version="1.0" encoding="utf-8"?>
<p:tagLst xmlns:p="http://schemas.openxmlformats.org/presentationml/2006/main">
  <p:tag name="KSO_WM_BEAUTIFY_FLAG" val=""/>
</p:tagLst>
</file>

<file path=ppt/tags/tag316.xml><?xml version="1.0" encoding="utf-8"?>
<p:tagLst xmlns:p="http://schemas.openxmlformats.org/presentationml/2006/main">
  <p:tag name="KSO_WM_BEAUTIFY_FLAG" val=""/>
</p:tagLst>
</file>

<file path=ppt/tags/tag317.xml><?xml version="1.0" encoding="utf-8"?>
<p:tagLst xmlns:p="http://schemas.openxmlformats.org/presentationml/2006/main">
  <p:tag name="KSO_WM_BEAUTIFY_FLAG" val=""/>
</p:tagLst>
</file>

<file path=ppt/tags/tag318.xml><?xml version="1.0" encoding="utf-8"?>
<p:tagLst xmlns:p="http://schemas.openxmlformats.org/presentationml/2006/main">
  <p:tag name="KSO_WM_BEAUTIFY_FLAG" val=""/>
</p:tagLst>
</file>

<file path=ppt/tags/tag319.xml><?xml version="1.0" encoding="utf-8"?>
<p:tagLst xmlns:p="http://schemas.openxmlformats.org/presentationml/2006/main">
  <p:tag name="KSO_WM_BEAUTIFY_FLAG" val=""/>
</p:tagLst>
</file>

<file path=ppt/tags/tag320.xml><?xml version="1.0" encoding="utf-8"?>
<p:tagLst xmlns:p="http://schemas.openxmlformats.org/presentationml/2006/main">
  <p:tag name="KSO_WM_BEAUTIFY_FLAG" val=""/>
</p:tagLst>
</file>

<file path=ppt/tags/tag321.xml><?xml version="1.0" encoding="utf-8"?>
<p:tagLst xmlns:p="http://schemas.openxmlformats.org/presentationml/2006/main">
  <p:tag name="KSO_WM_BEAUTIFY_FLAG" val=""/>
</p:tagLst>
</file>

<file path=ppt/tags/tag322.xml><?xml version="1.0" encoding="utf-8"?>
<p:tagLst xmlns:p="http://schemas.openxmlformats.org/presentationml/2006/main">
  <p:tag name="KSO_WM_BEAUTIFY_FLAG" val=""/>
</p:tagLst>
</file>

<file path=ppt/tags/tag323.xml><?xml version="1.0" encoding="utf-8"?>
<p:tagLst xmlns:p="http://schemas.openxmlformats.org/presentationml/2006/main">
  <p:tag name="KSO_WM_BEAUTIFY_FLAG" val=""/>
</p:tagLst>
</file>

<file path=ppt/tags/tag324.xml><?xml version="1.0" encoding="utf-8"?>
<p:tagLst xmlns:p="http://schemas.openxmlformats.org/presentationml/2006/main">
  <p:tag name="KSO_WM_BEAUTIFY_FLAG" val=""/>
</p:tagLst>
</file>

<file path=ppt/tags/tag325.xml><?xml version="1.0" encoding="utf-8"?>
<p:tagLst xmlns:p="http://schemas.openxmlformats.org/presentationml/2006/main">
  <p:tag name="KSO_WM_BEAUTIFY_FLAG" val=""/>
</p:tagLst>
</file>

<file path=ppt/tags/tag326.xml><?xml version="1.0" encoding="utf-8"?>
<p:tagLst xmlns:p="http://schemas.openxmlformats.org/presentationml/2006/main">
  <p:tag name="KSO_WM_BEAUTIFY_FLAG" val=""/>
</p:tagLst>
</file>

<file path=ppt/tags/tag327.xml><?xml version="1.0" encoding="utf-8"?>
<p:tagLst xmlns:p="http://schemas.openxmlformats.org/presentationml/2006/main">
  <p:tag name="KSO_WM_BEAUTIFY_FLAG" val=""/>
</p:tagLst>
</file>

<file path=ppt/tags/tag328.xml><?xml version="1.0" encoding="utf-8"?>
<p:tagLst xmlns:p="http://schemas.openxmlformats.org/presentationml/2006/main">
  <p:tag name="KSO_WM_BEAUTIFY_FLAG" val=""/>
</p:tagLst>
</file>

<file path=ppt/tags/tag329.xml><?xml version="1.0" encoding="utf-8"?>
<p:tagLst xmlns:p="http://schemas.openxmlformats.org/presentationml/2006/main">
  <p:tag name="KSO_WM_BEAUTIFY_FLAG" val=""/>
</p:tagLst>
</file>

<file path=ppt/tags/tag330.xml><?xml version="1.0" encoding="utf-8"?>
<p:tagLst xmlns:p="http://schemas.openxmlformats.org/presentationml/2006/main">
  <p:tag name="KSO_WM_BEAUTIFY_FLAG" val=""/>
</p:tagLst>
</file>

<file path=ppt/tags/tag331.xml><?xml version="1.0" encoding="utf-8"?>
<p:tagLst xmlns:p="http://schemas.openxmlformats.org/presentationml/2006/main">
  <p:tag name="KSO_WM_BEAUTIFY_FLAG" val=""/>
</p:tagLst>
</file>

<file path=ppt/tags/tag332.xml><?xml version="1.0" encoding="utf-8"?>
<p:tagLst xmlns:p="http://schemas.openxmlformats.org/presentationml/2006/main">
  <p:tag name="KSO_WM_BEAUTIFY_FLAG" val=""/>
</p:tagLst>
</file>

<file path=ppt/tags/tag333.xml><?xml version="1.0" encoding="utf-8"?>
<p:tagLst xmlns:p="http://schemas.openxmlformats.org/presentationml/2006/main">
  <p:tag name="KSO_WM_BEAUTIFY_FLAG" val=""/>
</p:tagLst>
</file>

<file path=ppt/tags/tag334.xml><?xml version="1.0" encoding="utf-8"?>
<p:tagLst xmlns:p="http://schemas.openxmlformats.org/presentationml/2006/main">
  <p:tag name="KSO_WM_BEAUTIFY_FLAG" val=""/>
</p:tagLst>
</file>

<file path=ppt/tags/tag335.xml><?xml version="1.0" encoding="utf-8"?>
<p:tagLst xmlns:p="http://schemas.openxmlformats.org/presentationml/2006/main">
  <p:tag name="KSO_WM_BEAUTIFY_FLAG" val=""/>
</p:tagLst>
</file>

<file path=ppt/tags/tag336.xml><?xml version="1.0" encoding="utf-8"?>
<p:tagLst xmlns:p="http://schemas.openxmlformats.org/presentationml/2006/main">
  <p:tag name="KSO_WM_BEAUTIFY_FLAG" val=""/>
</p:tagLst>
</file>

<file path=ppt/tags/tag337.xml><?xml version="1.0" encoding="utf-8"?>
<p:tagLst xmlns:p="http://schemas.openxmlformats.org/presentationml/2006/main">
  <p:tag name="KSO_WM_BEAUTIFY_FLAG" val=""/>
</p:tagLst>
</file>

<file path=ppt/tags/tag338.xml><?xml version="1.0" encoding="utf-8"?>
<p:tagLst xmlns:p="http://schemas.openxmlformats.org/presentationml/2006/main">
  <p:tag name="KSO_WM_BEAUTIFY_FLAG" val=""/>
</p:tagLst>
</file>

<file path=ppt/tags/tag339.xml><?xml version="1.0" encoding="utf-8"?>
<p:tagLst xmlns:p="http://schemas.openxmlformats.org/presentationml/2006/main">
  <p:tag name="KSO_WM_BEAUTIFY_FLAG" val=""/>
</p:tagLst>
</file>

<file path=ppt/tags/tag340.xml><?xml version="1.0" encoding="utf-8"?>
<p:tagLst xmlns:p="http://schemas.openxmlformats.org/presentationml/2006/main">
  <p:tag name="KSO_WM_BEAUTIFY_FLAG" val=""/>
</p:tagLst>
</file>

<file path=ppt/tags/tag341.xml><?xml version="1.0" encoding="utf-8"?>
<p:tagLst xmlns:p="http://schemas.openxmlformats.org/presentationml/2006/main">
  <p:tag name="KSO_WM_BEAUTIFY_FLAG" val=""/>
</p:tagLst>
</file>

<file path=ppt/tags/tag342.xml><?xml version="1.0" encoding="utf-8"?>
<p:tagLst xmlns:p="http://schemas.openxmlformats.org/presentationml/2006/main">
  <p:tag name="KSO_WM_BEAUTIFY_FLAG" val=""/>
</p:tagLst>
</file>

<file path=ppt/tags/tag343.xml><?xml version="1.0" encoding="utf-8"?>
<p:tagLst xmlns:p="http://schemas.openxmlformats.org/presentationml/2006/main">
  <p:tag name="KSO_WM_BEAUTIFY_FLAG" val=""/>
</p:tagLst>
</file>

<file path=ppt/tags/tag344.xml><?xml version="1.0" encoding="utf-8"?>
<p:tagLst xmlns:p="http://schemas.openxmlformats.org/presentationml/2006/main">
  <p:tag name="KSO_WM_BEAUTIFY_FLAG" val=""/>
</p:tagLst>
</file>

<file path=ppt/tags/tag345.xml><?xml version="1.0" encoding="utf-8"?>
<p:tagLst xmlns:p="http://schemas.openxmlformats.org/presentationml/2006/main">
  <p:tag name="KSO_WM_BEAUTIFY_FLAG" val=""/>
</p:tagLst>
</file>

<file path=ppt/tags/tag346.xml><?xml version="1.0" encoding="utf-8"?>
<p:tagLst xmlns:p="http://schemas.openxmlformats.org/presentationml/2006/main">
  <p:tag name="KSO_WM_BEAUTIFY_FLAG" val=""/>
</p:tagLst>
</file>

<file path=ppt/tags/tag347.xml><?xml version="1.0" encoding="utf-8"?>
<p:tagLst xmlns:p="http://schemas.openxmlformats.org/presentationml/2006/main">
  <p:tag name="KSO_WM_BEAUTIFY_FLAG" val=""/>
</p:tagLst>
</file>

<file path=ppt/tags/tag348.xml><?xml version="1.0" encoding="utf-8"?>
<p:tagLst xmlns:p="http://schemas.openxmlformats.org/presentationml/2006/main">
  <p:tag name="KSO_WM_BEAUTIFY_FLAG" val=""/>
</p:tagLst>
</file>

<file path=ppt/tags/tag349.xml><?xml version="1.0" encoding="utf-8"?>
<p:tagLst xmlns:p="http://schemas.openxmlformats.org/presentationml/2006/main">
  <p:tag name="KSO_WM_BEAUTIFY_FLAG" val=""/>
</p:tagLst>
</file>

<file path=ppt/tags/tag350.xml><?xml version="1.0" encoding="utf-8"?>
<p:tagLst xmlns:p="http://schemas.openxmlformats.org/presentationml/2006/main">
  <p:tag name="KSO_WM_BEAUTIFY_FLAG" val=""/>
</p:tagLst>
</file>

<file path=ppt/tags/tag351.xml><?xml version="1.0" encoding="utf-8"?>
<p:tagLst xmlns:p="http://schemas.openxmlformats.org/presentationml/2006/main">
  <p:tag name="KSO_WM_BEAUTIFY_FLAG" val=""/>
</p:tagLst>
</file>

<file path=ppt/tags/tag352.xml><?xml version="1.0" encoding="utf-8"?>
<p:tagLst xmlns:p="http://schemas.openxmlformats.org/presentationml/2006/main">
  <p:tag name="KSO_WM_BEAUTIFY_FLAG" val=""/>
</p:tagLst>
</file>

<file path=ppt/tags/tag353.xml><?xml version="1.0" encoding="utf-8"?>
<p:tagLst xmlns:p="http://schemas.openxmlformats.org/presentationml/2006/main">
  <p:tag name="KSO_WM_BEAUTIFY_FLAG" val=""/>
</p:tagLst>
</file>

<file path=ppt/tags/tag354.xml><?xml version="1.0" encoding="utf-8"?>
<p:tagLst xmlns:p="http://schemas.openxmlformats.org/presentationml/2006/main">
  <p:tag name="KSO_WM_BEAUTIFY_FLAG" val=""/>
</p:tagLst>
</file>

<file path=ppt/tags/tag355.xml><?xml version="1.0" encoding="utf-8"?>
<p:tagLst xmlns:p="http://schemas.openxmlformats.org/presentationml/2006/main">
  <p:tag name="KSO_WM_BEAUTIFY_FLAG" val=""/>
</p:tagLst>
</file>

<file path=ppt/tags/tag356.xml><?xml version="1.0" encoding="utf-8"?>
<p:tagLst xmlns:p="http://schemas.openxmlformats.org/presentationml/2006/main">
  <p:tag name="KSO_WM_BEAUTIFY_FLAG" val=""/>
</p:tagLst>
</file>

<file path=ppt/tags/tag357.xml><?xml version="1.0" encoding="utf-8"?>
<p:tagLst xmlns:p="http://schemas.openxmlformats.org/presentationml/2006/main">
  <p:tag name="KSO_WM_BEAUTIFY_FLAG" val=""/>
</p:tagLst>
</file>

<file path=ppt/tags/tag358.xml><?xml version="1.0" encoding="utf-8"?>
<p:tagLst xmlns:p="http://schemas.openxmlformats.org/presentationml/2006/main">
  <p:tag name="KSO_WM_BEAUTIFY_FLAG" val=""/>
</p:tagLst>
</file>

<file path=ppt/tags/tag359.xml><?xml version="1.0" encoding="utf-8"?>
<p:tagLst xmlns:p="http://schemas.openxmlformats.org/presentationml/2006/main">
  <p:tag name="KSO_WM_BEAUTIFY_FLAG" val=""/>
</p:tagLst>
</file>

<file path=ppt/tags/tag360.xml><?xml version="1.0" encoding="utf-8"?>
<p:tagLst xmlns:p="http://schemas.openxmlformats.org/presentationml/2006/main">
  <p:tag name="KSO_WM_BEAUTIFY_FLAG" val=""/>
</p:tagLst>
</file>

<file path=ppt/tags/tag361.xml><?xml version="1.0" encoding="utf-8"?>
<p:tagLst xmlns:p="http://schemas.openxmlformats.org/presentationml/2006/main">
  <p:tag name="KSO_WM_BEAUTIFY_FLAG" val=""/>
</p:tagLst>
</file>

<file path=ppt/tags/tag362.xml><?xml version="1.0" encoding="utf-8"?>
<p:tagLst xmlns:p="http://schemas.openxmlformats.org/presentationml/2006/main">
  <p:tag name="KSO_WM_BEAUTIFY_FLAG" val=""/>
</p:tagLst>
</file>

<file path=ppt/tags/tag363.xml><?xml version="1.0" encoding="utf-8"?>
<p:tagLst xmlns:p="http://schemas.openxmlformats.org/presentationml/2006/main">
  <p:tag name="KSO_WM_BEAUTIFY_FLAG" val=""/>
</p:tagLst>
</file>

<file path=ppt/tags/tag364.xml><?xml version="1.0" encoding="utf-8"?>
<p:tagLst xmlns:p="http://schemas.openxmlformats.org/presentationml/2006/main">
  <p:tag name="KSO_WM_BEAUTIFY_FLAG" val=""/>
</p:tagLst>
</file>

<file path=ppt/tags/tag365.xml><?xml version="1.0" encoding="utf-8"?>
<p:tagLst xmlns:p="http://schemas.openxmlformats.org/presentationml/2006/main">
  <p:tag name="KSO_WM_BEAUTIFY_FLAG" val=""/>
</p:tagLst>
</file>

<file path=ppt/tags/tag366.xml><?xml version="1.0" encoding="utf-8"?>
<p:tagLst xmlns:p="http://schemas.openxmlformats.org/presentationml/2006/main">
  <p:tag name="KSO_WM_BEAUTIFY_FLAG" val=""/>
</p:tagLst>
</file>

<file path=ppt/tags/tag367.xml><?xml version="1.0" encoding="utf-8"?>
<p:tagLst xmlns:p="http://schemas.openxmlformats.org/presentationml/2006/main">
  <p:tag name="KSO_WM_BEAUTIFY_FLAG" val=""/>
</p:tagLst>
</file>

<file path=ppt/tags/tag368.xml><?xml version="1.0" encoding="utf-8"?>
<p:tagLst xmlns:p="http://schemas.openxmlformats.org/presentationml/2006/main">
  <p:tag name="KSO_WM_BEAUTIFY_FLAG" val=""/>
</p:tagLst>
</file>

<file path=ppt/tags/tag369.xml><?xml version="1.0" encoding="utf-8"?>
<p:tagLst xmlns:p="http://schemas.openxmlformats.org/presentationml/2006/main">
  <p:tag name="KSO_WM_BEAUTIFY_FLAG" val=""/>
</p:tagLst>
</file>

<file path=ppt/tags/tag370.xml><?xml version="1.0" encoding="utf-8"?>
<p:tagLst xmlns:p="http://schemas.openxmlformats.org/presentationml/2006/main">
  <p:tag name="KSO_WM_BEAUTIFY_FLAG" val=""/>
</p:tagLst>
</file>

<file path=ppt/tags/tag371.xml><?xml version="1.0" encoding="utf-8"?>
<p:tagLst xmlns:p="http://schemas.openxmlformats.org/presentationml/2006/main">
  <p:tag name="KSO_WM_BEAUTIFY_FLAG" val=""/>
</p:tagLst>
</file>

<file path=ppt/tags/tag372.xml><?xml version="1.0" encoding="utf-8"?>
<p:tagLst xmlns:p="http://schemas.openxmlformats.org/presentationml/2006/main">
  <p:tag name="KSO_WM_BEAUTIFY_FLAG" val=""/>
</p:tagLst>
</file>

<file path=ppt/tags/tag373.xml><?xml version="1.0" encoding="utf-8"?>
<p:tagLst xmlns:p="http://schemas.openxmlformats.org/presentationml/2006/main">
  <p:tag name="KSO_WM_BEAUTIFY_FLAG" val=""/>
</p:tagLst>
</file>

<file path=ppt/tags/tag374.xml><?xml version="1.0" encoding="utf-8"?>
<p:tagLst xmlns:p="http://schemas.openxmlformats.org/presentationml/2006/main">
  <p:tag name="KSO_WM_BEAUTIFY_FLAG" val=""/>
</p:tagLst>
</file>

<file path=ppt/tags/tag375.xml><?xml version="1.0" encoding="utf-8"?>
<p:tagLst xmlns:p="http://schemas.openxmlformats.org/presentationml/2006/main">
  <p:tag name="KSO_WM_BEAUTIFY_FLAG" val=""/>
</p:tagLst>
</file>

<file path=ppt/tags/tag376.xml><?xml version="1.0" encoding="utf-8"?>
<p:tagLst xmlns:p="http://schemas.openxmlformats.org/presentationml/2006/main">
  <p:tag name="KSO_WM_BEAUTIFY_FLAG" val=""/>
</p:tagLst>
</file>

<file path=ppt/tags/tag377.xml><?xml version="1.0" encoding="utf-8"?>
<p:tagLst xmlns:p="http://schemas.openxmlformats.org/presentationml/2006/main">
  <p:tag name="KSO_WM_BEAUTIFY_FLAG" val=""/>
</p:tagLst>
</file>

<file path=ppt/tags/tag378.xml><?xml version="1.0" encoding="utf-8"?>
<p:tagLst xmlns:p="http://schemas.openxmlformats.org/presentationml/2006/main">
  <p:tag name="KSO_WM_BEAUTIFY_FLAG" val=""/>
</p:tagLst>
</file>

<file path=ppt/tags/tag379.xml><?xml version="1.0" encoding="utf-8"?>
<p:tagLst xmlns:p="http://schemas.openxmlformats.org/presentationml/2006/main">
  <p:tag name="KSO_WM_BEAUTIFY_FLAG" val=""/>
</p:tagLst>
</file>

<file path=ppt/tags/tag380.xml><?xml version="1.0" encoding="utf-8"?>
<p:tagLst xmlns:p="http://schemas.openxmlformats.org/presentationml/2006/main">
  <p:tag name="KSO_WM_BEAUTIFY_FLAG" val=""/>
</p:tagLst>
</file>

<file path=ppt/tags/tag381.xml><?xml version="1.0" encoding="utf-8"?>
<p:tagLst xmlns:p="http://schemas.openxmlformats.org/presentationml/2006/main">
  <p:tag name="KSO_WM_BEAUTIFY_FLAG" val=""/>
</p:tagLst>
</file>

<file path=ppt/tags/tag382.xml><?xml version="1.0" encoding="utf-8"?>
<p:tagLst xmlns:p="http://schemas.openxmlformats.org/presentationml/2006/main">
  <p:tag name="KSO_WM_BEAUTIFY_FLAG" val=""/>
</p:tagLst>
</file>

<file path=ppt/tags/tag383.xml><?xml version="1.0" encoding="utf-8"?>
<p:tagLst xmlns:p="http://schemas.openxmlformats.org/presentationml/2006/main">
  <p:tag name="KSO_WM_BEAUTIFY_FLAG" val=""/>
</p:tagLst>
</file>

<file path=ppt/tags/tag384.xml><?xml version="1.0" encoding="utf-8"?>
<p:tagLst xmlns:p="http://schemas.openxmlformats.org/presentationml/2006/main">
  <p:tag name="KSO_WM_BEAUTIFY_FLAG" val=""/>
</p:tagLst>
</file>

<file path=ppt/tags/tag385.xml><?xml version="1.0" encoding="utf-8"?>
<p:tagLst xmlns:p="http://schemas.openxmlformats.org/presentationml/2006/main">
  <p:tag name="KSO_WM_BEAUTIFY_FLAG" val=""/>
</p:tagLst>
</file>

<file path=ppt/tags/tag386.xml><?xml version="1.0" encoding="utf-8"?>
<p:tagLst xmlns:p="http://schemas.openxmlformats.org/presentationml/2006/main">
  <p:tag name="KSO_WM_BEAUTIFY_FLAG" val=""/>
</p:tagLst>
</file>

<file path=ppt/tags/tag387.xml><?xml version="1.0" encoding="utf-8"?>
<p:tagLst xmlns:p="http://schemas.openxmlformats.org/presentationml/2006/main">
  <p:tag name="KSO_WM_BEAUTIFY_FLAG" val=""/>
</p:tagLst>
</file>

<file path=ppt/tags/tag388.xml><?xml version="1.0" encoding="utf-8"?>
<p:tagLst xmlns:p="http://schemas.openxmlformats.org/presentationml/2006/main">
  <p:tag name="KSO_WM_BEAUTIFY_FLAG" val=""/>
</p:tagLst>
</file>

<file path=ppt/tags/tag389.xml><?xml version="1.0" encoding="utf-8"?>
<p:tagLst xmlns:p="http://schemas.openxmlformats.org/presentationml/2006/main">
  <p:tag name="KSO_WM_BEAUTIFY_FLAG" val=""/>
</p:tagLst>
</file>

<file path=ppt/tags/tag390.xml><?xml version="1.0" encoding="utf-8"?>
<p:tagLst xmlns:p="http://schemas.openxmlformats.org/presentationml/2006/main">
  <p:tag name="KSO_WM_BEAUTIFY_FLAG" val=""/>
</p:tagLst>
</file>

<file path=ppt/tags/tag391.xml><?xml version="1.0" encoding="utf-8"?>
<p:tagLst xmlns:p="http://schemas.openxmlformats.org/presentationml/2006/main">
  <p:tag name="KSO_WM_BEAUTIFY_FLAG" val=""/>
</p:tagLst>
</file>

<file path=ppt/tags/tag392.xml><?xml version="1.0" encoding="utf-8"?>
<p:tagLst xmlns:p="http://schemas.openxmlformats.org/presentationml/2006/main">
  <p:tag name="KSO_WM_BEAUTIFY_FLAG" val=""/>
</p:tagLst>
</file>

<file path=ppt/tags/tag393.xml><?xml version="1.0" encoding="utf-8"?>
<p:tagLst xmlns:p="http://schemas.openxmlformats.org/presentationml/2006/main">
  <p:tag name="KSO_WM_BEAUTIFY_FLAG" val=""/>
</p:tagLst>
</file>

<file path=ppt/tags/tag394.xml><?xml version="1.0" encoding="utf-8"?>
<p:tagLst xmlns:p="http://schemas.openxmlformats.org/presentationml/2006/main">
  <p:tag name="KSO_WM_BEAUTIFY_FLAG" val=""/>
</p:tagLst>
</file>

<file path=ppt/tags/tag395.xml><?xml version="1.0" encoding="utf-8"?>
<p:tagLst xmlns:p="http://schemas.openxmlformats.org/presentationml/2006/main">
  <p:tag name="KSO_WM_BEAUTIFY_FLAG" val=""/>
</p:tagLst>
</file>

<file path=ppt/tags/tag396.xml><?xml version="1.0" encoding="utf-8"?>
<p:tagLst xmlns:p="http://schemas.openxmlformats.org/presentationml/2006/main">
  <p:tag name="KSO_WM_BEAUTIFY_FLAG" val=""/>
</p:tagLst>
</file>

<file path=ppt/tags/tag397.xml><?xml version="1.0" encoding="utf-8"?>
<p:tagLst xmlns:p="http://schemas.openxmlformats.org/presentationml/2006/main">
  <p:tag name="KSO_WM_BEAUTIFY_FLAG" val=""/>
</p:tagLst>
</file>

<file path=ppt/tags/tag398.xml><?xml version="1.0" encoding="utf-8"?>
<p:tagLst xmlns:p="http://schemas.openxmlformats.org/presentationml/2006/main">
  <p:tag name="KSO_WM_BEAUTIFY_FLAG" val=""/>
</p:tagLst>
</file>

<file path=ppt/tags/tag399.xml><?xml version="1.0" encoding="utf-8"?>
<p:tagLst xmlns:p="http://schemas.openxmlformats.org/presentationml/2006/main">
  <p:tag name="KSO_WM_BEAUTIFY_FLAG" val=""/>
</p:tagLst>
</file>

<file path=ppt/tags/tag400.xml><?xml version="1.0" encoding="utf-8"?>
<p:tagLst xmlns:p="http://schemas.openxmlformats.org/presentationml/2006/main">
  <p:tag name="KSO_WM_BEAUTIFY_FLAG" val=""/>
</p:tagLst>
</file>

<file path=ppt/tags/tag401.xml><?xml version="1.0" encoding="utf-8"?>
<p:tagLst xmlns:p="http://schemas.openxmlformats.org/presentationml/2006/main">
  <p:tag name="KSO_WM_BEAUTIFY_FLAG" val=""/>
</p:tagLst>
</file>

<file path=ppt/tags/tag402.xml><?xml version="1.0" encoding="utf-8"?>
<p:tagLst xmlns:p="http://schemas.openxmlformats.org/presentationml/2006/main">
  <p:tag name="KSO_WM_BEAUTIFY_FLAG" val=""/>
</p:tagLst>
</file>

<file path=ppt/tags/tag403.xml><?xml version="1.0" encoding="utf-8"?>
<p:tagLst xmlns:p="http://schemas.openxmlformats.org/presentationml/2006/main">
  <p:tag name="KSO_WM_BEAUTIFY_FLAG" val=""/>
</p:tagLst>
</file>

<file path=ppt/tags/tag404.xml><?xml version="1.0" encoding="utf-8"?>
<p:tagLst xmlns:p="http://schemas.openxmlformats.org/presentationml/2006/main">
  <p:tag name="KSO_WM_BEAUTIFY_FLAG" val=""/>
</p:tagLst>
</file>

<file path=ppt/tags/tag405.xml><?xml version="1.0" encoding="utf-8"?>
<p:tagLst xmlns:p="http://schemas.openxmlformats.org/presentationml/2006/main">
  <p:tag name="KSO_WM_BEAUTIFY_FLAG" val=""/>
</p:tagLst>
</file>

<file path=ppt/tags/tag406.xml><?xml version="1.0" encoding="utf-8"?>
<p:tagLst xmlns:p="http://schemas.openxmlformats.org/presentationml/2006/main">
  <p:tag name="KSO_WM_BEAUTIFY_FLAG" val=""/>
</p:tagLst>
</file>

<file path=ppt/tags/tag407.xml><?xml version="1.0" encoding="utf-8"?>
<p:tagLst xmlns:p="http://schemas.openxmlformats.org/presentationml/2006/main">
  <p:tag name="KSO_WM_BEAUTIFY_FLAG" val=""/>
</p:tagLst>
</file>

<file path=ppt/tags/tag408.xml><?xml version="1.0" encoding="utf-8"?>
<p:tagLst xmlns:p="http://schemas.openxmlformats.org/presentationml/2006/main">
  <p:tag name="KSO_WM_BEAUTIFY_FLAG" val=""/>
</p:tagLst>
</file>

<file path=ppt/tags/tag409.xml><?xml version="1.0" encoding="utf-8"?>
<p:tagLst xmlns:p="http://schemas.openxmlformats.org/presentationml/2006/main">
  <p:tag name="KSO_WM_BEAUTIFY_FLAG" val=""/>
</p:tagLst>
</file>

<file path=ppt/tags/tag410.xml><?xml version="1.0" encoding="utf-8"?>
<p:tagLst xmlns:p="http://schemas.openxmlformats.org/presentationml/2006/main">
  <p:tag name="KSO_WM_BEAUTIFY_FLAG" val=""/>
</p:tagLst>
</file>

<file path=ppt/tags/tag411.xml><?xml version="1.0" encoding="utf-8"?>
<p:tagLst xmlns:p="http://schemas.openxmlformats.org/presentationml/2006/main">
  <p:tag name="KSO_WM_BEAUTIFY_FLAG" val=""/>
</p:tagLst>
</file>

<file path=ppt/tags/tag412.xml><?xml version="1.0" encoding="utf-8"?>
<p:tagLst xmlns:p="http://schemas.openxmlformats.org/presentationml/2006/main">
  <p:tag name="KSO_WM_BEAUTIFY_FLAG" val=""/>
</p:tagLst>
</file>

<file path=ppt/tags/tag413.xml><?xml version="1.0" encoding="utf-8"?>
<p:tagLst xmlns:p="http://schemas.openxmlformats.org/presentationml/2006/main">
  <p:tag name="KSO_WM_BEAUTIFY_FLAG" val=""/>
</p:tagLst>
</file>

<file path=ppt/tags/tag414.xml><?xml version="1.0" encoding="utf-8"?>
<p:tagLst xmlns:p="http://schemas.openxmlformats.org/presentationml/2006/main">
  <p:tag name="KSO_WM_BEAUTIFY_FLAG" val=""/>
</p:tagLst>
</file>

<file path=ppt/tags/tag415.xml><?xml version="1.0" encoding="utf-8"?>
<p:tagLst xmlns:p="http://schemas.openxmlformats.org/presentationml/2006/main">
  <p:tag name="KSO_WM_BEAUTIFY_FLAG" val=""/>
</p:tagLst>
</file>

<file path=ppt/tags/tag416.xml><?xml version="1.0" encoding="utf-8"?>
<p:tagLst xmlns:p="http://schemas.openxmlformats.org/presentationml/2006/main">
  <p:tag name="KSO_WM_BEAUTIFY_FLAG" val=""/>
</p:tagLst>
</file>

<file path=ppt/tags/tag417.xml><?xml version="1.0" encoding="utf-8"?>
<p:tagLst xmlns:p="http://schemas.openxmlformats.org/presentationml/2006/main">
  <p:tag name="KSO_WM_BEAUTIFY_FLAG" val=""/>
</p:tagLst>
</file>

<file path=ppt/tags/tag418.xml><?xml version="1.0" encoding="utf-8"?>
<p:tagLst xmlns:p="http://schemas.openxmlformats.org/presentationml/2006/main">
  <p:tag name="KSO_WM_BEAUTIFY_FLAG" val=""/>
</p:tagLst>
</file>

<file path=ppt/tags/tag419.xml><?xml version="1.0" encoding="utf-8"?>
<p:tagLst xmlns:p="http://schemas.openxmlformats.org/presentationml/2006/main">
  <p:tag name="KSO_WM_BEAUTIFY_FLAG" val=""/>
</p:tagLst>
</file>

<file path=ppt/tags/tag420.xml><?xml version="1.0" encoding="utf-8"?>
<p:tagLst xmlns:p="http://schemas.openxmlformats.org/presentationml/2006/main">
  <p:tag name="KSO_WM_BEAUTIFY_FLAG" val=""/>
</p:tagLst>
</file>

<file path=ppt/tags/tag421.xml><?xml version="1.0" encoding="utf-8"?>
<p:tagLst xmlns:p="http://schemas.openxmlformats.org/presentationml/2006/main">
  <p:tag name="KSO_WM_BEAUTIFY_FLAG" val=""/>
</p:tagLst>
</file>

<file path=ppt/tags/tag422.xml><?xml version="1.0" encoding="utf-8"?>
<p:tagLst xmlns:p="http://schemas.openxmlformats.org/presentationml/2006/main">
  <p:tag name="KSO_WM_BEAUTIFY_FLAG" val=""/>
</p:tagLst>
</file>

<file path=ppt/tags/tag423.xml><?xml version="1.0" encoding="utf-8"?>
<p:tagLst xmlns:p="http://schemas.openxmlformats.org/presentationml/2006/main">
  <p:tag name="KSO_WM_BEAUTIFY_FLAG" val=""/>
</p:tagLst>
</file>

<file path=ppt/tags/tag424.xml><?xml version="1.0" encoding="utf-8"?>
<p:tagLst xmlns:p="http://schemas.openxmlformats.org/presentationml/2006/main">
  <p:tag name="KSO_WM_BEAUTIFY_FLAG" val=""/>
</p:tagLst>
</file>

<file path=ppt/tags/tag425.xml><?xml version="1.0" encoding="utf-8"?>
<p:tagLst xmlns:p="http://schemas.openxmlformats.org/presentationml/2006/main">
  <p:tag name="KSO_WM_BEAUTIFY_FLAG" val=""/>
</p:tagLst>
</file>

<file path=ppt/tags/tag426.xml><?xml version="1.0" encoding="utf-8"?>
<p:tagLst xmlns:p="http://schemas.openxmlformats.org/presentationml/2006/main">
  <p:tag name="KSO_WM_BEAUTIFY_FLAG" val=""/>
</p:tagLst>
</file>

<file path=ppt/tags/tag427.xml><?xml version="1.0" encoding="utf-8"?>
<p:tagLst xmlns:p="http://schemas.openxmlformats.org/presentationml/2006/main">
  <p:tag name="KSO_WM_BEAUTIFY_FLAG" val=""/>
</p:tagLst>
</file>

<file path=ppt/tags/tag428.xml><?xml version="1.0" encoding="utf-8"?>
<p:tagLst xmlns:p="http://schemas.openxmlformats.org/presentationml/2006/main">
  <p:tag name="KSO_WM_BEAUTIFY_FLAG" val=""/>
</p:tagLst>
</file>

<file path=ppt/tags/tag429.xml><?xml version="1.0" encoding="utf-8"?>
<p:tagLst xmlns:p="http://schemas.openxmlformats.org/presentationml/2006/main">
  <p:tag name="KSO_WM_BEAUTIFY_FLAG" val=""/>
</p:tagLst>
</file>

<file path=ppt/tags/tag430.xml><?xml version="1.0" encoding="utf-8"?>
<p:tagLst xmlns:p="http://schemas.openxmlformats.org/presentationml/2006/main">
  <p:tag name="KSO_WM_BEAUTIFY_FLAG" val=""/>
</p:tagLst>
</file>

<file path=ppt/tags/tag431.xml><?xml version="1.0" encoding="utf-8"?>
<p:tagLst xmlns:p="http://schemas.openxmlformats.org/presentationml/2006/main">
  <p:tag name="KSO_WM_BEAUTIFY_FLAG" val=""/>
</p:tagLst>
</file>

<file path=ppt/tags/tag432.xml><?xml version="1.0" encoding="utf-8"?>
<p:tagLst xmlns:p="http://schemas.openxmlformats.org/presentationml/2006/main">
  <p:tag name="KSO_WM_BEAUTIFY_FLAG" val=""/>
</p:tagLst>
</file>

<file path=ppt/tags/tag433.xml><?xml version="1.0" encoding="utf-8"?>
<p:tagLst xmlns:p="http://schemas.openxmlformats.org/presentationml/2006/main">
  <p:tag name="KSO_WM_BEAUTIFY_FLAG" val=""/>
</p:tagLst>
</file>

<file path=ppt/tags/tag434.xml><?xml version="1.0" encoding="utf-8"?>
<p:tagLst xmlns:p="http://schemas.openxmlformats.org/presentationml/2006/main">
  <p:tag name="KSO_WM_BEAUTIFY_FLAG" val=""/>
</p:tagLst>
</file>

<file path=ppt/tags/tag435.xml><?xml version="1.0" encoding="utf-8"?>
<p:tagLst xmlns:p="http://schemas.openxmlformats.org/presentationml/2006/main">
  <p:tag name="KSO_WM_BEAUTIFY_FLAG" val=""/>
</p:tagLst>
</file>

<file path=ppt/tags/tag436.xml><?xml version="1.0" encoding="utf-8"?>
<p:tagLst xmlns:p="http://schemas.openxmlformats.org/presentationml/2006/main">
  <p:tag name="KSO_WM_BEAUTIFY_FLAG" val=""/>
</p:tagLst>
</file>

<file path=ppt/tags/tag437.xml><?xml version="1.0" encoding="utf-8"?>
<p:tagLst xmlns:p="http://schemas.openxmlformats.org/presentationml/2006/main">
  <p:tag name="KSO_WM_BEAUTIFY_FLAG" val=""/>
</p:tagLst>
</file>

<file path=ppt/tags/tag438.xml><?xml version="1.0" encoding="utf-8"?>
<p:tagLst xmlns:p="http://schemas.openxmlformats.org/presentationml/2006/main">
  <p:tag name="KSO_WM_BEAUTIFY_FLAG" val=""/>
</p:tagLst>
</file>

<file path=ppt/tags/tag439.xml><?xml version="1.0" encoding="utf-8"?>
<p:tagLst xmlns:p="http://schemas.openxmlformats.org/presentationml/2006/main">
  <p:tag name="KSO_WM_BEAUTIFY_FLAG" val=""/>
</p:tagLst>
</file>

<file path=ppt/tags/tag440.xml><?xml version="1.0" encoding="utf-8"?>
<p:tagLst xmlns:p="http://schemas.openxmlformats.org/presentationml/2006/main">
  <p:tag name="KSO_WM_BEAUTIFY_FLAG" val=""/>
</p:tagLst>
</file>

<file path=ppt/tags/tag441.xml><?xml version="1.0" encoding="utf-8"?>
<p:tagLst xmlns:p="http://schemas.openxmlformats.org/presentationml/2006/main">
  <p:tag name="KSO_WM_BEAUTIFY_FLAG" val=""/>
</p:tagLst>
</file>

<file path=ppt/tags/tag442.xml><?xml version="1.0" encoding="utf-8"?>
<p:tagLst xmlns:p="http://schemas.openxmlformats.org/presentationml/2006/main">
  <p:tag name="KSO_WM_BEAUTIFY_FLAG" val=""/>
</p:tagLst>
</file>

<file path=ppt/tags/tag443.xml><?xml version="1.0" encoding="utf-8"?>
<p:tagLst xmlns:p="http://schemas.openxmlformats.org/presentationml/2006/main">
  <p:tag name="KSO_WM_BEAUTIFY_FLAG" val=""/>
</p:tagLst>
</file>

<file path=ppt/tags/tag444.xml><?xml version="1.0" encoding="utf-8"?>
<p:tagLst xmlns:p="http://schemas.openxmlformats.org/presentationml/2006/main">
  <p:tag name="KSO_WM_BEAUTIFY_FLAG" val=""/>
</p:tagLst>
</file>

<file path=ppt/tags/tag445.xml><?xml version="1.0" encoding="utf-8"?>
<p:tagLst xmlns:p="http://schemas.openxmlformats.org/presentationml/2006/main">
  <p:tag name="KSO_WM_BEAUTIFY_FLAG" val=""/>
</p:tagLst>
</file>

<file path=ppt/tags/tag446.xml><?xml version="1.0" encoding="utf-8"?>
<p:tagLst xmlns:p="http://schemas.openxmlformats.org/presentationml/2006/main">
  <p:tag name="KSO_WM_BEAUTIFY_FLAG" val=""/>
</p:tagLst>
</file>

<file path=ppt/tags/tag447.xml><?xml version="1.0" encoding="utf-8"?>
<p:tagLst xmlns:p="http://schemas.openxmlformats.org/presentationml/2006/main">
  <p:tag name="KSO_WM_BEAUTIFY_FLAG" val=""/>
</p:tagLst>
</file>

<file path=ppt/tags/tag448.xml><?xml version="1.0" encoding="utf-8"?>
<p:tagLst xmlns:p="http://schemas.openxmlformats.org/presentationml/2006/main">
  <p:tag name="KSO_WM_BEAUTIFY_FLAG" val=""/>
</p:tagLst>
</file>

<file path=ppt/tags/tag449.xml><?xml version="1.0" encoding="utf-8"?>
<p:tagLst xmlns:p="http://schemas.openxmlformats.org/presentationml/2006/main">
  <p:tag name="KSO_WM_BEAUTIFY_FLAG" val=""/>
</p:tagLst>
</file>

<file path=ppt/tags/tag450.xml><?xml version="1.0" encoding="utf-8"?>
<p:tagLst xmlns:p="http://schemas.openxmlformats.org/presentationml/2006/main">
  <p:tag name="KSO_WM_BEAUTIFY_FLAG" val=""/>
</p:tagLst>
</file>

<file path=ppt/tags/tag451.xml><?xml version="1.0" encoding="utf-8"?>
<p:tagLst xmlns:p="http://schemas.openxmlformats.org/presentationml/2006/main">
  <p:tag name="KSO_WM_BEAUTIFY_FLAG" val=""/>
</p:tagLst>
</file>

<file path=ppt/tags/tag452.xml><?xml version="1.0" encoding="utf-8"?>
<p:tagLst xmlns:p="http://schemas.openxmlformats.org/presentationml/2006/main">
  <p:tag name="KSO_WM_BEAUTIFY_FLAG" val=""/>
</p:tagLst>
</file>

<file path=ppt/tags/tag453.xml><?xml version="1.0" encoding="utf-8"?>
<p:tagLst xmlns:p="http://schemas.openxmlformats.org/presentationml/2006/main">
  <p:tag name="KSO_WM_BEAUTIFY_FLAG" val=""/>
</p:tagLst>
</file>

<file path=ppt/tags/tag454.xml><?xml version="1.0" encoding="utf-8"?>
<p:tagLst xmlns:p="http://schemas.openxmlformats.org/presentationml/2006/main">
  <p:tag name="KSO_WM_BEAUTIFY_FLAG" val=""/>
</p:tagLst>
</file>

<file path=ppt/tags/tag455.xml><?xml version="1.0" encoding="utf-8"?>
<p:tagLst xmlns:p="http://schemas.openxmlformats.org/presentationml/2006/main">
  <p:tag name="KSO_WM_BEAUTIFY_FLAG" val=""/>
</p:tagLst>
</file>

<file path=ppt/tags/tag456.xml><?xml version="1.0" encoding="utf-8"?>
<p:tagLst xmlns:p="http://schemas.openxmlformats.org/presentationml/2006/main">
  <p:tag name="KSO_WM_BEAUTIFY_FLAG" val=""/>
</p:tagLst>
</file>

<file path=ppt/tags/tag457.xml><?xml version="1.0" encoding="utf-8"?>
<p:tagLst xmlns:p="http://schemas.openxmlformats.org/presentationml/2006/main">
  <p:tag name="KSO_WM_BEAUTIFY_FLAG" val=""/>
</p:tagLst>
</file>

<file path=ppt/tags/tag458.xml><?xml version="1.0" encoding="utf-8"?>
<p:tagLst xmlns:p="http://schemas.openxmlformats.org/presentationml/2006/main">
  <p:tag name="KSO_WM_BEAUTIFY_FLAG" val=""/>
</p:tagLst>
</file>

<file path=ppt/tags/tag459.xml><?xml version="1.0" encoding="utf-8"?>
<p:tagLst xmlns:p="http://schemas.openxmlformats.org/presentationml/2006/main">
  <p:tag name="KSO_WM_BEAUTIFY_FLAG" val=""/>
</p:tagLst>
</file>

<file path=ppt/tags/tag460.xml><?xml version="1.0" encoding="utf-8"?>
<p:tagLst xmlns:p="http://schemas.openxmlformats.org/presentationml/2006/main">
  <p:tag name="KSO_WM_BEAUTIFY_FLAG" val=""/>
</p:tagLst>
</file>

<file path=ppt/tags/tag461.xml><?xml version="1.0" encoding="utf-8"?>
<p:tagLst xmlns:p="http://schemas.openxmlformats.org/presentationml/2006/main">
  <p:tag name="KSO_WM_BEAUTIFY_FLAG" val=""/>
</p:tagLst>
</file>

<file path=ppt/tags/tag462.xml><?xml version="1.0" encoding="utf-8"?>
<p:tagLst xmlns:p="http://schemas.openxmlformats.org/presentationml/2006/main">
  <p:tag name="KSO_WM_BEAUTIFY_FLAG" val=""/>
</p:tagLst>
</file>

<file path=ppt/tags/tag463.xml><?xml version="1.0" encoding="utf-8"?>
<p:tagLst xmlns:p="http://schemas.openxmlformats.org/presentationml/2006/main">
  <p:tag name="KSO_WM_BEAUTIFY_FLAG" val=""/>
</p:tagLst>
</file>

<file path=ppt/tags/tag464.xml><?xml version="1.0" encoding="utf-8"?>
<p:tagLst xmlns:p="http://schemas.openxmlformats.org/presentationml/2006/main">
  <p:tag name="KSO_WM_BEAUTIFY_FLAG" val=""/>
</p:tagLst>
</file>

<file path=ppt/tags/tag465.xml><?xml version="1.0" encoding="utf-8"?>
<p:tagLst xmlns:p="http://schemas.openxmlformats.org/presentationml/2006/main">
  <p:tag name="KSO_WM_BEAUTIFY_FLAG" val=""/>
</p:tagLst>
</file>

<file path=ppt/tags/tag466.xml><?xml version="1.0" encoding="utf-8"?>
<p:tagLst xmlns:p="http://schemas.openxmlformats.org/presentationml/2006/main">
  <p:tag name="KSO_WM_BEAUTIFY_FLAG" val=""/>
</p:tagLst>
</file>

<file path=ppt/tags/tag467.xml><?xml version="1.0" encoding="utf-8"?>
<p:tagLst xmlns:p="http://schemas.openxmlformats.org/presentationml/2006/main">
  <p:tag name="KSO_WM_BEAUTIFY_FLAG" val=""/>
</p:tagLst>
</file>

<file path=ppt/tags/tag468.xml><?xml version="1.0" encoding="utf-8"?>
<p:tagLst xmlns:p="http://schemas.openxmlformats.org/presentationml/2006/main">
  <p:tag name="KSO_WM_BEAUTIFY_FLAG" val=""/>
</p:tagLst>
</file>

<file path=ppt/tags/tag469.xml><?xml version="1.0" encoding="utf-8"?>
<p:tagLst xmlns:p="http://schemas.openxmlformats.org/presentationml/2006/main">
  <p:tag name="KSO_WM_BEAUTIFY_FLAG" val=""/>
</p:tagLst>
</file>

<file path=ppt/tags/tag470.xml><?xml version="1.0" encoding="utf-8"?>
<p:tagLst xmlns:p="http://schemas.openxmlformats.org/presentationml/2006/main">
  <p:tag name="KSO_WM_BEAUTIFY_FLAG" val=""/>
</p:tagLst>
</file>

<file path=ppt/tags/tag471.xml><?xml version="1.0" encoding="utf-8"?>
<p:tagLst xmlns:p="http://schemas.openxmlformats.org/presentationml/2006/main">
  <p:tag name="KSO_WM_BEAUTIFY_FLAG" val=""/>
</p:tagLst>
</file>

<file path=ppt/tags/tag472.xml><?xml version="1.0" encoding="utf-8"?>
<p:tagLst xmlns:p="http://schemas.openxmlformats.org/presentationml/2006/main">
  <p:tag name="KSO_WM_BEAUTIFY_FLAG" val=""/>
</p:tagLst>
</file>

<file path=ppt/tags/tag473.xml><?xml version="1.0" encoding="utf-8"?>
<p:tagLst xmlns:p="http://schemas.openxmlformats.org/presentationml/2006/main">
  <p:tag name="KSO_WM_BEAUTIFY_FLAG" val=""/>
</p:tagLst>
</file>

<file path=ppt/tags/tag474.xml><?xml version="1.0" encoding="utf-8"?>
<p:tagLst xmlns:p="http://schemas.openxmlformats.org/presentationml/2006/main">
  <p:tag name="KSO_WM_BEAUTIFY_FLAG" val=""/>
</p:tagLst>
</file>

<file path=ppt/tags/tag475.xml><?xml version="1.0" encoding="utf-8"?>
<p:tagLst xmlns:p="http://schemas.openxmlformats.org/presentationml/2006/main">
  <p:tag name="KSO_WM_BEAUTIFY_FLAG" val=""/>
</p:tagLst>
</file>

<file path=ppt/tags/tag476.xml><?xml version="1.0" encoding="utf-8"?>
<p:tagLst xmlns:p="http://schemas.openxmlformats.org/presentationml/2006/main">
  <p:tag name="KSO_WM_BEAUTIFY_FLAG" val=""/>
</p:tagLst>
</file>

<file path=ppt/tags/tag477.xml><?xml version="1.0" encoding="utf-8"?>
<p:tagLst xmlns:p="http://schemas.openxmlformats.org/presentationml/2006/main">
  <p:tag name="KSO_WM_BEAUTIFY_FLAG" val=""/>
</p:tagLst>
</file>

<file path=ppt/tags/tag478.xml><?xml version="1.0" encoding="utf-8"?>
<p:tagLst xmlns:p="http://schemas.openxmlformats.org/presentationml/2006/main">
  <p:tag name="KSO_WM_BEAUTIFY_FLAG" val=""/>
</p:tagLst>
</file>

<file path=ppt/tags/tag479.xml><?xml version="1.0" encoding="utf-8"?>
<p:tagLst xmlns:p="http://schemas.openxmlformats.org/presentationml/2006/main">
  <p:tag name="KSO_WM_BEAUTIFY_FLAG" val=""/>
</p:tagLst>
</file>

<file path=ppt/tags/tag480.xml><?xml version="1.0" encoding="utf-8"?>
<p:tagLst xmlns:p="http://schemas.openxmlformats.org/presentationml/2006/main">
  <p:tag name="KSO_WM_BEAUTIFY_FLAG" val=""/>
</p:tagLst>
</file>

<file path=ppt/tags/tag481.xml><?xml version="1.0" encoding="utf-8"?>
<p:tagLst xmlns:p="http://schemas.openxmlformats.org/presentationml/2006/main">
  <p:tag name="KSO_WM_BEAUTIFY_FLAG" val=""/>
</p:tagLst>
</file>

<file path=ppt/tags/tag482.xml><?xml version="1.0" encoding="utf-8"?>
<p:tagLst xmlns:p="http://schemas.openxmlformats.org/presentationml/2006/main">
  <p:tag name="KSO_WM_BEAUTIFY_FLAG" val=""/>
</p:tagLst>
</file>

<file path=ppt/tags/tag483.xml><?xml version="1.0" encoding="utf-8"?>
<p:tagLst xmlns:p="http://schemas.openxmlformats.org/presentationml/2006/main">
  <p:tag name="KSO_WM_BEAUTIFY_FLAG" val=""/>
</p:tagLst>
</file>

<file path=ppt/tags/tag484.xml><?xml version="1.0" encoding="utf-8"?>
<p:tagLst xmlns:p="http://schemas.openxmlformats.org/presentationml/2006/main">
  <p:tag name="KSO_WM_BEAUTIFY_FLAG" val=""/>
</p:tagLst>
</file>

<file path=ppt/tags/tag485.xml><?xml version="1.0" encoding="utf-8"?>
<p:tagLst xmlns:p="http://schemas.openxmlformats.org/presentationml/2006/main">
  <p:tag name="KSO_WM_BEAUTIFY_FLAG" val=""/>
</p:tagLst>
</file>

<file path=ppt/tags/tag486.xml><?xml version="1.0" encoding="utf-8"?>
<p:tagLst xmlns:p="http://schemas.openxmlformats.org/presentationml/2006/main">
  <p:tag name="KSO_WM_BEAUTIFY_FLAG" val=""/>
</p:tagLst>
</file>

<file path=ppt/tags/tag487.xml><?xml version="1.0" encoding="utf-8"?>
<p:tagLst xmlns:p="http://schemas.openxmlformats.org/presentationml/2006/main">
  <p:tag name="KSO_WM_BEAUTIFY_FLAG" val=""/>
</p:tagLst>
</file>

<file path=ppt/tags/tag488.xml><?xml version="1.0" encoding="utf-8"?>
<p:tagLst xmlns:p="http://schemas.openxmlformats.org/presentationml/2006/main">
  <p:tag name="KSO_WM_BEAUTIFY_FLAG" val=""/>
</p:tagLst>
</file>

<file path=ppt/tags/tag489.xml><?xml version="1.0" encoding="utf-8"?>
<p:tagLst xmlns:p="http://schemas.openxmlformats.org/presentationml/2006/main">
  <p:tag name="KSO_WM_BEAUTIFY_FLAG" val=""/>
</p:tagLst>
</file>

<file path=ppt/tags/tag490.xml><?xml version="1.0" encoding="utf-8"?>
<p:tagLst xmlns:p="http://schemas.openxmlformats.org/presentationml/2006/main">
  <p:tag name="KSO_WM_BEAUTIFY_FLAG" val=""/>
</p:tagLst>
</file>

<file path=ppt/tags/tag491.xml><?xml version="1.0" encoding="utf-8"?>
<p:tagLst xmlns:p="http://schemas.openxmlformats.org/presentationml/2006/main">
  <p:tag name="KSO_WM_BEAUTIFY_FLAG" val=""/>
</p:tagLst>
</file>

<file path=ppt/tags/tag492.xml><?xml version="1.0" encoding="utf-8"?>
<p:tagLst xmlns:p="http://schemas.openxmlformats.org/presentationml/2006/main">
  <p:tag name="KSO_WM_BEAUTIFY_FLAG" val=""/>
</p:tagLst>
</file>

<file path=ppt/tags/tag493.xml><?xml version="1.0" encoding="utf-8"?>
<p:tagLst xmlns:p="http://schemas.openxmlformats.org/presentationml/2006/main">
  <p:tag name="KSO_WM_BEAUTIFY_FLAG" val=""/>
</p:tagLst>
</file>

<file path=ppt/tags/tag494.xml><?xml version="1.0" encoding="utf-8"?>
<p:tagLst xmlns:p="http://schemas.openxmlformats.org/presentationml/2006/main">
  <p:tag name="KSO_WM_BEAUTIFY_FLAG" val=""/>
</p:tagLst>
</file>

<file path=ppt/tags/tag495.xml><?xml version="1.0" encoding="utf-8"?>
<p:tagLst xmlns:p="http://schemas.openxmlformats.org/presentationml/2006/main">
  <p:tag name="KSO_WM_BEAUTIFY_FLAG" val=""/>
</p:tagLst>
</file>

<file path=ppt/tags/tag496.xml><?xml version="1.0" encoding="utf-8"?>
<p:tagLst xmlns:p="http://schemas.openxmlformats.org/presentationml/2006/main">
  <p:tag name="KSO_WM_BEAUTIFY_FLAG" val=""/>
</p:tagLst>
</file>

<file path=ppt/tags/tag497.xml><?xml version="1.0" encoding="utf-8"?>
<p:tagLst xmlns:p="http://schemas.openxmlformats.org/presentationml/2006/main">
  <p:tag name="KSO_WM_BEAUTIFY_FLAG" val=""/>
</p:tagLst>
</file>

<file path=ppt/tags/tag498.xml><?xml version="1.0" encoding="utf-8"?>
<p:tagLst xmlns:p="http://schemas.openxmlformats.org/presentationml/2006/main">
  <p:tag name="KSO_WM_BEAUTIFY_FLAG" val=""/>
</p:tagLst>
</file>

<file path=ppt/tags/tag499.xml><?xml version="1.0" encoding="utf-8"?>
<p:tagLst xmlns:p="http://schemas.openxmlformats.org/presentationml/2006/main">
  <p:tag name="KSO_WM_BEAUTIFY_FLAG" val=""/>
</p:tagLst>
</file>

<file path=ppt/tags/tag500.xml><?xml version="1.0" encoding="utf-8"?>
<p:tagLst xmlns:p="http://schemas.openxmlformats.org/presentationml/2006/main">
  <p:tag name="KSO_WM_BEAUTIFY_FLAG" val=""/>
</p:tagLst>
</file>

<file path=ppt/tags/tag501.xml><?xml version="1.0" encoding="utf-8"?>
<p:tagLst xmlns:p="http://schemas.openxmlformats.org/presentationml/2006/main">
  <p:tag name="KSO_WM_BEAUTIFY_FLAG" val=""/>
</p:tagLst>
</file>

<file path=ppt/tags/tag502.xml><?xml version="1.0" encoding="utf-8"?>
<p:tagLst xmlns:p="http://schemas.openxmlformats.org/presentationml/2006/main">
  <p:tag name="KSO_WM_BEAUTIFY_FLAG" val=""/>
</p:tagLst>
</file>

<file path=ppt/tags/tag503.xml><?xml version="1.0" encoding="utf-8"?>
<p:tagLst xmlns:p="http://schemas.openxmlformats.org/presentationml/2006/main">
  <p:tag name="KSO_WM_BEAUTIFY_FLAG" val=""/>
</p:tagLst>
</file>

<file path=ppt/tags/tag504.xml><?xml version="1.0" encoding="utf-8"?>
<p:tagLst xmlns:p="http://schemas.openxmlformats.org/presentationml/2006/main">
  <p:tag name="KSO_WM_BEAUTIFY_FLAG" val=""/>
</p:tagLst>
</file>

<file path=ppt/tags/tag505.xml><?xml version="1.0" encoding="utf-8"?>
<p:tagLst xmlns:p="http://schemas.openxmlformats.org/presentationml/2006/main">
  <p:tag name="KSO_WM_BEAUTIFY_FLAG" val=""/>
</p:tagLst>
</file>

<file path=ppt/tags/tag506.xml><?xml version="1.0" encoding="utf-8"?>
<p:tagLst xmlns:p="http://schemas.openxmlformats.org/presentationml/2006/main">
  <p:tag name="KSO_WM_BEAUTIFY_FLAG" val=""/>
</p:tagLst>
</file>

<file path=ppt/tags/tag507.xml><?xml version="1.0" encoding="utf-8"?>
<p:tagLst xmlns:p="http://schemas.openxmlformats.org/presentationml/2006/main">
  <p:tag name="KSO_WM_BEAUTIFY_FLAG" val=""/>
</p:tagLst>
</file>

<file path=ppt/tags/tag508.xml><?xml version="1.0" encoding="utf-8"?>
<p:tagLst xmlns:p="http://schemas.openxmlformats.org/presentationml/2006/main">
  <p:tag name="KSO_WM_BEAUTIFY_FLAG" val=""/>
</p:tagLst>
</file>

<file path=ppt/tags/tag509.xml><?xml version="1.0" encoding="utf-8"?>
<p:tagLst xmlns:p="http://schemas.openxmlformats.org/presentationml/2006/main">
  <p:tag name="KSO_WM_BEAUTIFY_FLAG" val=""/>
</p:tagLst>
</file>

<file path=ppt/tags/tag510.xml><?xml version="1.0" encoding="utf-8"?>
<p:tagLst xmlns:p="http://schemas.openxmlformats.org/presentationml/2006/main">
  <p:tag name="KSO_WM_BEAUTIFY_FLAG" val=""/>
</p:tagLst>
</file>

<file path=ppt/tags/tag511.xml><?xml version="1.0" encoding="utf-8"?>
<p:tagLst xmlns:p="http://schemas.openxmlformats.org/presentationml/2006/main">
  <p:tag name="KSO_WM_BEAUTIFY_FLAG" val=""/>
</p:tagLst>
</file>

<file path=ppt/tags/tag512.xml><?xml version="1.0" encoding="utf-8"?>
<p:tagLst xmlns:p="http://schemas.openxmlformats.org/presentationml/2006/main">
  <p:tag name="KSO_WM_BEAUTIFY_FLAG" val=""/>
</p:tagLst>
</file>

<file path=ppt/tags/tag513.xml><?xml version="1.0" encoding="utf-8"?>
<p:tagLst xmlns:p="http://schemas.openxmlformats.org/presentationml/2006/main">
  <p:tag name="KSO_WM_BEAUTIFY_FLAG" val=""/>
</p:tagLst>
</file>

<file path=ppt/tags/tag514.xml><?xml version="1.0" encoding="utf-8"?>
<p:tagLst xmlns:p="http://schemas.openxmlformats.org/presentationml/2006/main">
  <p:tag name="KSO_WM_BEAUTIFY_FLAG" val=""/>
</p:tagLst>
</file>

<file path=ppt/tags/tag515.xml><?xml version="1.0" encoding="utf-8"?>
<p:tagLst xmlns:p="http://schemas.openxmlformats.org/presentationml/2006/main">
  <p:tag name="KSO_WM_BEAUTIFY_FLAG" val=""/>
</p:tagLst>
</file>

<file path=ppt/tags/tag516.xml><?xml version="1.0" encoding="utf-8"?>
<p:tagLst xmlns:p="http://schemas.openxmlformats.org/presentationml/2006/main">
  <p:tag name="KSO_WM_BEAUTIFY_FLAG" val=""/>
</p:tagLst>
</file>

<file path=ppt/tags/tag517.xml><?xml version="1.0" encoding="utf-8"?>
<p:tagLst xmlns:p="http://schemas.openxmlformats.org/presentationml/2006/main">
  <p:tag name="KSO_WM_BEAUTIFY_FLAG" val=""/>
</p:tagLst>
</file>

<file path=ppt/tags/tag518.xml><?xml version="1.0" encoding="utf-8"?>
<p:tagLst xmlns:p="http://schemas.openxmlformats.org/presentationml/2006/main">
  <p:tag name="KSO_WM_BEAUTIFY_FLAG" val=""/>
</p:tagLst>
</file>

<file path=ppt/tags/tag519.xml><?xml version="1.0" encoding="utf-8"?>
<p:tagLst xmlns:p="http://schemas.openxmlformats.org/presentationml/2006/main">
  <p:tag name="KSO_WM_BEAUTIFY_FLAG" val=""/>
</p:tagLst>
</file>

<file path=ppt/tags/tag520.xml><?xml version="1.0" encoding="utf-8"?>
<p:tagLst xmlns:p="http://schemas.openxmlformats.org/presentationml/2006/main">
  <p:tag name="KSO_WM_BEAUTIFY_FLAG" val=""/>
</p:tagLst>
</file>

<file path=ppt/tags/tag521.xml><?xml version="1.0" encoding="utf-8"?>
<p:tagLst xmlns:p="http://schemas.openxmlformats.org/presentationml/2006/main">
  <p:tag name="KSO_WM_BEAUTIFY_FLAG" val=""/>
</p:tagLst>
</file>

<file path=ppt/tags/tag522.xml><?xml version="1.0" encoding="utf-8"?>
<p:tagLst xmlns:p="http://schemas.openxmlformats.org/presentationml/2006/main">
  <p:tag name="KSO_WM_BEAUTIFY_FLAG" val=""/>
</p:tagLst>
</file>

<file path=ppt/tags/tag523.xml><?xml version="1.0" encoding="utf-8"?>
<p:tagLst xmlns:p="http://schemas.openxmlformats.org/presentationml/2006/main">
  <p:tag name="KSO_WM_BEAUTIFY_FLAG" val=""/>
</p:tagLst>
</file>

<file path=ppt/tags/tag524.xml><?xml version="1.0" encoding="utf-8"?>
<p:tagLst xmlns:p="http://schemas.openxmlformats.org/presentationml/2006/main">
  <p:tag name="KSO_WM_BEAUTIFY_FLAG" val=""/>
</p:tagLst>
</file>

<file path=ppt/tags/tag525.xml><?xml version="1.0" encoding="utf-8"?>
<p:tagLst xmlns:p="http://schemas.openxmlformats.org/presentationml/2006/main">
  <p:tag name="KSO_WM_BEAUTIFY_FLAG" val=""/>
</p:tagLst>
</file>

<file path=ppt/tags/tag526.xml><?xml version="1.0" encoding="utf-8"?>
<p:tagLst xmlns:p="http://schemas.openxmlformats.org/presentationml/2006/main">
  <p:tag name="KSO_WM_BEAUTIFY_FLAG" val=""/>
</p:tagLst>
</file>

<file path=ppt/tags/tag527.xml><?xml version="1.0" encoding="utf-8"?>
<p:tagLst xmlns:p="http://schemas.openxmlformats.org/presentationml/2006/main">
  <p:tag name="KSO_WM_BEAUTIFY_FLAG" val=""/>
</p:tagLst>
</file>

<file path=ppt/tags/tag528.xml><?xml version="1.0" encoding="utf-8"?>
<p:tagLst xmlns:p="http://schemas.openxmlformats.org/presentationml/2006/main">
  <p:tag name="KSO_WM_BEAUTIFY_FLAG" val=""/>
</p:tagLst>
</file>

<file path=ppt/tags/tag529.xml><?xml version="1.0" encoding="utf-8"?>
<p:tagLst xmlns:p="http://schemas.openxmlformats.org/presentationml/2006/main">
  <p:tag name="KSO_WM_BEAUTIFY_FLAG" val=""/>
</p:tagLst>
</file>

<file path=ppt/tags/tag530.xml><?xml version="1.0" encoding="utf-8"?>
<p:tagLst xmlns:p="http://schemas.openxmlformats.org/presentationml/2006/main">
  <p:tag name="KSO_WM_BEAUTIFY_FLAG" val=""/>
</p:tagLst>
</file>

<file path=ppt/tags/tag531.xml><?xml version="1.0" encoding="utf-8"?>
<p:tagLst xmlns:p="http://schemas.openxmlformats.org/presentationml/2006/main">
  <p:tag name="KSO_WM_BEAUTIFY_FLAG" val=""/>
</p:tagLst>
</file>

<file path=ppt/tags/tag532.xml><?xml version="1.0" encoding="utf-8"?>
<p:tagLst xmlns:p="http://schemas.openxmlformats.org/presentationml/2006/main">
  <p:tag name="KSO_WM_BEAUTIFY_FLAG" val=""/>
</p:tagLst>
</file>

<file path=ppt/tags/tag533.xml><?xml version="1.0" encoding="utf-8"?>
<p:tagLst xmlns:p="http://schemas.openxmlformats.org/presentationml/2006/main">
  <p:tag name="KSO_WM_BEAUTIFY_FLAG" val=""/>
</p:tagLst>
</file>

<file path=ppt/tags/tag534.xml><?xml version="1.0" encoding="utf-8"?>
<p:tagLst xmlns:p="http://schemas.openxmlformats.org/presentationml/2006/main">
  <p:tag name="KSO_WM_BEAUTIFY_FLAG" val=""/>
</p:tagLst>
</file>

<file path=ppt/tags/tag535.xml><?xml version="1.0" encoding="utf-8"?>
<p:tagLst xmlns:p="http://schemas.openxmlformats.org/presentationml/2006/main">
  <p:tag name="KSO_WM_BEAUTIFY_FLAG" val=""/>
</p:tagLst>
</file>

<file path=ppt/tags/tag536.xml><?xml version="1.0" encoding="utf-8"?>
<p:tagLst xmlns:p="http://schemas.openxmlformats.org/presentationml/2006/main">
  <p:tag name="KSO_WM_BEAUTIFY_FLAG" val=""/>
</p:tagLst>
</file>

<file path=ppt/tags/tag537.xml><?xml version="1.0" encoding="utf-8"?>
<p:tagLst xmlns:p="http://schemas.openxmlformats.org/presentationml/2006/main">
  <p:tag name="KSO_WM_BEAUTIFY_FLAG" val=""/>
</p:tagLst>
</file>

<file path=ppt/tags/tag538.xml><?xml version="1.0" encoding="utf-8"?>
<p:tagLst xmlns:p="http://schemas.openxmlformats.org/presentationml/2006/main">
  <p:tag name="KSO_WM_BEAUTIFY_FLAG" val=""/>
</p:tagLst>
</file>

<file path=ppt/tags/tag539.xml><?xml version="1.0" encoding="utf-8"?>
<p:tagLst xmlns:p="http://schemas.openxmlformats.org/presentationml/2006/main">
  <p:tag name="KSO_WM_BEAUTIFY_FLAG" val=""/>
</p:tagLst>
</file>

<file path=ppt/tags/tag540.xml><?xml version="1.0" encoding="utf-8"?>
<p:tagLst xmlns:p="http://schemas.openxmlformats.org/presentationml/2006/main">
  <p:tag name="KSO_WM_BEAUTIFY_FLAG" val=""/>
</p:tagLst>
</file>

<file path=ppt/tags/tag541.xml><?xml version="1.0" encoding="utf-8"?>
<p:tagLst xmlns:p="http://schemas.openxmlformats.org/presentationml/2006/main">
  <p:tag name="KSO_WM_BEAUTIFY_FLAG" val=""/>
</p:tagLst>
</file>

<file path=ppt/tags/tag542.xml><?xml version="1.0" encoding="utf-8"?>
<p:tagLst xmlns:p="http://schemas.openxmlformats.org/presentationml/2006/main">
  <p:tag name="KSO_WM_BEAUTIFY_FLAG" val=""/>
</p:tagLst>
</file>

<file path=ppt/tags/tag543.xml><?xml version="1.0" encoding="utf-8"?>
<p:tagLst xmlns:p="http://schemas.openxmlformats.org/presentationml/2006/main">
  <p:tag name="KSO_WM_BEAUTIFY_FLAG" val=""/>
</p:tagLst>
</file>

<file path=ppt/tags/tag544.xml><?xml version="1.0" encoding="utf-8"?>
<p:tagLst xmlns:p="http://schemas.openxmlformats.org/presentationml/2006/main">
  <p:tag name="KSO_WM_BEAUTIFY_FLAG" val=""/>
</p:tagLst>
</file>

<file path=ppt/tags/tag545.xml><?xml version="1.0" encoding="utf-8"?>
<p:tagLst xmlns:p="http://schemas.openxmlformats.org/presentationml/2006/main">
  <p:tag name="KSO_WM_BEAUTIFY_FLAG" val=""/>
</p:tagLst>
</file>

<file path=ppt/tags/tag546.xml><?xml version="1.0" encoding="utf-8"?>
<p:tagLst xmlns:p="http://schemas.openxmlformats.org/presentationml/2006/main">
  <p:tag name="KSO_WM_BEAUTIFY_FLAG" val=""/>
</p:tagLst>
</file>

<file path=ppt/tags/tag547.xml><?xml version="1.0" encoding="utf-8"?>
<p:tagLst xmlns:p="http://schemas.openxmlformats.org/presentationml/2006/main">
  <p:tag name="KSO_WM_BEAUTIFY_FLAG" val=""/>
</p:tagLst>
</file>

<file path=ppt/tags/tag548.xml><?xml version="1.0" encoding="utf-8"?>
<p:tagLst xmlns:p="http://schemas.openxmlformats.org/presentationml/2006/main">
  <p:tag name="KSO_WM_BEAUTIFY_FLAG" val=""/>
</p:tagLst>
</file>

<file path=ppt/tags/tag549.xml><?xml version="1.0" encoding="utf-8"?>
<p:tagLst xmlns:p="http://schemas.openxmlformats.org/presentationml/2006/main">
  <p:tag name="KSO_WM_BEAUTIFY_FLAG" val=""/>
</p:tagLst>
</file>

<file path=ppt/tags/tag550.xml><?xml version="1.0" encoding="utf-8"?>
<p:tagLst xmlns:p="http://schemas.openxmlformats.org/presentationml/2006/main">
  <p:tag name="KSO_WM_BEAUTIFY_FLAG" val=""/>
</p:tagLst>
</file>

<file path=ppt/tags/tag551.xml><?xml version="1.0" encoding="utf-8"?>
<p:tagLst xmlns:p="http://schemas.openxmlformats.org/presentationml/2006/main">
  <p:tag name="KSO_WM_BEAUTIFY_FLAG" val=""/>
</p:tagLst>
</file>

<file path=ppt/tags/tag552.xml><?xml version="1.0" encoding="utf-8"?>
<p:tagLst xmlns:p="http://schemas.openxmlformats.org/presentationml/2006/main">
  <p:tag name="KSO_WM_BEAUTIFY_FLAG" val=""/>
</p:tagLst>
</file>

<file path=ppt/tags/tag553.xml><?xml version="1.0" encoding="utf-8"?>
<p:tagLst xmlns:p="http://schemas.openxmlformats.org/presentationml/2006/main">
  <p:tag name="KSO_WM_BEAUTIFY_FLAG" val=""/>
</p:tagLst>
</file>

<file path=ppt/tags/tag554.xml><?xml version="1.0" encoding="utf-8"?>
<p:tagLst xmlns:p="http://schemas.openxmlformats.org/presentationml/2006/main">
  <p:tag name="KSO_WM_BEAUTIFY_FLAG" val=""/>
</p:tagLst>
</file>

<file path=ppt/tags/tag555.xml><?xml version="1.0" encoding="utf-8"?>
<p:tagLst xmlns:p="http://schemas.openxmlformats.org/presentationml/2006/main">
  <p:tag name="KSO_WM_BEAUTIFY_FLAG" val=""/>
</p:tagLst>
</file>

<file path=ppt/tags/tag556.xml><?xml version="1.0" encoding="utf-8"?>
<p:tagLst xmlns:p="http://schemas.openxmlformats.org/presentationml/2006/main">
  <p:tag name="KSO_WM_BEAUTIFY_FLAG" val=""/>
</p:tagLst>
</file>

<file path=ppt/tags/tag557.xml><?xml version="1.0" encoding="utf-8"?>
<p:tagLst xmlns:p="http://schemas.openxmlformats.org/presentationml/2006/main">
  <p:tag name="KSO_WM_BEAUTIFY_FLAG" val=""/>
</p:tagLst>
</file>

<file path=ppt/tags/tag558.xml><?xml version="1.0" encoding="utf-8"?>
<p:tagLst xmlns:p="http://schemas.openxmlformats.org/presentationml/2006/main">
  <p:tag name="KSO_WM_BEAUTIFY_FLAG" val=""/>
</p:tagLst>
</file>

<file path=ppt/tags/tag559.xml><?xml version="1.0" encoding="utf-8"?>
<p:tagLst xmlns:p="http://schemas.openxmlformats.org/presentationml/2006/main">
  <p:tag name="KSO_WM_BEAUTIFY_FLAG" val=""/>
</p:tagLst>
</file>

<file path=ppt/tags/tag560.xml><?xml version="1.0" encoding="utf-8"?>
<p:tagLst xmlns:p="http://schemas.openxmlformats.org/presentationml/2006/main">
  <p:tag name="KSO_WM_BEAUTIFY_FLAG" val=""/>
</p:tagLst>
</file>

<file path=ppt/tags/tag561.xml><?xml version="1.0" encoding="utf-8"?>
<p:tagLst xmlns:p="http://schemas.openxmlformats.org/presentationml/2006/main">
  <p:tag name="KSO_WM_BEAUTIFY_FLAG" val=""/>
</p:tagLst>
</file>

<file path=ppt/tags/tag562.xml><?xml version="1.0" encoding="utf-8"?>
<p:tagLst xmlns:p="http://schemas.openxmlformats.org/presentationml/2006/main">
  <p:tag name="KSO_WM_BEAUTIFY_FLAG" val=""/>
</p:tagLst>
</file>

<file path=ppt/tags/tag563.xml><?xml version="1.0" encoding="utf-8"?>
<p:tagLst xmlns:p="http://schemas.openxmlformats.org/presentationml/2006/main">
  <p:tag name="KSO_WM_BEAUTIFY_FLAG" val=""/>
</p:tagLst>
</file>

<file path=ppt/tags/tag564.xml><?xml version="1.0" encoding="utf-8"?>
<p:tagLst xmlns:p="http://schemas.openxmlformats.org/presentationml/2006/main">
  <p:tag name="KSO_WM_BEAUTIFY_FLAG" val=""/>
</p:tagLst>
</file>

<file path=ppt/tags/tag565.xml><?xml version="1.0" encoding="utf-8"?>
<p:tagLst xmlns:p="http://schemas.openxmlformats.org/presentationml/2006/main">
  <p:tag name="KSO_WM_BEAUTIFY_FLAG" val=""/>
</p:tagLst>
</file>

<file path=ppt/tags/tag566.xml><?xml version="1.0" encoding="utf-8"?>
<p:tagLst xmlns:p="http://schemas.openxmlformats.org/presentationml/2006/main">
  <p:tag name="KSO_WM_BEAUTIFY_FLAG" val=""/>
</p:tagLst>
</file>

<file path=ppt/tags/tag567.xml><?xml version="1.0" encoding="utf-8"?>
<p:tagLst xmlns:p="http://schemas.openxmlformats.org/presentationml/2006/main">
  <p:tag name="KSO_WM_BEAUTIFY_FLAG" val=""/>
</p:tagLst>
</file>

<file path=ppt/tags/tag568.xml><?xml version="1.0" encoding="utf-8"?>
<p:tagLst xmlns:p="http://schemas.openxmlformats.org/presentationml/2006/main">
  <p:tag name="KSO_WM_BEAUTIFY_FLAG" val=""/>
</p:tagLst>
</file>

<file path=ppt/tags/tag569.xml><?xml version="1.0" encoding="utf-8"?>
<p:tagLst xmlns:p="http://schemas.openxmlformats.org/presentationml/2006/main">
  <p:tag name="KSO_WM_BEAUTIFY_FLAG" val=""/>
</p:tagLst>
</file>

<file path=ppt/tags/tag570.xml><?xml version="1.0" encoding="utf-8"?>
<p:tagLst xmlns:p="http://schemas.openxmlformats.org/presentationml/2006/main">
  <p:tag name="KSO_WM_BEAUTIFY_FLAG" val=""/>
</p:tagLst>
</file>

<file path=ppt/tags/tag571.xml><?xml version="1.0" encoding="utf-8"?>
<p:tagLst xmlns:p="http://schemas.openxmlformats.org/presentationml/2006/main">
  <p:tag name="KSO_WM_BEAUTIFY_FLAG" val=""/>
</p:tagLst>
</file>

<file path=ppt/tags/tag572.xml><?xml version="1.0" encoding="utf-8"?>
<p:tagLst xmlns:p="http://schemas.openxmlformats.org/presentationml/2006/main">
  <p:tag name="KSO_WM_BEAUTIFY_FLAG" val=""/>
</p:tagLst>
</file>

<file path=ppt/tags/tag573.xml><?xml version="1.0" encoding="utf-8"?>
<p:tagLst xmlns:p="http://schemas.openxmlformats.org/presentationml/2006/main">
  <p:tag name="KSO_WM_BEAUTIFY_FLAG" val=""/>
</p:tagLst>
</file>

<file path=ppt/tags/tag574.xml><?xml version="1.0" encoding="utf-8"?>
<p:tagLst xmlns:p="http://schemas.openxmlformats.org/presentationml/2006/main">
  <p:tag name="KSO_WM_BEAUTIFY_FLAG" val=""/>
</p:tagLst>
</file>

<file path=ppt/tags/tag575.xml><?xml version="1.0" encoding="utf-8"?>
<p:tagLst xmlns:p="http://schemas.openxmlformats.org/presentationml/2006/main">
  <p:tag name="KSO_WM_BEAUTIFY_FLAG" val=""/>
</p:tagLst>
</file>

<file path=ppt/tags/tag576.xml><?xml version="1.0" encoding="utf-8"?>
<p:tagLst xmlns:p="http://schemas.openxmlformats.org/presentationml/2006/main">
  <p:tag name="KSO_WM_BEAUTIFY_FLAG" val=""/>
</p:tagLst>
</file>

<file path=ppt/tags/tag577.xml><?xml version="1.0" encoding="utf-8"?>
<p:tagLst xmlns:p="http://schemas.openxmlformats.org/presentationml/2006/main">
  <p:tag name="KSO_WM_BEAUTIFY_FLAG" val=""/>
</p:tagLst>
</file>

<file path=ppt/tags/tag578.xml><?xml version="1.0" encoding="utf-8"?>
<p:tagLst xmlns:p="http://schemas.openxmlformats.org/presentationml/2006/main">
  <p:tag name="KSO_WM_BEAUTIFY_FLAG" val=""/>
</p:tagLst>
</file>

<file path=ppt/tags/tag579.xml><?xml version="1.0" encoding="utf-8"?>
<p:tagLst xmlns:p="http://schemas.openxmlformats.org/presentationml/2006/main">
  <p:tag name="KSO_WM_BEAUTIFY_FLAG" val=""/>
</p:tagLst>
</file>

<file path=ppt/tags/tag580.xml><?xml version="1.0" encoding="utf-8"?>
<p:tagLst xmlns:p="http://schemas.openxmlformats.org/presentationml/2006/main">
  <p:tag name="KSO_WM_BEAUTIFY_FLAG" val=""/>
</p:tagLst>
</file>

<file path=ppt/tags/tag581.xml><?xml version="1.0" encoding="utf-8"?>
<p:tagLst xmlns:p="http://schemas.openxmlformats.org/presentationml/2006/main">
  <p:tag name="KSO_WM_BEAUTIFY_FLAG" val=""/>
</p:tagLst>
</file>

<file path=ppt/tags/tag582.xml><?xml version="1.0" encoding="utf-8"?>
<p:tagLst xmlns:p="http://schemas.openxmlformats.org/presentationml/2006/main">
  <p:tag name="KSO_WM_BEAUTIFY_FLAG" val=""/>
</p:tagLst>
</file>

<file path=ppt/tags/tag583.xml><?xml version="1.0" encoding="utf-8"?>
<p:tagLst xmlns:p="http://schemas.openxmlformats.org/presentationml/2006/main">
  <p:tag name="KSO_WM_BEAUTIFY_FLAG" val=""/>
</p:tagLst>
</file>

<file path=ppt/tags/tag584.xml><?xml version="1.0" encoding="utf-8"?>
<p:tagLst xmlns:p="http://schemas.openxmlformats.org/presentationml/2006/main">
  <p:tag name="KSO_WM_BEAUTIFY_FLAG" val=""/>
</p:tagLst>
</file>

<file path=ppt/tags/tag585.xml><?xml version="1.0" encoding="utf-8"?>
<p:tagLst xmlns:p="http://schemas.openxmlformats.org/presentationml/2006/main">
  <p:tag name="KSO_WM_BEAUTIFY_FLAG" val=""/>
</p:tagLst>
</file>

<file path=ppt/tags/tag586.xml><?xml version="1.0" encoding="utf-8"?>
<p:tagLst xmlns:p="http://schemas.openxmlformats.org/presentationml/2006/main">
  <p:tag name="KSO_WM_BEAUTIFY_FLAG" val=""/>
</p:tagLst>
</file>

<file path=ppt/tags/tag587.xml><?xml version="1.0" encoding="utf-8"?>
<p:tagLst xmlns:p="http://schemas.openxmlformats.org/presentationml/2006/main">
  <p:tag name="KSO_WM_BEAUTIFY_FLAG" val=""/>
</p:tagLst>
</file>

<file path=ppt/tags/tag588.xml><?xml version="1.0" encoding="utf-8"?>
<p:tagLst xmlns:p="http://schemas.openxmlformats.org/presentationml/2006/main">
  <p:tag name="KSO_WM_BEAUTIFY_FLAG" val=""/>
</p:tagLst>
</file>

<file path=ppt/tags/tag589.xml><?xml version="1.0" encoding="utf-8"?>
<p:tagLst xmlns:p="http://schemas.openxmlformats.org/presentationml/2006/main">
  <p:tag name="KSO_WM_BEAUTIFY_FLAG" val=""/>
</p:tagLst>
</file>

<file path=ppt/tags/tag590.xml><?xml version="1.0" encoding="utf-8"?>
<p:tagLst xmlns:p="http://schemas.openxmlformats.org/presentationml/2006/main">
  <p:tag name="KSO_WM_BEAUTIFY_FLAG" val=""/>
</p:tagLst>
</file>

<file path=ppt/tags/tag591.xml><?xml version="1.0" encoding="utf-8"?>
<p:tagLst xmlns:p="http://schemas.openxmlformats.org/presentationml/2006/main">
  <p:tag name="KSO_WM_BEAUTIFY_FLAG" val=""/>
</p:tagLst>
</file>

<file path=ppt/tags/tag592.xml><?xml version="1.0" encoding="utf-8"?>
<p:tagLst xmlns:p="http://schemas.openxmlformats.org/presentationml/2006/main">
  <p:tag name="KSO_WM_BEAUTIFY_FLAG" val=""/>
</p:tagLst>
</file>

<file path=ppt/tags/tag593.xml><?xml version="1.0" encoding="utf-8"?>
<p:tagLst xmlns:p="http://schemas.openxmlformats.org/presentationml/2006/main">
  <p:tag name="KSO_WM_BEAUTIFY_FLAG" val=""/>
</p:tagLst>
</file>

<file path=ppt/tags/tag594.xml><?xml version="1.0" encoding="utf-8"?>
<p:tagLst xmlns:p="http://schemas.openxmlformats.org/presentationml/2006/main">
  <p:tag name="KSO_WM_BEAUTIFY_FLAG" val=""/>
</p:tagLst>
</file>

<file path=ppt/tags/tag595.xml><?xml version="1.0" encoding="utf-8"?>
<p:tagLst xmlns:p="http://schemas.openxmlformats.org/presentationml/2006/main">
  <p:tag name="KSO_WM_BEAUTIFY_FLAG" val=""/>
</p:tagLst>
</file>

<file path=ppt/tags/tag596.xml><?xml version="1.0" encoding="utf-8"?>
<p:tagLst xmlns:p="http://schemas.openxmlformats.org/presentationml/2006/main">
  <p:tag name="KSO_WM_BEAUTIFY_FLAG" val=""/>
</p:tagLst>
</file>

<file path=ppt/tags/tag597.xml><?xml version="1.0" encoding="utf-8"?>
<p:tagLst xmlns:p="http://schemas.openxmlformats.org/presentationml/2006/main">
  <p:tag name="KSO_WM_BEAUTIFY_FLAG" val=""/>
</p:tagLst>
</file>

<file path=ppt/tags/tag598.xml><?xml version="1.0" encoding="utf-8"?>
<p:tagLst xmlns:p="http://schemas.openxmlformats.org/presentationml/2006/main">
  <p:tag name="KSO_WM_BEAUTIFY_FLAG" val=""/>
</p:tagLst>
</file>

<file path=ppt/tags/tag599.xml><?xml version="1.0" encoding="utf-8"?>
<p:tagLst xmlns:p="http://schemas.openxmlformats.org/presentationml/2006/main">
  <p:tag name="KSO_WM_BEAUTIFY_FLAG" val=""/>
</p:tagLst>
</file>

<file path=ppt/tags/tag600.xml><?xml version="1.0" encoding="utf-8"?>
<p:tagLst xmlns:p="http://schemas.openxmlformats.org/presentationml/2006/main">
  <p:tag name="KSO_WM_BEAUTIFY_FLAG" val=""/>
</p:tagLst>
</file>

<file path=ppt/tags/tag601.xml><?xml version="1.0" encoding="utf-8"?>
<p:tagLst xmlns:p="http://schemas.openxmlformats.org/presentationml/2006/main">
  <p:tag name="KSO_WM_BEAUTIFY_FLAG" val=""/>
</p:tagLst>
</file>

<file path=ppt/tags/tag602.xml><?xml version="1.0" encoding="utf-8"?>
<p:tagLst xmlns:p="http://schemas.openxmlformats.org/presentationml/2006/main">
  <p:tag name="KSO_WM_BEAUTIFY_FLAG" val=""/>
</p:tagLst>
</file>

<file path=ppt/tags/tag603.xml><?xml version="1.0" encoding="utf-8"?>
<p:tagLst xmlns:p="http://schemas.openxmlformats.org/presentationml/2006/main">
  <p:tag name="KSO_WM_BEAUTIFY_FLAG" val=""/>
</p:tagLst>
</file>

<file path=ppt/tags/tag604.xml><?xml version="1.0" encoding="utf-8"?>
<p:tagLst xmlns:p="http://schemas.openxmlformats.org/presentationml/2006/main">
  <p:tag name="KSO_WM_BEAUTIFY_FLAG" val=""/>
</p:tagLst>
</file>

<file path=ppt/tags/tag605.xml><?xml version="1.0" encoding="utf-8"?>
<p:tagLst xmlns:p="http://schemas.openxmlformats.org/presentationml/2006/main">
  <p:tag name="KSO_WM_BEAUTIFY_FLAG" val=""/>
</p:tagLst>
</file>

<file path=ppt/tags/tag606.xml><?xml version="1.0" encoding="utf-8"?>
<p:tagLst xmlns:p="http://schemas.openxmlformats.org/presentationml/2006/main">
  <p:tag name="KSO_WM_BEAUTIFY_FLAG" val=""/>
</p:tagLst>
</file>

<file path=ppt/tags/tag607.xml><?xml version="1.0" encoding="utf-8"?>
<p:tagLst xmlns:p="http://schemas.openxmlformats.org/presentationml/2006/main">
  <p:tag name="KSO_WM_BEAUTIFY_FLAG" val=""/>
</p:tagLst>
</file>

<file path=ppt/tags/tag608.xml><?xml version="1.0" encoding="utf-8"?>
<p:tagLst xmlns:p="http://schemas.openxmlformats.org/presentationml/2006/main">
  <p:tag name="KSO_WM_BEAUTIFY_FLAG" val=""/>
</p:tagLst>
</file>

<file path=ppt/tags/tag609.xml><?xml version="1.0" encoding="utf-8"?>
<p:tagLst xmlns:p="http://schemas.openxmlformats.org/presentationml/2006/main">
  <p:tag name="KSO_WM_BEAUTIFY_FLAG" val=""/>
</p:tagLst>
</file>

<file path=ppt/tags/tag610.xml><?xml version="1.0" encoding="utf-8"?>
<p:tagLst xmlns:p="http://schemas.openxmlformats.org/presentationml/2006/main">
  <p:tag name="KSO_WM_BEAUTIFY_FLAG" val=""/>
</p:tagLst>
</file>

<file path=ppt/tags/tag611.xml><?xml version="1.0" encoding="utf-8"?>
<p:tagLst xmlns:p="http://schemas.openxmlformats.org/presentationml/2006/main">
  <p:tag name="KSO_WM_BEAUTIFY_FLAG" val=""/>
</p:tagLst>
</file>

<file path=ppt/tags/tag612.xml><?xml version="1.0" encoding="utf-8"?>
<p:tagLst xmlns:p="http://schemas.openxmlformats.org/presentationml/2006/main">
  <p:tag name="KSO_WM_BEAUTIFY_FLAG" val=""/>
</p:tagLst>
</file>

<file path=ppt/tags/tag613.xml><?xml version="1.0" encoding="utf-8"?>
<p:tagLst xmlns:p="http://schemas.openxmlformats.org/presentationml/2006/main">
  <p:tag name="KSO_WM_BEAUTIFY_FLAG" val=""/>
</p:tagLst>
</file>

<file path=ppt/tags/tag614.xml><?xml version="1.0" encoding="utf-8"?>
<p:tagLst xmlns:p="http://schemas.openxmlformats.org/presentationml/2006/main">
  <p:tag name="KSO_WM_BEAUTIFY_FLAG" val=""/>
</p:tagLst>
</file>

<file path=ppt/tags/tag615.xml><?xml version="1.0" encoding="utf-8"?>
<p:tagLst xmlns:p="http://schemas.openxmlformats.org/presentationml/2006/main">
  <p:tag name="KSO_WM_BEAUTIFY_FLAG" val=""/>
</p:tagLst>
</file>

<file path=ppt/tags/tag616.xml><?xml version="1.0" encoding="utf-8"?>
<p:tagLst xmlns:p="http://schemas.openxmlformats.org/presentationml/2006/main">
  <p:tag name="KSO_WM_BEAUTIFY_FLAG" val=""/>
</p:tagLst>
</file>

<file path=ppt/tags/tag617.xml><?xml version="1.0" encoding="utf-8"?>
<p:tagLst xmlns:p="http://schemas.openxmlformats.org/presentationml/2006/main">
  <p:tag name="KSO_WM_BEAUTIFY_FLAG" val=""/>
</p:tagLst>
</file>

<file path=ppt/tags/tag618.xml><?xml version="1.0" encoding="utf-8"?>
<p:tagLst xmlns:p="http://schemas.openxmlformats.org/presentationml/2006/main">
  <p:tag name="KSO_WM_BEAUTIFY_FLAG" val=""/>
</p:tagLst>
</file>

<file path=ppt/tags/tag619.xml><?xml version="1.0" encoding="utf-8"?>
<p:tagLst xmlns:p="http://schemas.openxmlformats.org/presentationml/2006/main">
  <p:tag name="KSO_WM_BEAUTIFY_FLAG" val=""/>
</p:tagLst>
</file>

<file path=ppt/tags/tag620.xml><?xml version="1.0" encoding="utf-8"?>
<p:tagLst xmlns:p="http://schemas.openxmlformats.org/presentationml/2006/main">
  <p:tag name="KSO_WM_BEAUTIFY_FLAG" val=""/>
</p:tagLst>
</file>

<file path=ppt/tags/tag621.xml><?xml version="1.0" encoding="utf-8"?>
<p:tagLst xmlns:p="http://schemas.openxmlformats.org/presentationml/2006/main">
  <p:tag name="KSO_WM_BEAUTIFY_FLAG" val=""/>
</p:tagLst>
</file>

<file path=ppt/tags/tag622.xml><?xml version="1.0" encoding="utf-8"?>
<p:tagLst xmlns:p="http://schemas.openxmlformats.org/presentationml/2006/main">
  <p:tag name="KSO_WM_BEAUTIFY_FLAG" val=""/>
</p:tagLst>
</file>

<file path=ppt/tags/tag623.xml><?xml version="1.0" encoding="utf-8"?>
<p:tagLst xmlns:p="http://schemas.openxmlformats.org/presentationml/2006/main">
  <p:tag name="KSO_WM_BEAUTIFY_FLAG" val=""/>
</p:tagLst>
</file>

<file path=ppt/tags/tag624.xml><?xml version="1.0" encoding="utf-8"?>
<p:tagLst xmlns:p="http://schemas.openxmlformats.org/presentationml/2006/main">
  <p:tag name="KSO_WM_BEAUTIFY_FLAG" val=""/>
</p:tagLst>
</file>

<file path=ppt/tags/tag625.xml><?xml version="1.0" encoding="utf-8"?>
<p:tagLst xmlns:p="http://schemas.openxmlformats.org/presentationml/2006/main">
  <p:tag name="KSO_WM_BEAUTIFY_FLAG" val=""/>
</p:tagLst>
</file>

<file path=ppt/tags/tag626.xml><?xml version="1.0" encoding="utf-8"?>
<p:tagLst xmlns:p="http://schemas.openxmlformats.org/presentationml/2006/main">
  <p:tag name="KSO_WM_BEAUTIFY_FLAG" val=""/>
</p:tagLst>
</file>

<file path=ppt/tags/tag627.xml><?xml version="1.0" encoding="utf-8"?>
<p:tagLst xmlns:p="http://schemas.openxmlformats.org/presentationml/2006/main">
  <p:tag name="KSO_WM_BEAUTIFY_FLAG" val=""/>
</p:tagLst>
</file>

<file path=ppt/tags/tag628.xml><?xml version="1.0" encoding="utf-8"?>
<p:tagLst xmlns:p="http://schemas.openxmlformats.org/presentationml/2006/main">
  <p:tag name="KSO_WM_BEAUTIFY_FLAG" val=""/>
</p:tagLst>
</file>

<file path=ppt/tags/tag629.xml><?xml version="1.0" encoding="utf-8"?>
<p:tagLst xmlns:p="http://schemas.openxmlformats.org/presentationml/2006/main">
  <p:tag name="resource_record_key" val="{&quot;29&quot;:[50052436,50053304]}"/>
</p:tagLst>
</file>

<file path=ppt/theme/theme1.xml><?xml version="1.0" encoding="utf-8"?>
<a:theme xmlns:a="http://schemas.openxmlformats.org/drawingml/2006/main" name="Office 主题​​">
  <a:themeElements>
    <a:clrScheme name="蓝色商务风工作总结">
      <a:dk1>
        <a:srgbClr val="222222"/>
      </a:dk1>
      <a:lt1>
        <a:srgbClr val="FFFFFF"/>
      </a:lt1>
      <a:dk2>
        <a:srgbClr val="44546A"/>
      </a:dk2>
      <a:lt2>
        <a:srgbClr val="E7E6E6"/>
      </a:lt2>
      <a:accent1>
        <a:srgbClr val="0046FF"/>
      </a:accent1>
      <a:accent2>
        <a:srgbClr val="1738FF"/>
      </a:accent2>
      <a:accent3>
        <a:srgbClr val="2E2AFF"/>
      </a:accent3>
      <a:accent4>
        <a:srgbClr val="451CFF"/>
      </a:accent4>
      <a:accent5>
        <a:srgbClr val="5C0EFF"/>
      </a:accent5>
      <a:accent6>
        <a:srgbClr val="7300FF"/>
      </a:accent6>
      <a:hlink>
        <a:srgbClr val="0563C1"/>
      </a:hlink>
      <a:folHlink>
        <a:srgbClr val="954F72"/>
      </a:folHlink>
    </a:clrScheme>
    <a:fontScheme name="Office 主题​​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2969</Words>
  <Application>WPS 演示</Application>
  <PresentationFormat>宽屏</PresentationFormat>
  <Paragraphs>1225</Paragraphs>
  <Slides>7</Slides>
  <Notes>9</Notes>
  <HiddenSlides>3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Arial</vt:lpstr>
      <vt:lpstr>宋体</vt:lpstr>
      <vt:lpstr>Wingdings</vt:lpstr>
      <vt:lpstr>微软雅黑</vt:lpstr>
      <vt:lpstr>方正宝黑体 简 Light</vt:lpstr>
      <vt:lpstr>汉仪菱心体简</vt:lpstr>
      <vt:lpstr>HarmonyOS Sans SC Bold</vt:lpstr>
      <vt:lpstr>Arial Unicode MS</vt:lpstr>
      <vt:lpstr>黑体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luoxiwen</dc:creator>
  <cp:lastModifiedBy>申应明</cp:lastModifiedBy>
  <cp:revision>1</cp:revision>
  <dcterms:created xsi:type="dcterms:W3CDTF">2026-03-20T14:11:22Z</dcterms:created>
  <dcterms:modified xsi:type="dcterms:W3CDTF">2026-03-20T14:11:22Z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8E3F5AF591D64C47A952318AFAAB7F39_13</vt:lpwstr>
  </property>
  <property fmtid="{D5CDD505-2E9C-101B-9397-08002B2CF9AE}" pid="4" name="KSOTemplateUUID">
    <vt:lpwstr>v1.0_mb_qytAbhJ7wAcTitB3OoYHeg==</vt:lpwstr>
  </property>
</Properties>
</file>